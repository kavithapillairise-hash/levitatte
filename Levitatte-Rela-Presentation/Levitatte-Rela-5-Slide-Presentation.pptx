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txBody>
          <a:bodyPr rtlCol="0" anchor="ctr"/>
          <a:lstStyle/>
          <a:p>
            <a:pPr algn="ctr"/>
          </a:p>
        </p:txBody>
      </p:sp>
      <p:sp>
        <p:nvSpPr>
          <p:cNvPr id="3" name="Rectangle 2"/>
          <p:cNvSpPr/>
          <p:nvPr/>
        </p:nvSpPr>
        <p:spPr>
          <a:xfrm>
            <a:off x="8101583" y="0"/>
            <a:ext cx="4087368" cy="6858000"/>
          </a:xfrm>
          <a:prstGeom prst="rect">
            <a:avLst/>
          </a:prstGeom>
          <a:solidFill>
            <a:srgbClr val="201C15"/>
          </a:solidFill>
          <a:ln>
            <a:noFill/>
          </a:ln>
          <a:effectLst/>
        </p:spPr>
        <p:txBody>
          <a:bodyPr rtlCol="0" anchor="ctr"/>
          <a:lstStyle/>
          <a:p>
            <a:pPr algn="ctr"/>
          </a:p>
        </p:txBody>
      </p:sp>
      <p:sp>
        <p:nvSpPr>
          <p:cNvPr id="4" name="TextBox 3"/>
          <p:cNvSpPr txBox="1"/>
          <p:nvPr/>
        </p:nvSpPr>
        <p:spPr>
          <a:xfrm>
            <a:off x="8485632" y="914400"/>
            <a:ext cx="2752344" cy="182880"/>
          </a:xfrm>
          <a:prstGeom prst="rect">
            <a:avLst/>
          </a:prstGeom>
          <a:noFill/>
        </p:spPr>
        <p:txBody>
          <a:bodyPr wrap="square" lIns="0" rIns="0" tIns="0" bIns="0" anchor="t">
            <a:spAutoFit/>
          </a:bodyPr>
          <a:lstStyle/>
          <a:p>
            <a:pPr algn="l">
              <a:lnSpc>
                <a:spcPct val="96721"/>
              </a:lnSpc>
              <a:spcBef>
                <a:spcPts val="0"/>
              </a:spcBef>
              <a:spcAft>
                <a:spcPts val="0"/>
              </a:spcAft>
            </a:pPr>
            <a:r>
              <a:rPr sz="660" b="1" i="0" spc="220">
                <a:solidFill>
                  <a:srgbClr val="B08930"/>
                </a:solidFill>
                <a:latin typeface="Inter"/>
              </a:rPr>
              <a:t>THE ENGAGEMENT</a:t>
            </a:r>
          </a:p>
        </p:txBody>
      </p:sp>
      <p:sp>
        <p:nvSpPr>
          <p:cNvPr id="5" name="Rectangle 4"/>
          <p:cNvSpPr/>
          <p:nvPr/>
        </p:nvSpPr>
        <p:spPr>
          <a:xfrm>
            <a:off x="8485632" y="1152144"/>
            <a:ext cx="2752344" cy="6858"/>
          </a:xfrm>
          <a:prstGeom prst="rect">
            <a:avLst/>
          </a:prstGeom>
          <a:solidFill>
            <a:srgbClr val="937425"/>
          </a:solidFill>
          <a:ln>
            <a:noFill/>
          </a:ln>
          <a:effectLst/>
        </p:spPr>
        <p:txBody>
          <a:bodyPr rtlCol="0" anchor="ctr"/>
          <a:lstStyle/>
          <a:p>
            <a:pPr algn="ctr"/>
          </a:p>
        </p:txBody>
      </p:sp>
      <p:sp>
        <p:nvSpPr>
          <p:cNvPr id="6" name="TextBox 5"/>
          <p:cNvSpPr txBox="1"/>
          <p:nvPr/>
        </p:nvSpPr>
        <p:spPr>
          <a:xfrm>
            <a:off x="8485632" y="1335024"/>
            <a:ext cx="960120" cy="365760"/>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B08930"/>
                </a:solidFill>
                <a:latin typeface="Playfair Display"/>
              </a:rPr>
              <a:t>90</a:t>
            </a:r>
          </a:p>
        </p:txBody>
      </p:sp>
      <p:sp>
        <p:nvSpPr>
          <p:cNvPr id="7" name="TextBox 6"/>
          <p:cNvSpPr txBox="1"/>
          <p:nvPr/>
        </p:nvSpPr>
        <p:spPr>
          <a:xfrm>
            <a:off x="9491472" y="1426464"/>
            <a:ext cx="1746504" cy="292608"/>
          </a:xfrm>
          <a:prstGeom prst="rect">
            <a:avLst/>
          </a:prstGeom>
          <a:noFill/>
        </p:spPr>
        <p:txBody>
          <a:bodyPr wrap="square" lIns="0" rIns="0" tIns="0" bIns="0" anchor="t">
            <a:spAutoFit/>
          </a:bodyPr>
          <a:lstStyle/>
          <a:p>
            <a:pPr algn="l">
              <a:lnSpc>
                <a:spcPct val="96721"/>
              </a:lnSpc>
              <a:spcBef>
                <a:spcPts val="0"/>
              </a:spcBef>
              <a:spcAft>
                <a:spcPts val="0"/>
              </a:spcAft>
            </a:pPr>
            <a:r>
              <a:rPr sz="630" b="1" i="0" spc="150">
                <a:solidFill>
                  <a:srgbClr val="A9A292"/>
                </a:solidFill>
                <a:latin typeface="Inter"/>
              </a:rPr>
              <a:t>DAYS</a:t>
            </a:r>
          </a:p>
        </p:txBody>
      </p:sp>
      <p:sp>
        <p:nvSpPr>
          <p:cNvPr id="8" name="Rectangle 7"/>
          <p:cNvSpPr/>
          <p:nvPr/>
        </p:nvSpPr>
        <p:spPr>
          <a:xfrm>
            <a:off x="8485632" y="1856232"/>
            <a:ext cx="2752344" cy="5486"/>
          </a:xfrm>
          <a:prstGeom prst="rect">
            <a:avLst/>
          </a:prstGeom>
          <a:solidFill>
            <a:srgbClr val="3A3428"/>
          </a:solidFill>
          <a:ln>
            <a:noFill/>
          </a:ln>
          <a:effectLst/>
        </p:spPr>
        <p:txBody>
          <a:bodyPr rtlCol="0" anchor="ctr"/>
          <a:lstStyle/>
          <a:p>
            <a:pPr algn="ctr"/>
          </a:p>
        </p:txBody>
      </p:sp>
      <p:sp>
        <p:nvSpPr>
          <p:cNvPr id="9" name="TextBox 8"/>
          <p:cNvSpPr txBox="1"/>
          <p:nvPr/>
        </p:nvSpPr>
        <p:spPr>
          <a:xfrm>
            <a:off x="8485632" y="1975104"/>
            <a:ext cx="960120" cy="365760"/>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B08930"/>
                </a:solidFill>
                <a:latin typeface="Playfair Display"/>
              </a:rPr>
              <a:t>39</a:t>
            </a:r>
          </a:p>
        </p:txBody>
      </p:sp>
      <p:sp>
        <p:nvSpPr>
          <p:cNvPr id="10" name="TextBox 9"/>
          <p:cNvSpPr txBox="1"/>
          <p:nvPr/>
        </p:nvSpPr>
        <p:spPr>
          <a:xfrm>
            <a:off x="9491472" y="2066544"/>
            <a:ext cx="1746504" cy="292608"/>
          </a:xfrm>
          <a:prstGeom prst="rect">
            <a:avLst/>
          </a:prstGeom>
          <a:noFill/>
        </p:spPr>
        <p:txBody>
          <a:bodyPr wrap="square" lIns="0" rIns="0" tIns="0" bIns="0" anchor="t">
            <a:spAutoFit/>
          </a:bodyPr>
          <a:lstStyle/>
          <a:p>
            <a:pPr algn="l">
              <a:lnSpc>
                <a:spcPct val="96721"/>
              </a:lnSpc>
              <a:spcBef>
                <a:spcPts val="0"/>
              </a:spcBef>
              <a:spcAft>
                <a:spcPts val="0"/>
              </a:spcAft>
            </a:pPr>
            <a:r>
              <a:rPr sz="630" b="1" i="0" spc="150">
                <a:solidFill>
                  <a:srgbClr val="A9A292"/>
                </a:solidFill>
                <a:latin typeface="Inter"/>
              </a:rPr>
              <a:t>SESSIONS</a:t>
            </a:r>
          </a:p>
        </p:txBody>
      </p:sp>
      <p:sp>
        <p:nvSpPr>
          <p:cNvPr id="11" name="Rectangle 10"/>
          <p:cNvSpPr/>
          <p:nvPr/>
        </p:nvSpPr>
        <p:spPr>
          <a:xfrm>
            <a:off x="8485632" y="2496312"/>
            <a:ext cx="2752344" cy="5486"/>
          </a:xfrm>
          <a:prstGeom prst="rect">
            <a:avLst/>
          </a:prstGeom>
          <a:solidFill>
            <a:srgbClr val="3A3428"/>
          </a:solidFill>
          <a:ln>
            <a:noFill/>
          </a:ln>
          <a:effectLst/>
        </p:spPr>
        <p:txBody>
          <a:bodyPr rtlCol="0" anchor="ctr"/>
          <a:lstStyle/>
          <a:p>
            <a:pPr algn="ctr"/>
          </a:p>
        </p:txBody>
      </p:sp>
      <p:sp>
        <p:nvSpPr>
          <p:cNvPr id="12" name="TextBox 11"/>
          <p:cNvSpPr txBox="1"/>
          <p:nvPr/>
        </p:nvSpPr>
        <p:spPr>
          <a:xfrm>
            <a:off x="8485632" y="2615184"/>
            <a:ext cx="960120" cy="365760"/>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B08930"/>
                </a:solidFill>
                <a:latin typeface="Playfair Display"/>
              </a:rPr>
              <a:t>156</a:t>
            </a:r>
          </a:p>
        </p:txBody>
      </p:sp>
      <p:sp>
        <p:nvSpPr>
          <p:cNvPr id="13" name="TextBox 12"/>
          <p:cNvSpPr txBox="1"/>
          <p:nvPr/>
        </p:nvSpPr>
        <p:spPr>
          <a:xfrm>
            <a:off x="9491472" y="2706624"/>
            <a:ext cx="1746504" cy="292608"/>
          </a:xfrm>
          <a:prstGeom prst="rect">
            <a:avLst/>
          </a:prstGeom>
          <a:noFill/>
        </p:spPr>
        <p:txBody>
          <a:bodyPr wrap="square" lIns="0" rIns="0" tIns="0" bIns="0" anchor="t">
            <a:spAutoFit/>
          </a:bodyPr>
          <a:lstStyle/>
          <a:p>
            <a:pPr algn="l">
              <a:lnSpc>
                <a:spcPct val="96721"/>
              </a:lnSpc>
              <a:spcBef>
                <a:spcPts val="0"/>
              </a:spcBef>
              <a:spcAft>
                <a:spcPts val="0"/>
              </a:spcAft>
            </a:pPr>
            <a:r>
              <a:rPr sz="630" b="1" i="0" spc="150">
                <a:solidFill>
                  <a:srgbClr val="A9A292"/>
                </a:solidFill>
                <a:latin typeface="Inter"/>
              </a:rPr>
              <a:t>FACILITATOR-LED HOURS</a:t>
            </a:r>
          </a:p>
        </p:txBody>
      </p:sp>
      <p:sp>
        <p:nvSpPr>
          <p:cNvPr id="14" name="Rectangle 13"/>
          <p:cNvSpPr/>
          <p:nvPr/>
        </p:nvSpPr>
        <p:spPr>
          <a:xfrm>
            <a:off x="8485632" y="3136392"/>
            <a:ext cx="2752344" cy="5486"/>
          </a:xfrm>
          <a:prstGeom prst="rect">
            <a:avLst/>
          </a:prstGeom>
          <a:solidFill>
            <a:srgbClr val="3A3428"/>
          </a:solidFill>
          <a:ln>
            <a:noFill/>
          </a:ln>
          <a:effectLst/>
        </p:spPr>
        <p:txBody>
          <a:bodyPr rtlCol="0" anchor="ctr"/>
          <a:lstStyle/>
          <a:p>
            <a:pPr algn="ctr"/>
          </a:p>
        </p:txBody>
      </p:sp>
      <p:sp>
        <p:nvSpPr>
          <p:cNvPr id="15" name="TextBox 14"/>
          <p:cNvSpPr txBox="1"/>
          <p:nvPr/>
        </p:nvSpPr>
        <p:spPr>
          <a:xfrm>
            <a:off x="8485632" y="3255264"/>
            <a:ext cx="960120" cy="365760"/>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B08930"/>
                </a:solidFill>
                <a:latin typeface="Playfair Display"/>
              </a:rPr>
              <a:t>12</a:t>
            </a:r>
          </a:p>
        </p:txBody>
      </p:sp>
      <p:sp>
        <p:nvSpPr>
          <p:cNvPr id="16" name="TextBox 15"/>
          <p:cNvSpPr txBox="1"/>
          <p:nvPr/>
        </p:nvSpPr>
        <p:spPr>
          <a:xfrm>
            <a:off x="9491472" y="3346704"/>
            <a:ext cx="1746504" cy="292608"/>
          </a:xfrm>
          <a:prstGeom prst="rect">
            <a:avLst/>
          </a:prstGeom>
          <a:noFill/>
        </p:spPr>
        <p:txBody>
          <a:bodyPr wrap="square" lIns="0" rIns="0" tIns="0" bIns="0" anchor="t">
            <a:spAutoFit/>
          </a:bodyPr>
          <a:lstStyle/>
          <a:p>
            <a:pPr algn="l">
              <a:lnSpc>
                <a:spcPct val="96721"/>
              </a:lnSpc>
              <a:spcBef>
                <a:spcPts val="0"/>
              </a:spcBef>
              <a:spcAft>
                <a:spcPts val="0"/>
              </a:spcAft>
            </a:pPr>
            <a:r>
              <a:rPr sz="630" b="1" i="0" spc="150">
                <a:solidFill>
                  <a:srgbClr val="A9A292"/>
                </a:solidFill>
                <a:latin typeface="Inter"/>
              </a:rPr>
              <a:t>CUSTOMISED MODULES</a:t>
            </a:r>
          </a:p>
        </p:txBody>
      </p:sp>
      <p:sp>
        <p:nvSpPr>
          <p:cNvPr id="17" name="Rectangle 16"/>
          <p:cNvSpPr/>
          <p:nvPr/>
        </p:nvSpPr>
        <p:spPr>
          <a:xfrm>
            <a:off x="8485632" y="3776472"/>
            <a:ext cx="2752344" cy="5486"/>
          </a:xfrm>
          <a:prstGeom prst="rect">
            <a:avLst/>
          </a:prstGeom>
          <a:solidFill>
            <a:srgbClr val="3A3428"/>
          </a:solidFill>
          <a:ln>
            <a:noFill/>
          </a:ln>
          <a:effectLst/>
        </p:spPr>
        <p:txBody>
          <a:bodyPr rtlCol="0" anchor="ctr"/>
          <a:lstStyle/>
          <a:p>
            <a:pPr algn="ctr"/>
          </a:p>
        </p:txBody>
      </p:sp>
      <p:sp>
        <p:nvSpPr>
          <p:cNvPr id="18" name="TextBox 17"/>
          <p:cNvSpPr txBox="1"/>
          <p:nvPr/>
        </p:nvSpPr>
        <p:spPr>
          <a:xfrm>
            <a:off x="8485632" y="3895344"/>
            <a:ext cx="960120" cy="365760"/>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B08930"/>
                </a:solidFill>
                <a:latin typeface="Playfair Display"/>
              </a:rPr>
              <a:t>30</a:t>
            </a:r>
          </a:p>
        </p:txBody>
      </p:sp>
      <p:sp>
        <p:nvSpPr>
          <p:cNvPr id="19" name="TextBox 18"/>
          <p:cNvSpPr txBox="1"/>
          <p:nvPr/>
        </p:nvSpPr>
        <p:spPr>
          <a:xfrm>
            <a:off x="9491472" y="3986784"/>
            <a:ext cx="1746504" cy="292608"/>
          </a:xfrm>
          <a:prstGeom prst="rect">
            <a:avLst/>
          </a:prstGeom>
          <a:noFill/>
        </p:spPr>
        <p:txBody>
          <a:bodyPr wrap="square" lIns="0" rIns="0" tIns="0" bIns="0" anchor="t">
            <a:spAutoFit/>
          </a:bodyPr>
          <a:lstStyle/>
          <a:p>
            <a:pPr algn="l">
              <a:lnSpc>
                <a:spcPct val="96721"/>
              </a:lnSpc>
              <a:spcBef>
                <a:spcPts val="0"/>
              </a:spcBef>
              <a:spcAft>
                <a:spcPts val="0"/>
              </a:spcAft>
            </a:pPr>
            <a:r>
              <a:rPr sz="630" b="1" i="0" spc="150">
                <a:solidFill>
                  <a:srgbClr val="A9A292"/>
                </a:solidFill>
                <a:latin typeface="Inter"/>
              </a:rPr>
              <a:t>PARTICIPANTS PER BATCH</a:t>
            </a:r>
          </a:p>
        </p:txBody>
      </p:sp>
      <p:sp>
        <p:nvSpPr>
          <p:cNvPr id="20" name="TextBox 19"/>
          <p:cNvSpPr txBox="1"/>
          <p:nvPr/>
        </p:nvSpPr>
        <p:spPr>
          <a:xfrm>
            <a:off x="8485632" y="4453128"/>
            <a:ext cx="2752344" cy="236728"/>
          </a:xfrm>
          <a:prstGeom prst="rect">
            <a:avLst/>
          </a:prstGeom>
          <a:noFill/>
        </p:spPr>
        <p:txBody>
          <a:bodyPr wrap="square" lIns="0" rIns="0" tIns="0" bIns="0" anchor="t">
            <a:spAutoFit/>
          </a:bodyPr>
          <a:lstStyle/>
          <a:p>
            <a:pPr algn="l">
              <a:lnSpc>
                <a:spcPct val="106557"/>
              </a:lnSpc>
              <a:spcBef>
                <a:spcPts val="0"/>
              </a:spcBef>
              <a:spcAft>
                <a:spcPts val="0"/>
              </a:spcAft>
            </a:pPr>
            <a:r>
              <a:rPr sz="620" b="0" i="1">
                <a:solidFill>
                  <a:srgbClr val="A9A292"/>
                </a:solidFill>
                <a:latin typeface="Inter"/>
              </a:rPr>
              <a:t>Sessions and hours are upper bounds: 36 to 39 sessions and 144 to 156 hours, subject to start date and hospital holidays.</a:t>
            </a:r>
          </a:p>
        </p:txBody>
      </p:sp>
      <p:sp>
        <p:nvSpPr>
          <p:cNvPr id="21" name="Rectangle 20"/>
          <p:cNvSpPr/>
          <p:nvPr/>
        </p:nvSpPr>
        <p:spPr>
          <a:xfrm>
            <a:off x="8485632" y="5000752"/>
            <a:ext cx="2752344" cy="6858"/>
          </a:xfrm>
          <a:prstGeom prst="rect">
            <a:avLst/>
          </a:prstGeom>
          <a:solidFill>
            <a:srgbClr val="937425"/>
          </a:solidFill>
          <a:ln>
            <a:noFill/>
          </a:ln>
          <a:effectLst/>
        </p:spPr>
        <p:txBody>
          <a:bodyPr rtlCol="0" anchor="ctr"/>
          <a:lstStyle/>
          <a:p>
            <a:pPr algn="ctr"/>
          </a:p>
        </p:txBody>
      </p:sp>
      <p:sp>
        <p:nvSpPr>
          <p:cNvPr id="22" name="TextBox 21"/>
          <p:cNvSpPr txBox="1"/>
          <p:nvPr/>
        </p:nvSpPr>
        <p:spPr>
          <a:xfrm>
            <a:off x="8485632" y="5201920"/>
            <a:ext cx="2752344" cy="402336"/>
          </a:xfrm>
          <a:prstGeom prst="rect">
            <a:avLst/>
          </a:prstGeom>
          <a:noFill/>
        </p:spPr>
        <p:txBody>
          <a:bodyPr wrap="square" lIns="0" rIns="0" tIns="0" bIns="0" anchor="t">
            <a:spAutoFit/>
          </a:bodyPr>
          <a:lstStyle/>
          <a:p>
            <a:pPr algn="l">
              <a:lnSpc>
                <a:spcPct val="77037"/>
              </a:lnSpc>
              <a:spcBef>
                <a:spcPts val="0"/>
              </a:spcBef>
              <a:spcAft>
                <a:spcPts val="0"/>
              </a:spcAft>
            </a:pPr>
            <a:r>
              <a:rPr sz="2400" b="1" i="0">
                <a:solidFill>
                  <a:srgbClr val="ECE7DA"/>
                </a:solidFill>
                <a:latin typeface="Playfair Display"/>
              </a:rPr>
              <a:t>Rs 2,00,000</a:t>
            </a:r>
          </a:p>
        </p:txBody>
      </p:sp>
      <p:sp>
        <p:nvSpPr>
          <p:cNvPr id="23" name="TextBox 22"/>
          <p:cNvSpPr txBox="1"/>
          <p:nvPr/>
        </p:nvSpPr>
        <p:spPr>
          <a:xfrm>
            <a:off x="8485632" y="5677408"/>
            <a:ext cx="2752344" cy="145923"/>
          </a:xfrm>
          <a:prstGeom prst="rect">
            <a:avLst/>
          </a:prstGeom>
          <a:noFill/>
        </p:spPr>
        <p:txBody>
          <a:bodyPr wrap="square" lIns="0" rIns="0" tIns="0" bIns="0" anchor="t">
            <a:spAutoFit/>
          </a:bodyPr>
          <a:lstStyle/>
          <a:p>
            <a:pPr algn="l">
              <a:lnSpc>
                <a:spcPct val="106557"/>
              </a:lnSpc>
              <a:spcBef>
                <a:spcPts val="0"/>
              </a:spcBef>
              <a:spcAft>
                <a:spcPts val="0"/>
              </a:spcAft>
            </a:pPr>
            <a:r>
              <a:rPr sz="690" b="0" i="0">
                <a:solidFill>
                  <a:srgbClr val="A9A292"/>
                </a:solidFill>
                <a:latin typeface="Inter"/>
              </a:rPr>
              <a:t>per month, fixed. GST as applicable.</a:t>
            </a:r>
          </a:p>
        </p:txBody>
      </p:sp>
      <p:sp>
        <p:nvSpPr>
          <p:cNvPr id="24" name="TextBox 23"/>
          <p:cNvSpPr txBox="1"/>
          <p:nvPr/>
        </p:nvSpPr>
        <p:spPr>
          <a:xfrm>
            <a:off x="8485632" y="5887339"/>
            <a:ext cx="2752344" cy="182880"/>
          </a:xfrm>
          <a:prstGeom prst="rect">
            <a:avLst/>
          </a:prstGeom>
          <a:noFill/>
        </p:spPr>
        <p:txBody>
          <a:bodyPr wrap="square" lIns="0" rIns="0" tIns="0" bIns="0" anchor="t">
            <a:spAutoFit/>
          </a:bodyPr>
          <a:lstStyle/>
          <a:p>
            <a:pPr algn="l">
              <a:lnSpc>
                <a:spcPct val="106557"/>
              </a:lnSpc>
              <a:spcBef>
                <a:spcPts val="0"/>
              </a:spcBef>
              <a:spcAft>
                <a:spcPts val="0"/>
              </a:spcAft>
            </a:pPr>
            <a:r>
              <a:rPr sz="690" b="1" i="0">
                <a:solidFill>
                  <a:srgbClr val="B08930"/>
                </a:solidFill>
                <a:latin typeface="Inter"/>
              </a:rPr>
              <a:t>Rs 6,00,000 for the 90-day engagement</a:t>
            </a:r>
          </a:p>
        </p:txBody>
      </p:sp>
      <p:pic>
        <p:nvPicPr>
          <p:cNvPr id="25" name="Picture 24" descr="owl_refined.png"/>
          <p:cNvPicPr>
            <a:picLocks noChangeAspect="1"/>
          </p:cNvPicPr>
          <p:nvPr/>
        </p:nvPicPr>
        <p:blipFill>
          <a:blip r:embed="rId2"/>
          <a:stretch>
            <a:fillRect/>
          </a:stretch>
        </p:blipFill>
        <p:spPr>
          <a:xfrm>
            <a:off x="585216" y="566928"/>
            <a:ext cx="1060704" cy="737432"/>
          </a:xfrm>
          <a:prstGeom prst="rect">
            <a:avLst/>
          </a:prstGeom>
        </p:spPr>
      </p:pic>
      <p:sp>
        <p:nvSpPr>
          <p:cNvPr id="26" name="TextBox 25"/>
          <p:cNvSpPr txBox="1"/>
          <p:nvPr/>
        </p:nvSpPr>
        <p:spPr>
          <a:xfrm>
            <a:off x="566928" y="1353312"/>
            <a:ext cx="4572000" cy="310896"/>
          </a:xfrm>
          <a:prstGeom prst="rect">
            <a:avLst/>
          </a:prstGeom>
          <a:noFill/>
        </p:spPr>
        <p:txBody>
          <a:bodyPr wrap="square" lIns="0" rIns="0" tIns="0" bIns="0" anchor="t">
            <a:spAutoFit/>
          </a:bodyPr>
          <a:lstStyle/>
          <a:p>
            <a:pPr algn="l">
              <a:lnSpc>
                <a:spcPct val="77037"/>
              </a:lnSpc>
              <a:spcBef>
                <a:spcPts val="0"/>
              </a:spcBef>
              <a:spcAft>
                <a:spcPts val="0"/>
              </a:spcAft>
            </a:pPr>
            <a:r>
              <a:rPr sz="2500" b="1" i="0" spc="420">
                <a:solidFill>
                  <a:srgbClr val="201C15"/>
                </a:solidFill>
                <a:latin typeface="Playfair Display"/>
              </a:rPr>
              <a:t>LEVITATTE</a:t>
            </a:r>
          </a:p>
        </p:txBody>
      </p:sp>
      <p:sp>
        <p:nvSpPr>
          <p:cNvPr id="27" name="TextBox 26"/>
          <p:cNvSpPr txBox="1"/>
          <p:nvPr/>
        </p:nvSpPr>
        <p:spPr>
          <a:xfrm>
            <a:off x="566928" y="1737360"/>
            <a:ext cx="4572000" cy="182880"/>
          </a:xfrm>
          <a:prstGeom prst="rect">
            <a:avLst/>
          </a:prstGeom>
          <a:noFill/>
        </p:spPr>
        <p:txBody>
          <a:bodyPr wrap="square" lIns="0" rIns="0" tIns="0" bIns="0" anchor="t">
            <a:spAutoFit/>
          </a:bodyPr>
          <a:lstStyle/>
          <a:p>
            <a:pPr algn="l">
              <a:lnSpc>
                <a:spcPct val="96721"/>
              </a:lnSpc>
              <a:spcBef>
                <a:spcPts val="0"/>
              </a:spcBef>
              <a:spcAft>
                <a:spcPts val="0"/>
              </a:spcAft>
            </a:pPr>
            <a:r>
              <a:rPr sz="700" b="1" i="0" spc="300">
                <a:solidFill>
                  <a:srgbClr val="937425"/>
                </a:solidFill>
                <a:latin typeface="Inter"/>
              </a:rPr>
              <a:t>LEARNING  &amp;  DEVELOPMENT</a:t>
            </a:r>
          </a:p>
        </p:txBody>
      </p:sp>
      <p:sp>
        <p:nvSpPr>
          <p:cNvPr id="28" name="Rectangle 27"/>
          <p:cNvSpPr/>
          <p:nvPr/>
        </p:nvSpPr>
        <p:spPr>
          <a:xfrm>
            <a:off x="566928" y="2212848"/>
            <a:ext cx="1828800" cy="12801"/>
          </a:xfrm>
          <a:prstGeom prst="rect">
            <a:avLst/>
          </a:prstGeom>
          <a:solidFill>
            <a:srgbClr val="937425"/>
          </a:solidFill>
          <a:ln>
            <a:noFill/>
          </a:ln>
          <a:effectLst/>
        </p:spPr>
        <p:txBody>
          <a:bodyPr rtlCol="0" anchor="ctr"/>
          <a:lstStyle/>
          <a:p>
            <a:pPr algn="ctr"/>
          </a:p>
        </p:txBody>
      </p:sp>
      <p:sp>
        <p:nvSpPr>
          <p:cNvPr id="29" name="TextBox 28"/>
          <p:cNvSpPr txBox="1"/>
          <p:nvPr/>
        </p:nvSpPr>
        <p:spPr>
          <a:xfrm>
            <a:off x="566928" y="2450592"/>
            <a:ext cx="7132320" cy="603504"/>
          </a:xfrm>
          <a:prstGeom prst="rect">
            <a:avLst/>
          </a:prstGeom>
          <a:noFill/>
        </p:spPr>
        <p:txBody>
          <a:bodyPr wrap="square" lIns="0" rIns="0" tIns="0" bIns="0" anchor="t">
            <a:spAutoFit/>
          </a:bodyPr>
          <a:lstStyle/>
          <a:p>
            <a:pPr algn="l">
              <a:lnSpc>
                <a:spcPct val="77037"/>
              </a:lnSpc>
              <a:spcBef>
                <a:spcPts val="0"/>
              </a:spcBef>
              <a:spcAft>
                <a:spcPts val="0"/>
              </a:spcAft>
            </a:pPr>
            <a:r>
              <a:rPr sz="4300" b="1" i="0">
                <a:solidFill>
                  <a:srgbClr val="201C15"/>
                </a:solidFill>
                <a:latin typeface="Playfair Display"/>
              </a:rPr>
              <a:t>Elevating Healthcare</a:t>
            </a:r>
          </a:p>
        </p:txBody>
      </p:sp>
      <p:sp>
        <p:nvSpPr>
          <p:cNvPr id="30" name="TextBox 29"/>
          <p:cNvSpPr txBox="1"/>
          <p:nvPr/>
        </p:nvSpPr>
        <p:spPr>
          <a:xfrm>
            <a:off x="566928" y="3072384"/>
            <a:ext cx="7132320" cy="603504"/>
          </a:xfrm>
          <a:prstGeom prst="rect">
            <a:avLst/>
          </a:prstGeom>
          <a:noFill/>
        </p:spPr>
        <p:txBody>
          <a:bodyPr wrap="square" lIns="0" rIns="0" tIns="0" bIns="0" anchor="t">
            <a:spAutoFit/>
          </a:bodyPr>
          <a:lstStyle/>
          <a:p>
            <a:pPr algn="l">
              <a:lnSpc>
                <a:spcPct val="77037"/>
              </a:lnSpc>
              <a:spcBef>
                <a:spcPts val="0"/>
              </a:spcBef>
              <a:spcAft>
                <a:spcPts val="0"/>
              </a:spcAft>
            </a:pPr>
            <a:r>
              <a:rPr sz="4300" b="1" i="0">
                <a:solidFill>
                  <a:srgbClr val="201C15"/>
                </a:solidFill>
                <a:latin typeface="Playfair Display"/>
              </a:rPr>
              <a:t>Through People.</a:t>
            </a:r>
          </a:p>
        </p:txBody>
      </p:sp>
      <p:sp>
        <p:nvSpPr>
          <p:cNvPr id="31" name="TextBox 30"/>
          <p:cNvSpPr txBox="1"/>
          <p:nvPr/>
        </p:nvSpPr>
        <p:spPr>
          <a:xfrm>
            <a:off x="566928" y="3822191"/>
            <a:ext cx="6949440" cy="274320"/>
          </a:xfrm>
          <a:prstGeom prst="rect">
            <a:avLst/>
          </a:prstGeom>
          <a:noFill/>
        </p:spPr>
        <p:txBody>
          <a:bodyPr wrap="square" lIns="0" rIns="0" tIns="0" bIns="0" anchor="t">
            <a:spAutoFit/>
          </a:bodyPr>
          <a:lstStyle/>
          <a:p>
            <a:pPr algn="l">
              <a:lnSpc>
                <a:spcPct val="90370"/>
              </a:lnSpc>
              <a:spcBef>
                <a:spcPts val="0"/>
              </a:spcBef>
              <a:spcAft>
                <a:spcPts val="0"/>
              </a:spcAft>
            </a:pPr>
            <a:r>
              <a:rPr sz="1400" b="0" i="1">
                <a:solidFill>
                  <a:srgbClr val="4A4233"/>
                </a:solidFill>
                <a:latin typeface="Playfair Display"/>
              </a:rPr>
              <a:t>A structured 90-day learning and development programme</a:t>
            </a:r>
          </a:p>
        </p:txBody>
      </p:sp>
      <p:sp>
        <p:nvSpPr>
          <p:cNvPr id="32" name="TextBox 31"/>
          <p:cNvSpPr txBox="1"/>
          <p:nvPr/>
        </p:nvSpPr>
        <p:spPr>
          <a:xfrm>
            <a:off x="566928" y="4187952"/>
            <a:ext cx="6949440" cy="182880"/>
          </a:xfrm>
          <a:prstGeom prst="rect">
            <a:avLst/>
          </a:prstGeom>
          <a:noFill/>
        </p:spPr>
        <p:txBody>
          <a:bodyPr wrap="square" lIns="0" rIns="0" tIns="0" bIns="0" anchor="t">
            <a:spAutoFit/>
          </a:bodyPr>
          <a:lstStyle/>
          <a:p>
            <a:pPr algn="l">
              <a:lnSpc>
                <a:spcPct val="96721"/>
              </a:lnSpc>
              <a:spcBef>
                <a:spcPts val="0"/>
              </a:spcBef>
              <a:spcAft>
                <a:spcPts val="0"/>
              </a:spcAft>
            </a:pPr>
            <a:r>
              <a:rPr sz="660" b="1" i="0" spc="200">
                <a:solidFill>
                  <a:srgbClr val="937425"/>
                </a:solidFill>
                <a:latin typeface="Inter"/>
              </a:rPr>
              <a:t>END-TO-END LEARNING &amp; DEVELOPMENT SOLUTIONS FOR HEALTHCARE ORGANISATIONS</a:t>
            </a:r>
          </a:p>
        </p:txBody>
      </p:sp>
      <p:sp>
        <p:nvSpPr>
          <p:cNvPr id="33" name="Rectangle 32"/>
          <p:cNvSpPr/>
          <p:nvPr/>
        </p:nvSpPr>
        <p:spPr>
          <a:xfrm>
            <a:off x="566928" y="4535424"/>
            <a:ext cx="6949440" cy="6858"/>
          </a:xfrm>
          <a:prstGeom prst="rect">
            <a:avLst/>
          </a:prstGeom>
          <a:solidFill>
            <a:srgbClr val="DDD7C8"/>
          </a:solidFill>
          <a:ln>
            <a:noFill/>
          </a:ln>
          <a:effectLst/>
        </p:spPr>
        <p:txBody>
          <a:bodyPr rtlCol="0" anchor="ctr"/>
          <a:lstStyle/>
          <a:p>
            <a:pPr algn="ctr"/>
          </a:p>
        </p:txBody>
      </p:sp>
      <p:sp>
        <p:nvSpPr>
          <p:cNvPr id="34" name="TextBox 33"/>
          <p:cNvSpPr txBox="1"/>
          <p:nvPr/>
        </p:nvSpPr>
        <p:spPr>
          <a:xfrm>
            <a:off x="566928" y="4681728"/>
            <a:ext cx="5486400" cy="201168"/>
          </a:xfrm>
          <a:prstGeom prst="rect">
            <a:avLst/>
          </a:prstGeom>
          <a:noFill/>
        </p:spPr>
        <p:txBody>
          <a:bodyPr wrap="square" lIns="0" rIns="0" tIns="0" bIns="0" anchor="t">
            <a:spAutoFit/>
          </a:bodyPr>
          <a:lstStyle/>
          <a:p>
            <a:pPr algn="l">
              <a:lnSpc>
                <a:spcPct val="93443"/>
              </a:lnSpc>
              <a:spcBef>
                <a:spcPts val="0"/>
              </a:spcBef>
              <a:spcAft>
                <a:spcPts val="0"/>
              </a:spcAft>
            </a:pPr>
            <a:r>
              <a:rPr sz="819" b="0" i="0">
                <a:solidFill>
                  <a:srgbClr val="201C15"/>
                </a:solidFill>
                <a:latin typeface="Inter"/>
              </a:rPr>
              <a:t>Prepared for the leadership of Dr. Rela Institute &amp; Medical Centre, Chromepet, Chennai</a:t>
            </a:r>
          </a:p>
        </p:txBody>
      </p:sp>
      <p:sp>
        <p:nvSpPr>
          <p:cNvPr id="35" name="TextBox 34"/>
          <p:cNvSpPr txBox="1"/>
          <p:nvPr/>
        </p:nvSpPr>
        <p:spPr>
          <a:xfrm>
            <a:off x="6144768" y="4690872"/>
            <a:ext cx="1371600" cy="182880"/>
          </a:xfrm>
          <a:prstGeom prst="rect">
            <a:avLst/>
          </a:prstGeom>
          <a:noFill/>
        </p:spPr>
        <p:txBody>
          <a:bodyPr wrap="square" lIns="0" rIns="0" tIns="0" bIns="0" anchor="t">
            <a:spAutoFit/>
          </a:bodyPr>
          <a:lstStyle/>
          <a:p>
            <a:pPr algn="r">
              <a:lnSpc>
                <a:spcPct val="96721"/>
              </a:lnSpc>
              <a:spcBef>
                <a:spcPts val="0"/>
              </a:spcBef>
              <a:spcAft>
                <a:spcPts val="0"/>
              </a:spcAft>
            </a:pPr>
            <a:r>
              <a:rPr sz="740" b="1" i="0" spc="160">
                <a:solidFill>
                  <a:srgbClr val="8A867C"/>
                </a:solidFill>
                <a:latin typeface="Inter"/>
              </a:rPr>
              <a:t>AUGUST 2026</a:t>
            </a:r>
          </a:p>
        </p:txBody>
      </p:sp>
      <p:sp>
        <p:nvSpPr>
          <p:cNvPr id="36" name="Rectangle 35"/>
          <p:cNvSpPr/>
          <p:nvPr/>
        </p:nvSpPr>
        <p:spPr>
          <a:xfrm>
            <a:off x="566928" y="4992624"/>
            <a:ext cx="6949440" cy="6858"/>
          </a:xfrm>
          <a:prstGeom prst="rect">
            <a:avLst/>
          </a:prstGeom>
          <a:solidFill>
            <a:srgbClr val="DDD7C8"/>
          </a:solidFill>
          <a:ln>
            <a:noFill/>
          </a:ln>
          <a:effectLst/>
        </p:spPr>
        <p:txBody>
          <a:bodyPr rtlCol="0" anchor="ctr"/>
          <a:lstStyle/>
          <a:p>
            <a:pPr algn="ctr"/>
          </a:p>
        </p:txBody>
      </p:sp>
      <p:sp>
        <p:nvSpPr>
          <p:cNvPr id="37" name="TextBox 36"/>
          <p:cNvSpPr txBox="1"/>
          <p:nvPr/>
        </p:nvSpPr>
        <p:spPr>
          <a:xfrm>
            <a:off x="566928" y="5212080"/>
            <a:ext cx="7040880" cy="274320"/>
          </a:xfrm>
          <a:prstGeom prst="rect">
            <a:avLst/>
          </a:prstGeom>
          <a:noFill/>
        </p:spPr>
        <p:txBody>
          <a:bodyPr wrap="square" lIns="0" rIns="0" tIns="0" bIns="0" anchor="t">
            <a:spAutoFit/>
          </a:bodyPr>
          <a:lstStyle/>
          <a:p>
            <a:pPr algn="l">
              <a:lnSpc>
                <a:spcPct val="88889"/>
              </a:lnSpc>
              <a:spcBef>
                <a:spcPts val="0"/>
              </a:spcBef>
              <a:spcAft>
                <a:spcPts val="0"/>
              </a:spcAft>
            </a:pPr>
            <a:r>
              <a:rPr sz="1250" b="1" i="1">
                <a:solidFill>
                  <a:srgbClr val="937425"/>
                </a:solidFill>
                <a:latin typeface="Playfair Display"/>
              </a:rPr>
              <a:t>Competent.  Compassionate.  Confident.  Accountable.  Patient-First.</a:t>
            </a:r>
          </a:p>
        </p:txBody>
      </p:sp>
      <p:sp>
        <p:nvSpPr>
          <p:cNvPr id="38" name="TextBox 37"/>
          <p:cNvSpPr txBox="1"/>
          <p:nvPr/>
        </p:nvSpPr>
        <p:spPr>
          <a:xfrm>
            <a:off x="566928" y="5614416"/>
            <a:ext cx="7040880" cy="201168"/>
          </a:xfrm>
          <a:prstGeom prst="rect">
            <a:avLst/>
          </a:prstGeom>
          <a:noFill/>
        </p:spPr>
        <p:txBody>
          <a:bodyPr wrap="square" lIns="0" rIns="0" tIns="0" bIns="0" anchor="t">
            <a:spAutoFit/>
          </a:bodyPr>
          <a:lstStyle/>
          <a:p>
            <a:pPr algn="l">
              <a:lnSpc>
                <a:spcPct val="106557"/>
              </a:lnSpc>
              <a:spcBef>
                <a:spcPts val="0"/>
              </a:spcBef>
              <a:spcAft>
                <a:spcPts val="0"/>
              </a:spcAft>
            </a:pPr>
            <a:r>
              <a:rPr sz="640" b="0" i="1">
                <a:solidFill>
                  <a:srgbClr val="B1ACA1"/>
                </a:solidFill>
                <a:latin typeface="Inter"/>
              </a:rPr>
              <a:t>Private and confidential. Prepared exclusively for the leadership of Dr. Rela Institute &amp; Medical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txBody>
          <a:bodyPr rtlCol="0" anchor="ctr"/>
          <a:lstStyle/>
          <a:p>
            <a:pPr algn="ctr"/>
          </a:p>
        </p:txBody>
      </p:sp>
      <p:sp>
        <p:nvSpPr>
          <p:cNvPr id="3" name="TextBox 2"/>
          <p:cNvSpPr txBox="1"/>
          <p:nvPr/>
        </p:nvSpPr>
        <p:spPr>
          <a:xfrm>
            <a:off x="566928" y="402336"/>
            <a:ext cx="8771839" cy="201168"/>
          </a:xfrm>
          <a:prstGeom prst="rect">
            <a:avLst/>
          </a:prstGeom>
          <a:noFill/>
        </p:spPr>
        <p:txBody>
          <a:bodyPr wrap="square" lIns="0" rIns="0" tIns="0" bIns="0" anchor="t">
            <a:spAutoFit/>
          </a:bodyPr>
          <a:lstStyle/>
          <a:p>
            <a:pPr algn="l">
              <a:lnSpc>
                <a:spcPct val="96721"/>
              </a:lnSpc>
              <a:spcBef>
                <a:spcPts val="0"/>
              </a:spcBef>
              <a:spcAft>
                <a:spcPts val="0"/>
              </a:spcAft>
            </a:pPr>
            <a:r>
              <a:rPr sz="900" b="1" i="0">
                <a:solidFill>
                  <a:srgbClr val="B08930"/>
                </a:solidFill>
                <a:latin typeface="Playfair Display"/>
              </a:rPr>
              <a:t>01   </a:t>
            </a:r>
            <a:r>
              <a:rPr sz="720" b="1" i="0" spc="230">
                <a:solidFill>
                  <a:srgbClr val="937425"/>
                </a:solidFill>
                <a:latin typeface="Inter"/>
              </a:rPr>
              <a:t>THE PROPOSITION  ·  WHO WE ARE</a:t>
            </a:r>
          </a:p>
        </p:txBody>
      </p:sp>
      <p:sp>
        <p:nvSpPr>
          <p:cNvPr id="4" name="TextBox 3"/>
          <p:cNvSpPr txBox="1"/>
          <p:nvPr/>
        </p:nvSpPr>
        <p:spPr>
          <a:xfrm>
            <a:off x="566928" y="603504"/>
            <a:ext cx="8680399" cy="438912"/>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201C15"/>
                </a:solidFill>
                <a:latin typeface="Playfair Display"/>
              </a:rPr>
              <a:t>Every interaction is part of care.</a:t>
            </a:r>
          </a:p>
        </p:txBody>
      </p:sp>
      <p:sp>
        <p:nvSpPr>
          <p:cNvPr id="5" name="Rectangle 4"/>
          <p:cNvSpPr/>
          <p:nvPr/>
        </p:nvSpPr>
        <p:spPr>
          <a:xfrm>
            <a:off x="566928" y="1115568"/>
            <a:ext cx="11057839" cy="10058"/>
          </a:xfrm>
          <a:prstGeom prst="rect">
            <a:avLst/>
          </a:prstGeom>
          <a:solidFill>
            <a:srgbClr val="937425"/>
          </a:solidFill>
          <a:ln>
            <a:noFill/>
          </a:ln>
          <a:effectLst/>
        </p:spPr>
        <p:txBody>
          <a:bodyPr rtlCol="0" anchor="ctr"/>
          <a:lstStyle/>
          <a:p>
            <a:pPr algn="ctr"/>
          </a:p>
        </p:txBody>
      </p:sp>
      <p:pic>
        <p:nvPicPr>
          <p:cNvPr id="6" name="Picture 5" descr="owl_refined.png"/>
          <p:cNvPicPr>
            <a:picLocks noChangeAspect="1"/>
          </p:cNvPicPr>
          <p:nvPr/>
        </p:nvPicPr>
        <p:blipFill>
          <a:blip r:embed="rId2"/>
          <a:stretch>
            <a:fillRect/>
          </a:stretch>
        </p:blipFill>
        <p:spPr>
          <a:xfrm>
            <a:off x="9741103" y="384048"/>
            <a:ext cx="420624" cy="292430"/>
          </a:xfrm>
          <a:prstGeom prst="rect">
            <a:avLst/>
          </a:prstGeom>
        </p:spPr>
      </p:pic>
      <p:sp>
        <p:nvSpPr>
          <p:cNvPr id="7" name="TextBox 6"/>
          <p:cNvSpPr txBox="1"/>
          <p:nvPr/>
        </p:nvSpPr>
        <p:spPr>
          <a:xfrm>
            <a:off x="10253167" y="402336"/>
            <a:ext cx="1463040" cy="365760"/>
          </a:xfrm>
          <a:prstGeom prst="rect">
            <a:avLst/>
          </a:prstGeom>
          <a:noFill/>
        </p:spPr>
        <p:txBody>
          <a:bodyPr wrap="square" lIns="0" rIns="0" tIns="0" bIns="0" anchor="t">
            <a:spAutoFit/>
          </a:bodyPr>
          <a:lstStyle/>
          <a:p>
            <a:pPr algn="l">
              <a:lnSpc>
                <a:spcPct val="74074"/>
              </a:lnSpc>
              <a:spcBef>
                <a:spcPts val="0"/>
              </a:spcBef>
              <a:spcAft>
                <a:spcPts val="0"/>
              </a:spcAft>
            </a:pPr>
            <a:r>
              <a:rPr sz="1050" b="1" i="0" spc="150">
                <a:solidFill>
                  <a:srgbClr val="201C15"/>
                </a:solidFill>
                <a:latin typeface="Playfair Display"/>
              </a:rPr>
              <a:t>LEVITATTE</a:t>
            </a:r>
          </a:p>
          <a:p>
            <a:pPr algn="l">
              <a:lnSpc>
                <a:spcPct val="96721"/>
              </a:lnSpc>
              <a:spcBef>
                <a:spcPts val="0"/>
              </a:spcBef>
              <a:spcAft>
                <a:spcPts val="0"/>
              </a:spcAft>
            </a:pPr>
            <a:r>
              <a:rPr sz="459" b="1" i="0" spc="105">
                <a:solidFill>
                  <a:srgbClr val="937425"/>
                </a:solidFill>
                <a:latin typeface="Inter"/>
              </a:rPr>
              <a:t>LEARNING &amp; DEVELOPMENT</a:t>
            </a:r>
          </a:p>
        </p:txBody>
      </p:sp>
      <p:sp>
        <p:nvSpPr>
          <p:cNvPr id="8" name="Rectangle 7"/>
          <p:cNvSpPr/>
          <p:nvPr/>
        </p:nvSpPr>
        <p:spPr>
          <a:xfrm>
            <a:off x="566928" y="6428232"/>
            <a:ext cx="11057839" cy="6858"/>
          </a:xfrm>
          <a:prstGeom prst="rect">
            <a:avLst/>
          </a:prstGeom>
          <a:solidFill>
            <a:srgbClr val="DDD7C8"/>
          </a:solidFill>
          <a:ln>
            <a:noFill/>
          </a:ln>
          <a:effectLst/>
        </p:spPr>
        <p:txBody>
          <a:bodyPr rtlCol="0" anchor="ctr"/>
          <a:lstStyle/>
          <a:p>
            <a:pPr algn="ctr"/>
          </a:p>
        </p:txBody>
      </p:sp>
      <p:sp>
        <p:nvSpPr>
          <p:cNvPr id="9" name="TextBox 8"/>
          <p:cNvSpPr txBox="1"/>
          <p:nvPr/>
        </p:nvSpPr>
        <p:spPr>
          <a:xfrm>
            <a:off x="566928" y="6528816"/>
            <a:ext cx="10509199" cy="164592"/>
          </a:xfrm>
          <a:prstGeom prst="rect">
            <a:avLst/>
          </a:prstGeom>
          <a:noFill/>
        </p:spPr>
        <p:txBody>
          <a:bodyPr wrap="square" lIns="0" rIns="0" tIns="0" bIns="0" anchor="t">
            <a:spAutoFit/>
          </a:bodyPr>
          <a:lstStyle/>
          <a:p>
            <a:pPr algn="l">
              <a:lnSpc>
                <a:spcPct val="96721"/>
              </a:lnSpc>
              <a:spcBef>
                <a:spcPts val="0"/>
              </a:spcBef>
              <a:spcAft>
                <a:spcPts val="0"/>
              </a:spcAft>
            </a:pPr>
            <a:r>
              <a:rPr sz="620" b="0" i="0" spc="60">
                <a:solidFill>
                  <a:srgbClr val="8A867C"/>
                </a:solidFill>
                <a:latin typeface="Inter"/>
              </a:rPr>
              <a:t>LEVITATTE LEARNING &amp; DEVELOPMENT     ·     PROPOSAL FOR DR. RELA INSTITUTE &amp; MEDICAL CENTRE</a:t>
            </a:r>
          </a:p>
        </p:txBody>
      </p:sp>
      <p:sp>
        <p:nvSpPr>
          <p:cNvPr id="10" name="TextBox 9"/>
          <p:cNvSpPr txBox="1"/>
          <p:nvPr/>
        </p:nvSpPr>
        <p:spPr>
          <a:xfrm>
            <a:off x="11076127" y="6528816"/>
            <a:ext cx="548640" cy="164592"/>
          </a:xfrm>
          <a:prstGeom prst="rect">
            <a:avLst/>
          </a:prstGeom>
          <a:noFill/>
        </p:spPr>
        <p:txBody>
          <a:bodyPr wrap="square" lIns="0" rIns="0" tIns="0" bIns="0" anchor="t">
            <a:spAutoFit/>
          </a:bodyPr>
          <a:lstStyle/>
          <a:p>
            <a:pPr algn="r">
              <a:lnSpc>
                <a:spcPct val="96721"/>
              </a:lnSpc>
              <a:spcBef>
                <a:spcPts val="0"/>
              </a:spcBef>
              <a:spcAft>
                <a:spcPts val="0"/>
              </a:spcAft>
            </a:pPr>
            <a:r>
              <a:rPr sz="620" b="1" i="0">
                <a:solidFill>
                  <a:srgbClr val="8A867C"/>
                </a:solidFill>
                <a:latin typeface="Inter"/>
              </a:rPr>
              <a:t>2</a:t>
            </a:r>
          </a:p>
        </p:txBody>
      </p:sp>
      <p:sp>
        <p:nvSpPr>
          <p:cNvPr id="11" name="TextBox 10"/>
          <p:cNvSpPr txBox="1"/>
          <p:nvPr/>
        </p:nvSpPr>
        <p:spPr>
          <a:xfrm>
            <a:off x="566928" y="1298448"/>
            <a:ext cx="3803904" cy="1609242"/>
          </a:xfrm>
          <a:prstGeom prst="rect">
            <a:avLst/>
          </a:prstGeom>
          <a:noFill/>
        </p:spPr>
        <p:txBody>
          <a:bodyPr wrap="square" lIns="0" rIns="0" tIns="0" bIns="0" anchor="t">
            <a:spAutoFit/>
          </a:bodyPr>
          <a:lstStyle/>
          <a:p>
            <a:pPr algn="just">
              <a:lnSpc>
                <a:spcPct val="111475"/>
              </a:lnSpc>
              <a:spcBef>
                <a:spcPts val="0"/>
              </a:spcBef>
              <a:spcAft>
                <a:spcPts val="500"/>
              </a:spcAft>
            </a:pPr>
            <a:r>
              <a:rPr sz="770" b="0" i="0">
                <a:solidFill>
                  <a:srgbClr val="555149"/>
                </a:solidFill>
                <a:latin typeface="Inter"/>
              </a:rPr>
              <a:t>Every patient interaction shapes the reputation of a hospital. From the first telephone call and the registration counter through treatment coordination, billing and discharge, patients and their families expect clarity, compassion, professionalism and confidence.</a:t>
            </a:r>
          </a:p>
          <a:p>
            <a:pPr algn="just">
              <a:lnSpc>
                <a:spcPct val="111475"/>
              </a:lnSpc>
              <a:spcBef>
                <a:spcPts val="0"/>
              </a:spcBef>
              <a:spcAft>
                <a:spcPts val="500"/>
              </a:spcAft>
            </a:pPr>
            <a:r>
              <a:rPr sz="770" b="0" i="0">
                <a:solidFill>
                  <a:srgbClr val="555149"/>
                </a:solidFill>
                <a:latin typeface="Inter"/>
              </a:rPr>
              <a:t>Across a full episode of care the treating consultant is present for only some of the patient's time in the building. The rest belongs to front office, patient relations, billing, nursing and clinical support, housekeeping and security, who hold the experience together at moments the clinician never sees. Clinical excellence can be concentrated in specialists; the experience of being cared for cannot, because it is assembled touchpoint by touchpoint. That consistency is a capability, and it is trainable.</a:t>
            </a:r>
          </a:p>
        </p:txBody>
      </p:sp>
      <p:sp>
        <p:nvSpPr>
          <p:cNvPr id="12" name="Rectangle 11"/>
          <p:cNvSpPr/>
          <p:nvPr/>
        </p:nvSpPr>
        <p:spPr>
          <a:xfrm>
            <a:off x="566928" y="3017418"/>
            <a:ext cx="3803904" cy="669645"/>
          </a:xfrm>
          <a:prstGeom prst="rect">
            <a:avLst/>
          </a:prstGeom>
          <a:solidFill>
            <a:srgbClr val="FCF8EF"/>
          </a:solidFill>
          <a:ln w="6350">
            <a:solidFill>
              <a:srgbClr val="DDD7C8"/>
            </a:solidFill>
          </a:ln>
          <a:effectLst/>
        </p:spPr>
        <p:txBody>
          <a:bodyPr rtlCol="0" anchor="ctr"/>
          <a:lstStyle/>
          <a:p>
            <a:pPr algn="ctr"/>
          </a:p>
        </p:txBody>
      </p:sp>
      <p:sp>
        <p:nvSpPr>
          <p:cNvPr id="13" name="Rectangle 12"/>
          <p:cNvSpPr/>
          <p:nvPr/>
        </p:nvSpPr>
        <p:spPr>
          <a:xfrm>
            <a:off x="566928" y="3017418"/>
            <a:ext cx="25603" cy="669645"/>
          </a:xfrm>
          <a:prstGeom prst="rect">
            <a:avLst/>
          </a:prstGeom>
          <a:solidFill>
            <a:srgbClr val="937425"/>
          </a:solidFill>
          <a:ln>
            <a:noFill/>
          </a:ln>
          <a:effectLst/>
        </p:spPr>
        <p:txBody>
          <a:bodyPr rtlCol="0" anchor="ctr"/>
          <a:lstStyle/>
          <a:p>
            <a:pPr algn="ctr"/>
          </a:p>
        </p:txBody>
      </p:sp>
      <p:sp>
        <p:nvSpPr>
          <p:cNvPr id="14" name="TextBox 13"/>
          <p:cNvSpPr txBox="1"/>
          <p:nvPr/>
        </p:nvSpPr>
        <p:spPr>
          <a:xfrm>
            <a:off x="749808" y="3017418"/>
            <a:ext cx="3474720" cy="669645"/>
          </a:xfrm>
          <a:prstGeom prst="rect">
            <a:avLst/>
          </a:prstGeom>
          <a:noFill/>
        </p:spPr>
        <p:txBody>
          <a:bodyPr wrap="square" lIns="0" rIns="0" tIns="0" bIns="0" anchor="ctr">
            <a:spAutoFit/>
          </a:bodyPr>
          <a:lstStyle/>
          <a:p>
            <a:pPr algn="l">
              <a:lnSpc>
                <a:spcPct val="99259"/>
              </a:lnSpc>
              <a:spcBef>
                <a:spcPts val="0"/>
              </a:spcBef>
              <a:spcAft>
                <a:spcPts val="0"/>
              </a:spcAft>
            </a:pPr>
            <a:r>
              <a:rPr sz="960" b="0" i="1">
                <a:solidFill>
                  <a:srgbClr val="4A4233"/>
                </a:solidFill>
                <a:latin typeface="Playfair Display"/>
              </a:rPr>
              <a:t>Quality is not what the hospital intends. It is what the patient remembers about the way they were treated at every touchpoint.</a:t>
            </a:r>
          </a:p>
        </p:txBody>
      </p:sp>
      <p:sp>
        <p:nvSpPr>
          <p:cNvPr id="15" name="Rectangle 14"/>
          <p:cNvSpPr/>
          <p:nvPr/>
        </p:nvSpPr>
        <p:spPr>
          <a:xfrm>
            <a:off x="566928" y="3833368"/>
            <a:ext cx="3803904" cy="2448560"/>
          </a:xfrm>
          <a:prstGeom prst="rect">
            <a:avLst/>
          </a:prstGeom>
          <a:solidFill>
            <a:srgbClr val="201C15"/>
          </a:solidFill>
          <a:ln>
            <a:noFill/>
          </a:ln>
          <a:effectLst/>
        </p:spPr>
        <p:txBody>
          <a:bodyPr rtlCol="0" anchor="ctr"/>
          <a:lstStyle/>
          <a:p>
            <a:pPr algn="ctr"/>
          </a:p>
        </p:txBody>
      </p:sp>
      <p:sp>
        <p:nvSpPr>
          <p:cNvPr id="16" name="TextBox 15"/>
          <p:cNvSpPr txBox="1"/>
          <p:nvPr/>
        </p:nvSpPr>
        <p:spPr>
          <a:xfrm>
            <a:off x="768096" y="4007104"/>
            <a:ext cx="3401568" cy="164592"/>
          </a:xfrm>
          <a:prstGeom prst="rect">
            <a:avLst/>
          </a:prstGeom>
          <a:noFill/>
        </p:spPr>
        <p:txBody>
          <a:bodyPr wrap="square" lIns="0" rIns="0" tIns="0" bIns="0" anchor="t">
            <a:spAutoFit/>
          </a:bodyPr>
          <a:lstStyle/>
          <a:p>
            <a:pPr algn="l">
              <a:lnSpc>
                <a:spcPct val="96721"/>
              </a:lnSpc>
              <a:spcBef>
                <a:spcPts val="0"/>
              </a:spcBef>
              <a:spcAft>
                <a:spcPts val="0"/>
              </a:spcAft>
            </a:pPr>
            <a:r>
              <a:rPr sz="660" b="1" i="0" spc="220">
                <a:solidFill>
                  <a:srgbClr val="B08930"/>
                </a:solidFill>
                <a:latin typeface="Inter"/>
              </a:rPr>
              <a:t>WHO WE ARE</a:t>
            </a:r>
          </a:p>
        </p:txBody>
      </p:sp>
      <p:sp>
        <p:nvSpPr>
          <p:cNvPr id="17" name="Rectangle 16"/>
          <p:cNvSpPr/>
          <p:nvPr/>
        </p:nvSpPr>
        <p:spPr>
          <a:xfrm>
            <a:off x="768096" y="4217416"/>
            <a:ext cx="3401568" cy="6858"/>
          </a:xfrm>
          <a:prstGeom prst="rect">
            <a:avLst/>
          </a:prstGeom>
          <a:solidFill>
            <a:srgbClr val="937425"/>
          </a:solidFill>
          <a:ln>
            <a:noFill/>
          </a:ln>
          <a:effectLst/>
        </p:spPr>
        <p:txBody>
          <a:bodyPr rtlCol="0" anchor="ctr"/>
          <a:lstStyle/>
          <a:p>
            <a:pPr algn="ctr"/>
          </a:p>
        </p:txBody>
      </p:sp>
      <p:sp>
        <p:nvSpPr>
          <p:cNvPr id="18" name="TextBox 17"/>
          <p:cNvSpPr txBox="1"/>
          <p:nvPr/>
        </p:nvSpPr>
        <p:spPr>
          <a:xfrm>
            <a:off x="768096" y="4345432"/>
            <a:ext cx="3401568" cy="778154"/>
          </a:xfrm>
          <a:prstGeom prst="rect">
            <a:avLst/>
          </a:prstGeom>
          <a:noFill/>
        </p:spPr>
        <p:txBody>
          <a:bodyPr wrap="square" lIns="0" rIns="0" tIns="0" bIns="0" anchor="t">
            <a:spAutoFit/>
          </a:bodyPr>
          <a:lstStyle/>
          <a:p>
            <a:pPr algn="just">
              <a:lnSpc>
                <a:spcPct val="111475"/>
              </a:lnSpc>
              <a:spcBef>
                <a:spcPts val="0"/>
              </a:spcBef>
              <a:spcAft>
                <a:spcPts val="0"/>
              </a:spcAft>
            </a:pPr>
            <a:r>
              <a:rPr sz="720" b="0" i="0">
                <a:solidFill>
                  <a:srgbClr val="ECE7DA"/>
                </a:solidFill>
                <a:latin typeface="Inter"/>
              </a:rPr>
              <a:t>Levitatte brings a founder with more than twenty-five years in behavioural, communication and service capability building, grounded in NLP and organisational behavioural psychology, with prior healthcare engagements at Fortis and Cloud9 Hospitals. Industry-specific knowledge of hospital floors shapes every module: the content is customised against your own policies, SOPs and service standards rather than delivered from a generic library.</a:t>
            </a:r>
          </a:p>
        </p:txBody>
      </p:sp>
      <p:sp>
        <p:nvSpPr>
          <p:cNvPr id="19" name="Rectangle 18"/>
          <p:cNvSpPr/>
          <p:nvPr/>
        </p:nvSpPr>
        <p:spPr>
          <a:xfrm>
            <a:off x="768096" y="5288178"/>
            <a:ext cx="3401568" cy="5486"/>
          </a:xfrm>
          <a:prstGeom prst="rect">
            <a:avLst/>
          </a:prstGeom>
          <a:solidFill>
            <a:srgbClr val="3A3428"/>
          </a:solidFill>
          <a:ln>
            <a:noFill/>
          </a:ln>
          <a:effectLst/>
        </p:spPr>
        <p:txBody>
          <a:bodyPr rtlCol="0" anchor="ctr"/>
          <a:lstStyle/>
          <a:p>
            <a:pPr algn="ctr"/>
          </a:p>
        </p:txBody>
      </p:sp>
      <p:sp>
        <p:nvSpPr>
          <p:cNvPr id="20" name="TextBox 19"/>
          <p:cNvSpPr txBox="1"/>
          <p:nvPr/>
        </p:nvSpPr>
        <p:spPr>
          <a:xfrm>
            <a:off x="768096" y="5425338"/>
            <a:ext cx="3401568" cy="146304"/>
          </a:xfrm>
          <a:prstGeom prst="rect">
            <a:avLst/>
          </a:prstGeom>
          <a:noFill/>
        </p:spPr>
        <p:txBody>
          <a:bodyPr wrap="square" lIns="0" rIns="0" tIns="0" bIns="0" anchor="t">
            <a:spAutoFit/>
          </a:bodyPr>
          <a:lstStyle/>
          <a:p>
            <a:pPr algn="l">
              <a:lnSpc>
                <a:spcPct val="96721"/>
              </a:lnSpc>
              <a:spcBef>
                <a:spcPts val="0"/>
              </a:spcBef>
              <a:spcAft>
                <a:spcPts val="0"/>
              </a:spcAft>
            </a:pPr>
            <a:r>
              <a:rPr sz="620" b="1" i="0" spc="190">
                <a:solidFill>
                  <a:srgbClr val="B08930"/>
                </a:solidFill>
                <a:latin typeface="Inter"/>
              </a:rPr>
              <a:t>WHAT IT SUPPORTS</a:t>
            </a:r>
          </a:p>
        </p:txBody>
      </p:sp>
      <p:sp>
        <p:nvSpPr>
          <p:cNvPr id="21" name="TextBox 20"/>
          <p:cNvSpPr txBox="1"/>
          <p:nvPr/>
        </p:nvSpPr>
        <p:spPr>
          <a:xfrm>
            <a:off x="768096" y="5635650"/>
            <a:ext cx="3401568" cy="487680"/>
          </a:xfrm>
          <a:prstGeom prst="rect">
            <a:avLst/>
          </a:prstGeom>
          <a:noFill/>
        </p:spPr>
        <p:txBody>
          <a:bodyPr wrap="square" lIns="0" rIns="0" tIns="0" bIns="0" anchor="t">
            <a:spAutoFit/>
          </a:bodyPr>
          <a:lstStyle/>
          <a:p>
            <a:pPr algn="just">
              <a:lnSpc>
                <a:spcPct val="106557"/>
              </a:lnSpc>
              <a:spcBef>
                <a:spcPts val="0"/>
              </a:spcBef>
              <a:spcAft>
                <a:spcPts val="0"/>
              </a:spcAft>
            </a:pPr>
            <a:r>
              <a:rPr sz="690" b="0" i="1">
                <a:solidFill>
                  <a:srgbClr val="A9A292"/>
                </a:solidFill>
                <a:latin typeface="Inter"/>
              </a:rPr>
              <a:t>A programme of this kind supports more confident employees, a more consistent patient experience, better complaint handling and service recovery, improved teamwork, stronger accountability, more effective supervisors, and a culture of continuous learning.</a:t>
            </a:r>
          </a:p>
        </p:txBody>
      </p:sp>
      <p:sp>
        <p:nvSpPr>
          <p:cNvPr id="22" name="TextBox 21"/>
          <p:cNvSpPr txBox="1"/>
          <p:nvPr/>
        </p:nvSpPr>
        <p:spPr>
          <a:xfrm>
            <a:off x="4736592" y="1298448"/>
            <a:ext cx="6888175"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WHAT THE PROGRAMME BUILDS</a:t>
            </a:r>
          </a:p>
        </p:txBody>
      </p:sp>
      <p:sp>
        <p:nvSpPr>
          <p:cNvPr id="23" name="Rectangle 22"/>
          <p:cNvSpPr/>
          <p:nvPr/>
        </p:nvSpPr>
        <p:spPr>
          <a:xfrm>
            <a:off x="4736592" y="1472184"/>
            <a:ext cx="6888175" cy="6858"/>
          </a:xfrm>
          <a:prstGeom prst="rect">
            <a:avLst/>
          </a:prstGeom>
          <a:solidFill>
            <a:srgbClr val="DDD7C8"/>
          </a:solidFill>
          <a:ln>
            <a:noFill/>
          </a:ln>
          <a:effectLst/>
        </p:spPr>
        <p:txBody>
          <a:bodyPr rtlCol="0" anchor="ctr"/>
          <a:lstStyle/>
          <a:p>
            <a:pPr algn="ctr"/>
          </a:p>
        </p:txBody>
      </p:sp>
      <p:sp>
        <p:nvSpPr>
          <p:cNvPr id="24" name="Rectangle 23"/>
          <p:cNvSpPr/>
          <p:nvPr/>
        </p:nvSpPr>
        <p:spPr>
          <a:xfrm>
            <a:off x="4736592" y="1591056"/>
            <a:ext cx="2216810" cy="1484376"/>
          </a:xfrm>
          <a:prstGeom prst="rect">
            <a:avLst/>
          </a:prstGeom>
          <a:solidFill>
            <a:srgbClr val="FCF8EF"/>
          </a:solidFill>
          <a:ln w="6350">
            <a:solidFill>
              <a:srgbClr val="DDD7C8"/>
            </a:solidFill>
          </a:ln>
          <a:effectLst/>
        </p:spPr>
        <p:txBody>
          <a:bodyPr rtlCol="0" anchor="ctr"/>
          <a:lstStyle/>
          <a:p>
            <a:pPr algn="ctr"/>
          </a:p>
        </p:txBody>
      </p:sp>
      <p:sp>
        <p:nvSpPr>
          <p:cNvPr id="25" name="Rectangle 24"/>
          <p:cNvSpPr/>
          <p:nvPr/>
        </p:nvSpPr>
        <p:spPr>
          <a:xfrm>
            <a:off x="4736592" y="1591056"/>
            <a:ext cx="2216810" cy="23774"/>
          </a:xfrm>
          <a:prstGeom prst="rect">
            <a:avLst/>
          </a:prstGeom>
          <a:solidFill>
            <a:srgbClr val="B08930"/>
          </a:solidFill>
          <a:ln>
            <a:noFill/>
          </a:ln>
          <a:effectLst/>
        </p:spPr>
        <p:txBody>
          <a:bodyPr rtlCol="0" anchor="ctr"/>
          <a:lstStyle/>
          <a:p>
            <a:pPr algn="ctr"/>
          </a:p>
        </p:txBody>
      </p:sp>
      <p:sp>
        <p:nvSpPr>
          <p:cNvPr id="26" name="TextBox 25"/>
          <p:cNvSpPr txBox="1"/>
          <p:nvPr/>
        </p:nvSpPr>
        <p:spPr>
          <a:xfrm>
            <a:off x="4882896" y="2044230"/>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AWARENESS &amp; SELF-EFFICACY</a:t>
            </a:r>
          </a:p>
        </p:txBody>
      </p:sp>
      <p:sp>
        <p:nvSpPr>
          <p:cNvPr id="27" name="TextBox 26"/>
          <p:cNvSpPr txBox="1"/>
          <p:nvPr/>
        </p:nvSpPr>
        <p:spPr>
          <a:xfrm>
            <a:off x="4882896" y="2254364"/>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Self-awareness of the standard one is setting, and the confidence to hold it without being supervised into it.</a:t>
            </a:r>
          </a:p>
        </p:txBody>
      </p:sp>
      <p:sp>
        <p:nvSpPr>
          <p:cNvPr id="28" name="Rectangle 27"/>
          <p:cNvSpPr/>
          <p:nvPr/>
        </p:nvSpPr>
        <p:spPr>
          <a:xfrm>
            <a:off x="7072274" y="1591056"/>
            <a:ext cx="2216810" cy="1484376"/>
          </a:xfrm>
          <a:prstGeom prst="rect">
            <a:avLst/>
          </a:prstGeom>
          <a:solidFill>
            <a:srgbClr val="FCF8EF"/>
          </a:solidFill>
          <a:ln w="6350">
            <a:solidFill>
              <a:srgbClr val="DDD7C8"/>
            </a:solidFill>
          </a:ln>
          <a:effectLst/>
        </p:spPr>
        <p:txBody>
          <a:bodyPr rtlCol="0" anchor="ctr"/>
          <a:lstStyle/>
          <a:p>
            <a:pPr algn="ctr"/>
          </a:p>
        </p:txBody>
      </p:sp>
      <p:sp>
        <p:nvSpPr>
          <p:cNvPr id="29" name="Rectangle 28"/>
          <p:cNvSpPr/>
          <p:nvPr/>
        </p:nvSpPr>
        <p:spPr>
          <a:xfrm>
            <a:off x="7072274" y="1591056"/>
            <a:ext cx="2216810" cy="23774"/>
          </a:xfrm>
          <a:prstGeom prst="rect">
            <a:avLst/>
          </a:prstGeom>
          <a:solidFill>
            <a:srgbClr val="B08930"/>
          </a:solidFill>
          <a:ln>
            <a:noFill/>
          </a:ln>
          <a:effectLst/>
        </p:spPr>
        <p:txBody>
          <a:bodyPr rtlCol="0" anchor="ctr"/>
          <a:lstStyle/>
          <a:p>
            <a:pPr algn="ctr"/>
          </a:p>
        </p:txBody>
      </p:sp>
      <p:sp>
        <p:nvSpPr>
          <p:cNvPr id="30" name="TextBox 29"/>
          <p:cNvSpPr txBox="1"/>
          <p:nvPr/>
        </p:nvSpPr>
        <p:spPr>
          <a:xfrm>
            <a:off x="7218578" y="2044230"/>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PERSONALITY &amp; IMAGE</a:t>
            </a:r>
          </a:p>
        </p:txBody>
      </p:sp>
      <p:sp>
        <p:nvSpPr>
          <p:cNvPr id="31" name="TextBox 30"/>
          <p:cNvSpPr txBox="1"/>
          <p:nvPr/>
        </p:nvSpPr>
        <p:spPr>
          <a:xfrm>
            <a:off x="7218578" y="2254364"/>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Professional presence, bearing and grooming: the image the hospital projects before a word is spoken.</a:t>
            </a:r>
          </a:p>
        </p:txBody>
      </p:sp>
      <p:sp>
        <p:nvSpPr>
          <p:cNvPr id="32" name="Rectangle 31"/>
          <p:cNvSpPr/>
          <p:nvPr/>
        </p:nvSpPr>
        <p:spPr>
          <a:xfrm>
            <a:off x="9407956" y="1591056"/>
            <a:ext cx="2216810" cy="1484376"/>
          </a:xfrm>
          <a:prstGeom prst="rect">
            <a:avLst/>
          </a:prstGeom>
          <a:solidFill>
            <a:srgbClr val="FCF8EF"/>
          </a:solidFill>
          <a:ln w="6350">
            <a:solidFill>
              <a:srgbClr val="DDD7C8"/>
            </a:solidFill>
          </a:ln>
          <a:effectLst/>
        </p:spPr>
        <p:txBody>
          <a:bodyPr rtlCol="0" anchor="ctr"/>
          <a:lstStyle/>
          <a:p>
            <a:pPr algn="ctr"/>
          </a:p>
        </p:txBody>
      </p:sp>
      <p:sp>
        <p:nvSpPr>
          <p:cNvPr id="33" name="Rectangle 32"/>
          <p:cNvSpPr/>
          <p:nvPr/>
        </p:nvSpPr>
        <p:spPr>
          <a:xfrm>
            <a:off x="9407956" y="1591056"/>
            <a:ext cx="2216810" cy="23774"/>
          </a:xfrm>
          <a:prstGeom prst="rect">
            <a:avLst/>
          </a:prstGeom>
          <a:solidFill>
            <a:srgbClr val="B08930"/>
          </a:solidFill>
          <a:ln>
            <a:noFill/>
          </a:ln>
          <a:effectLst/>
        </p:spPr>
        <p:txBody>
          <a:bodyPr rtlCol="0" anchor="ctr"/>
          <a:lstStyle/>
          <a:p>
            <a:pPr algn="ctr"/>
          </a:p>
        </p:txBody>
      </p:sp>
      <p:sp>
        <p:nvSpPr>
          <p:cNvPr id="34" name="TextBox 33"/>
          <p:cNvSpPr txBox="1"/>
          <p:nvPr/>
        </p:nvSpPr>
        <p:spPr>
          <a:xfrm>
            <a:off x="9554260" y="2044230"/>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EMOTIONAL INTELLIGENCE</a:t>
            </a:r>
          </a:p>
        </p:txBody>
      </p:sp>
      <p:sp>
        <p:nvSpPr>
          <p:cNvPr id="35" name="TextBox 34"/>
          <p:cNvSpPr txBox="1"/>
          <p:nvPr/>
        </p:nvSpPr>
        <p:spPr>
          <a:xfrm>
            <a:off x="9554260" y="2254364"/>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Empathy enhancement sessions, self-regulation under pressure, and the protection of patient dignity and privacy.</a:t>
            </a:r>
          </a:p>
        </p:txBody>
      </p:sp>
      <p:sp>
        <p:nvSpPr>
          <p:cNvPr id="36" name="Rectangle 35"/>
          <p:cNvSpPr/>
          <p:nvPr/>
        </p:nvSpPr>
        <p:spPr>
          <a:xfrm>
            <a:off x="4736592" y="3194304"/>
            <a:ext cx="2216810" cy="1484376"/>
          </a:xfrm>
          <a:prstGeom prst="rect">
            <a:avLst/>
          </a:prstGeom>
          <a:solidFill>
            <a:srgbClr val="FCF8EF"/>
          </a:solidFill>
          <a:ln w="6350">
            <a:solidFill>
              <a:srgbClr val="DDD7C8"/>
            </a:solidFill>
          </a:ln>
          <a:effectLst/>
        </p:spPr>
        <p:txBody>
          <a:bodyPr rtlCol="0" anchor="ctr"/>
          <a:lstStyle/>
          <a:p>
            <a:pPr algn="ctr"/>
          </a:p>
        </p:txBody>
      </p:sp>
      <p:sp>
        <p:nvSpPr>
          <p:cNvPr id="37" name="Rectangle 36"/>
          <p:cNvSpPr/>
          <p:nvPr/>
        </p:nvSpPr>
        <p:spPr>
          <a:xfrm>
            <a:off x="4736592" y="3194304"/>
            <a:ext cx="2216810" cy="23774"/>
          </a:xfrm>
          <a:prstGeom prst="rect">
            <a:avLst/>
          </a:prstGeom>
          <a:solidFill>
            <a:srgbClr val="B08930"/>
          </a:solidFill>
          <a:ln>
            <a:noFill/>
          </a:ln>
          <a:effectLst/>
        </p:spPr>
        <p:txBody>
          <a:bodyPr rtlCol="0" anchor="ctr"/>
          <a:lstStyle/>
          <a:p>
            <a:pPr algn="ctr"/>
          </a:p>
        </p:txBody>
      </p:sp>
      <p:sp>
        <p:nvSpPr>
          <p:cNvPr id="38" name="TextBox 37"/>
          <p:cNvSpPr txBox="1"/>
          <p:nvPr/>
        </p:nvSpPr>
        <p:spPr>
          <a:xfrm>
            <a:off x="4882896" y="3647478"/>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SERVICE EXCELLENCE</a:t>
            </a:r>
          </a:p>
        </p:txBody>
      </p:sp>
      <p:sp>
        <p:nvSpPr>
          <p:cNvPr id="39" name="TextBox 38"/>
          <p:cNvSpPr txBox="1"/>
          <p:nvPr/>
        </p:nvSpPr>
        <p:spPr>
          <a:xfrm>
            <a:off x="4882896" y="3857612"/>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Proactive service, quality at every touchpoint, and the honest management of expectations and delays.</a:t>
            </a:r>
          </a:p>
        </p:txBody>
      </p:sp>
      <p:sp>
        <p:nvSpPr>
          <p:cNvPr id="40" name="Rectangle 39"/>
          <p:cNvSpPr/>
          <p:nvPr/>
        </p:nvSpPr>
        <p:spPr>
          <a:xfrm>
            <a:off x="7072274" y="3194304"/>
            <a:ext cx="2216810" cy="1484376"/>
          </a:xfrm>
          <a:prstGeom prst="rect">
            <a:avLst/>
          </a:prstGeom>
          <a:solidFill>
            <a:srgbClr val="FCF8EF"/>
          </a:solidFill>
          <a:ln w="6350">
            <a:solidFill>
              <a:srgbClr val="DDD7C8"/>
            </a:solidFill>
          </a:ln>
          <a:effectLst/>
        </p:spPr>
        <p:txBody>
          <a:bodyPr rtlCol="0" anchor="ctr"/>
          <a:lstStyle/>
          <a:p>
            <a:pPr algn="ctr"/>
          </a:p>
        </p:txBody>
      </p:sp>
      <p:sp>
        <p:nvSpPr>
          <p:cNvPr id="41" name="Rectangle 40"/>
          <p:cNvSpPr/>
          <p:nvPr/>
        </p:nvSpPr>
        <p:spPr>
          <a:xfrm>
            <a:off x="7072274" y="3194304"/>
            <a:ext cx="2216810" cy="23774"/>
          </a:xfrm>
          <a:prstGeom prst="rect">
            <a:avLst/>
          </a:prstGeom>
          <a:solidFill>
            <a:srgbClr val="B08930"/>
          </a:solidFill>
          <a:ln>
            <a:noFill/>
          </a:ln>
          <a:effectLst/>
        </p:spPr>
        <p:txBody>
          <a:bodyPr rtlCol="0" anchor="ctr"/>
          <a:lstStyle/>
          <a:p>
            <a:pPr algn="ctr"/>
          </a:p>
        </p:txBody>
      </p:sp>
      <p:sp>
        <p:nvSpPr>
          <p:cNvPr id="42" name="TextBox 41"/>
          <p:cNvSpPr txBox="1"/>
          <p:nvPr/>
        </p:nvSpPr>
        <p:spPr>
          <a:xfrm>
            <a:off x="7218578" y="3597275"/>
            <a:ext cx="1924202" cy="219100"/>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SERVICE RECOVERY &amp; CRISIS MANAGEMENT</a:t>
            </a:r>
          </a:p>
        </p:txBody>
      </p:sp>
      <p:sp>
        <p:nvSpPr>
          <p:cNvPr id="43" name="TextBox 42"/>
          <p:cNvSpPr txBox="1"/>
          <p:nvPr/>
        </p:nvSpPr>
        <p:spPr>
          <a:xfrm>
            <a:off x="7218578" y="3907815"/>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Complaint handling, conflict resolution, de-escalation, incident reporting and closing the loop with families.</a:t>
            </a:r>
          </a:p>
        </p:txBody>
      </p:sp>
      <p:sp>
        <p:nvSpPr>
          <p:cNvPr id="44" name="Rectangle 43"/>
          <p:cNvSpPr/>
          <p:nvPr/>
        </p:nvSpPr>
        <p:spPr>
          <a:xfrm>
            <a:off x="9407956" y="3194304"/>
            <a:ext cx="2216810" cy="1484376"/>
          </a:xfrm>
          <a:prstGeom prst="rect">
            <a:avLst/>
          </a:prstGeom>
          <a:solidFill>
            <a:srgbClr val="FCF8EF"/>
          </a:solidFill>
          <a:ln w="6350">
            <a:solidFill>
              <a:srgbClr val="DDD7C8"/>
            </a:solidFill>
          </a:ln>
          <a:effectLst/>
        </p:spPr>
        <p:txBody>
          <a:bodyPr rtlCol="0" anchor="ctr"/>
          <a:lstStyle/>
          <a:p>
            <a:pPr algn="ctr"/>
          </a:p>
        </p:txBody>
      </p:sp>
      <p:sp>
        <p:nvSpPr>
          <p:cNvPr id="45" name="Rectangle 44"/>
          <p:cNvSpPr/>
          <p:nvPr/>
        </p:nvSpPr>
        <p:spPr>
          <a:xfrm>
            <a:off x="9407956" y="3194304"/>
            <a:ext cx="2216810" cy="23774"/>
          </a:xfrm>
          <a:prstGeom prst="rect">
            <a:avLst/>
          </a:prstGeom>
          <a:solidFill>
            <a:srgbClr val="B08930"/>
          </a:solidFill>
          <a:ln>
            <a:noFill/>
          </a:ln>
          <a:effectLst/>
        </p:spPr>
        <p:txBody>
          <a:bodyPr rtlCol="0" anchor="ctr"/>
          <a:lstStyle/>
          <a:p>
            <a:pPr algn="ctr"/>
          </a:p>
        </p:txBody>
      </p:sp>
      <p:sp>
        <p:nvSpPr>
          <p:cNvPr id="46" name="TextBox 45"/>
          <p:cNvSpPr txBox="1"/>
          <p:nvPr/>
        </p:nvSpPr>
        <p:spPr>
          <a:xfrm>
            <a:off x="9554260" y="3597275"/>
            <a:ext cx="1924202" cy="219100"/>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COORDINATION &amp; COMMUNICATION</a:t>
            </a:r>
          </a:p>
        </p:txBody>
      </p:sp>
      <p:sp>
        <p:nvSpPr>
          <p:cNvPr id="47" name="TextBox 46"/>
          <p:cNvSpPr txBox="1"/>
          <p:nvPr/>
        </p:nvSpPr>
        <p:spPr>
          <a:xfrm>
            <a:off x="9554260" y="3907815"/>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Interdepartmental connection, effective handovers and escalation protocol that holds across shifts.</a:t>
            </a:r>
          </a:p>
        </p:txBody>
      </p:sp>
      <p:sp>
        <p:nvSpPr>
          <p:cNvPr id="48" name="Rectangle 47"/>
          <p:cNvSpPr/>
          <p:nvPr/>
        </p:nvSpPr>
        <p:spPr>
          <a:xfrm>
            <a:off x="4736592" y="4797552"/>
            <a:ext cx="2216810" cy="1484376"/>
          </a:xfrm>
          <a:prstGeom prst="rect">
            <a:avLst/>
          </a:prstGeom>
          <a:solidFill>
            <a:srgbClr val="FCF8EF"/>
          </a:solidFill>
          <a:ln w="6350">
            <a:solidFill>
              <a:srgbClr val="DDD7C8"/>
            </a:solidFill>
          </a:ln>
          <a:effectLst/>
        </p:spPr>
        <p:txBody>
          <a:bodyPr rtlCol="0" anchor="ctr"/>
          <a:lstStyle/>
          <a:p>
            <a:pPr algn="ctr"/>
          </a:p>
        </p:txBody>
      </p:sp>
      <p:sp>
        <p:nvSpPr>
          <p:cNvPr id="49" name="Rectangle 48"/>
          <p:cNvSpPr/>
          <p:nvPr/>
        </p:nvSpPr>
        <p:spPr>
          <a:xfrm>
            <a:off x="4736592" y="4797552"/>
            <a:ext cx="2216810" cy="23774"/>
          </a:xfrm>
          <a:prstGeom prst="rect">
            <a:avLst/>
          </a:prstGeom>
          <a:solidFill>
            <a:srgbClr val="B08930"/>
          </a:solidFill>
          <a:ln>
            <a:noFill/>
          </a:ln>
          <a:effectLst/>
        </p:spPr>
        <p:txBody>
          <a:bodyPr rtlCol="0" anchor="ctr"/>
          <a:lstStyle/>
          <a:p>
            <a:pPr algn="ctr"/>
          </a:p>
        </p:txBody>
      </p:sp>
      <p:sp>
        <p:nvSpPr>
          <p:cNvPr id="50" name="TextBox 49"/>
          <p:cNvSpPr txBox="1"/>
          <p:nvPr/>
        </p:nvSpPr>
        <p:spPr>
          <a:xfrm>
            <a:off x="4882896" y="5250726"/>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RESILIENCE &amp; SELF-MOTIVATION</a:t>
            </a:r>
          </a:p>
        </p:txBody>
      </p:sp>
      <p:sp>
        <p:nvSpPr>
          <p:cNvPr id="51" name="TextBox 50"/>
          <p:cNvSpPr txBox="1"/>
          <p:nvPr/>
        </p:nvSpPr>
        <p:spPr>
          <a:xfrm>
            <a:off x="4882896" y="5460860"/>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Stress management, compassion fatigue, accountability and the discipline to sustain a standard on a hard day.</a:t>
            </a:r>
          </a:p>
        </p:txBody>
      </p:sp>
      <p:sp>
        <p:nvSpPr>
          <p:cNvPr id="52" name="Rectangle 51"/>
          <p:cNvSpPr/>
          <p:nvPr/>
        </p:nvSpPr>
        <p:spPr>
          <a:xfrm>
            <a:off x="7072274" y="4797552"/>
            <a:ext cx="2216810" cy="1484376"/>
          </a:xfrm>
          <a:prstGeom prst="rect">
            <a:avLst/>
          </a:prstGeom>
          <a:solidFill>
            <a:srgbClr val="FCF8EF"/>
          </a:solidFill>
          <a:ln w="6350">
            <a:solidFill>
              <a:srgbClr val="DDD7C8"/>
            </a:solidFill>
          </a:ln>
          <a:effectLst/>
        </p:spPr>
        <p:txBody>
          <a:bodyPr rtlCol="0" anchor="ctr"/>
          <a:lstStyle/>
          <a:p>
            <a:pPr algn="ctr"/>
          </a:p>
        </p:txBody>
      </p:sp>
      <p:sp>
        <p:nvSpPr>
          <p:cNvPr id="53" name="Rectangle 52"/>
          <p:cNvSpPr/>
          <p:nvPr/>
        </p:nvSpPr>
        <p:spPr>
          <a:xfrm>
            <a:off x="7072274" y="4797552"/>
            <a:ext cx="2216810" cy="23774"/>
          </a:xfrm>
          <a:prstGeom prst="rect">
            <a:avLst/>
          </a:prstGeom>
          <a:solidFill>
            <a:srgbClr val="B08930"/>
          </a:solidFill>
          <a:ln>
            <a:noFill/>
          </a:ln>
          <a:effectLst/>
        </p:spPr>
        <p:txBody>
          <a:bodyPr rtlCol="0" anchor="ctr"/>
          <a:lstStyle/>
          <a:p>
            <a:pPr algn="ctr"/>
          </a:p>
        </p:txBody>
      </p:sp>
      <p:sp>
        <p:nvSpPr>
          <p:cNvPr id="54" name="TextBox 53"/>
          <p:cNvSpPr txBox="1"/>
          <p:nvPr/>
        </p:nvSpPr>
        <p:spPr>
          <a:xfrm>
            <a:off x="7218578" y="5250726"/>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BRAND AWARENESS</a:t>
            </a:r>
          </a:p>
        </p:txBody>
      </p:sp>
      <p:sp>
        <p:nvSpPr>
          <p:cNvPr id="55" name="TextBox 54"/>
          <p:cNvSpPr txBox="1"/>
          <p:nvPr/>
        </p:nvSpPr>
        <p:spPr>
          <a:xfrm>
            <a:off x="7218578" y="5460860"/>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Every employee carries the hospital's brand. Each interaction either builds it or quietly spends it.</a:t>
            </a:r>
          </a:p>
        </p:txBody>
      </p:sp>
      <p:sp>
        <p:nvSpPr>
          <p:cNvPr id="56" name="Rectangle 55"/>
          <p:cNvSpPr/>
          <p:nvPr/>
        </p:nvSpPr>
        <p:spPr>
          <a:xfrm>
            <a:off x="9407956" y="4797552"/>
            <a:ext cx="2216810" cy="1484376"/>
          </a:xfrm>
          <a:prstGeom prst="rect">
            <a:avLst/>
          </a:prstGeom>
          <a:solidFill>
            <a:srgbClr val="FCF8EF"/>
          </a:solidFill>
          <a:ln w="6350">
            <a:solidFill>
              <a:srgbClr val="DDD7C8"/>
            </a:solidFill>
          </a:ln>
          <a:effectLst/>
        </p:spPr>
        <p:txBody>
          <a:bodyPr rtlCol="0" anchor="ctr"/>
          <a:lstStyle/>
          <a:p>
            <a:pPr algn="ctr"/>
          </a:p>
        </p:txBody>
      </p:sp>
      <p:sp>
        <p:nvSpPr>
          <p:cNvPr id="57" name="Rectangle 56"/>
          <p:cNvSpPr/>
          <p:nvPr/>
        </p:nvSpPr>
        <p:spPr>
          <a:xfrm>
            <a:off x="9407956" y="4797552"/>
            <a:ext cx="2216810" cy="23774"/>
          </a:xfrm>
          <a:prstGeom prst="rect">
            <a:avLst/>
          </a:prstGeom>
          <a:solidFill>
            <a:srgbClr val="B08930"/>
          </a:solidFill>
          <a:ln>
            <a:noFill/>
          </a:ln>
          <a:effectLst/>
        </p:spPr>
        <p:txBody>
          <a:bodyPr rtlCol="0" anchor="ctr"/>
          <a:lstStyle/>
          <a:p>
            <a:pPr algn="ctr"/>
          </a:p>
        </p:txBody>
      </p:sp>
      <p:sp>
        <p:nvSpPr>
          <p:cNvPr id="58" name="TextBox 57"/>
          <p:cNvSpPr txBox="1"/>
          <p:nvPr/>
        </p:nvSpPr>
        <p:spPr>
          <a:xfrm>
            <a:off x="9554260" y="5250726"/>
            <a:ext cx="1924202" cy="118694"/>
          </a:xfrm>
          <a:prstGeom prst="rect">
            <a:avLst/>
          </a:prstGeom>
          <a:noFill/>
        </p:spPr>
        <p:txBody>
          <a:bodyPr wrap="square" lIns="0" rIns="0" tIns="0" bIns="0" anchor="t">
            <a:spAutoFit/>
          </a:bodyPr>
          <a:lstStyle/>
          <a:p>
            <a:pPr algn="l">
              <a:lnSpc>
                <a:spcPct val="96721"/>
              </a:lnSpc>
              <a:spcBef>
                <a:spcPts val="0"/>
              </a:spcBef>
              <a:spcAft>
                <a:spcPts val="0"/>
              </a:spcAft>
            </a:pPr>
            <a:r>
              <a:rPr sz="670" b="1" i="0" spc="120">
                <a:solidFill>
                  <a:srgbClr val="937425"/>
                </a:solidFill>
                <a:latin typeface="Inter"/>
              </a:rPr>
              <a:t>FORECASTED THINKING</a:t>
            </a:r>
          </a:p>
        </p:txBody>
      </p:sp>
      <p:sp>
        <p:nvSpPr>
          <p:cNvPr id="59" name="TextBox 58"/>
          <p:cNvSpPr txBox="1"/>
          <p:nvPr/>
        </p:nvSpPr>
        <p:spPr>
          <a:xfrm>
            <a:off x="9554260" y="5460860"/>
            <a:ext cx="1924202" cy="386181"/>
          </a:xfrm>
          <a:prstGeom prst="rect">
            <a:avLst/>
          </a:prstGeom>
          <a:noFill/>
        </p:spPr>
        <p:txBody>
          <a:bodyPr wrap="square" lIns="0" rIns="0" tIns="0" bIns="0" anchor="t">
            <a:spAutoFit/>
          </a:bodyPr>
          <a:lstStyle/>
          <a:p>
            <a:pPr algn="l">
              <a:lnSpc>
                <a:spcPct val="111475"/>
              </a:lnSpc>
              <a:spcBef>
                <a:spcPts val="0"/>
              </a:spcBef>
              <a:spcAft>
                <a:spcPts val="0"/>
              </a:spcAft>
            </a:pPr>
            <a:r>
              <a:rPr sz="710" b="0" i="0">
                <a:solidFill>
                  <a:srgbClr val="555149"/>
                </a:solidFill>
                <a:latin typeface="Inter"/>
              </a:rPr>
              <a:t>Reading the day ahead: anticipating load, delay and risk in daily operations instead of reacting to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txBody>
          <a:bodyPr rtlCol="0" anchor="ctr"/>
          <a:lstStyle/>
          <a:p>
            <a:pPr algn="ctr"/>
          </a:p>
        </p:txBody>
      </p:sp>
      <p:sp>
        <p:nvSpPr>
          <p:cNvPr id="3" name="TextBox 2"/>
          <p:cNvSpPr txBox="1"/>
          <p:nvPr/>
        </p:nvSpPr>
        <p:spPr>
          <a:xfrm>
            <a:off x="566928" y="402336"/>
            <a:ext cx="8771839" cy="201168"/>
          </a:xfrm>
          <a:prstGeom prst="rect">
            <a:avLst/>
          </a:prstGeom>
          <a:noFill/>
        </p:spPr>
        <p:txBody>
          <a:bodyPr wrap="square" lIns="0" rIns="0" tIns="0" bIns="0" anchor="t">
            <a:spAutoFit/>
          </a:bodyPr>
          <a:lstStyle/>
          <a:p>
            <a:pPr algn="l">
              <a:lnSpc>
                <a:spcPct val="96721"/>
              </a:lnSpc>
              <a:spcBef>
                <a:spcPts val="0"/>
              </a:spcBef>
              <a:spcAft>
                <a:spcPts val="0"/>
              </a:spcAft>
            </a:pPr>
            <a:r>
              <a:rPr sz="900" b="1" i="0">
                <a:solidFill>
                  <a:srgbClr val="B08930"/>
                </a:solidFill>
                <a:latin typeface="Playfair Display"/>
              </a:rPr>
              <a:t>02   </a:t>
            </a:r>
            <a:r>
              <a:rPr sz="720" b="1" i="0" spc="230">
                <a:solidFill>
                  <a:srgbClr val="937425"/>
                </a:solidFill>
                <a:latin typeface="Inter"/>
              </a:rPr>
              <a:t>CURRICULUM</a:t>
            </a:r>
          </a:p>
        </p:txBody>
      </p:sp>
      <p:sp>
        <p:nvSpPr>
          <p:cNvPr id="4" name="TextBox 3"/>
          <p:cNvSpPr txBox="1"/>
          <p:nvPr/>
        </p:nvSpPr>
        <p:spPr>
          <a:xfrm>
            <a:off x="566928" y="603504"/>
            <a:ext cx="8680399" cy="438912"/>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201C15"/>
                </a:solidFill>
                <a:latin typeface="Playfair Display"/>
              </a:rPr>
              <a:t>The twelve modules, and why in this order</a:t>
            </a:r>
          </a:p>
        </p:txBody>
      </p:sp>
      <p:sp>
        <p:nvSpPr>
          <p:cNvPr id="5" name="TextBox 4"/>
          <p:cNvSpPr txBox="1"/>
          <p:nvPr/>
        </p:nvSpPr>
        <p:spPr>
          <a:xfrm>
            <a:off x="566928" y="1097280"/>
            <a:ext cx="8680399" cy="366776"/>
          </a:xfrm>
          <a:prstGeom prst="rect">
            <a:avLst/>
          </a:prstGeom>
          <a:noFill/>
        </p:spPr>
        <p:txBody>
          <a:bodyPr wrap="square" lIns="0" rIns="0" tIns="0" bIns="0" anchor="t">
            <a:spAutoFit/>
          </a:bodyPr>
          <a:lstStyle/>
          <a:p>
            <a:pPr algn="l">
              <a:lnSpc>
                <a:spcPct val="96296"/>
              </a:lnSpc>
              <a:spcBef>
                <a:spcPts val="0"/>
              </a:spcBef>
              <a:spcAft>
                <a:spcPts val="0"/>
              </a:spcAft>
            </a:pPr>
            <a:r>
              <a:rPr sz="1000" b="0" i="1">
                <a:solidFill>
                  <a:srgbClr val="4A4233"/>
                </a:solidFill>
                <a:latin typeface="Playfair Display"/>
              </a:rPr>
              <a:t>The sequence runs from awareness to self, then to tools, inner capability, application, complexity, sustainability and finally multiplication. Three placements are deliberate.</a:t>
            </a:r>
          </a:p>
        </p:txBody>
      </p:sp>
      <p:sp>
        <p:nvSpPr>
          <p:cNvPr id="6" name="Rectangle 5"/>
          <p:cNvSpPr/>
          <p:nvPr/>
        </p:nvSpPr>
        <p:spPr>
          <a:xfrm>
            <a:off x="566928" y="1555496"/>
            <a:ext cx="11057839" cy="10058"/>
          </a:xfrm>
          <a:prstGeom prst="rect">
            <a:avLst/>
          </a:prstGeom>
          <a:solidFill>
            <a:srgbClr val="937425"/>
          </a:solidFill>
          <a:ln>
            <a:noFill/>
          </a:ln>
          <a:effectLst/>
        </p:spPr>
        <p:txBody>
          <a:bodyPr rtlCol="0" anchor="ctr"/>
          <a:lstStyle/>
          <a:p>
            <a:pPr algn="ctr"/>
          </a:p>
        </p:txBody>
      </p:sp>
      <p:pic>
        <p:nvPicPr>
          <p:cNvPr id="7" name="Picture 6" descr="owl_refined.png"/>
          <p:cNvPicPr>
            <a:picLocks noChangeAspect="1"/>
          </p:cNvPicPr>
          <p:nvPr/>
        </p:nvPicPr>
        <p:blipFill>
          <a:blip r:embed="rId2"/>
          <a:stretch>
            <a:fillRect/>
          </a:stretch>
        </p:blipFill>
        <p:spPr>
          <a:xfrm>
            <a:off x="9741103" y="384048"/>
            <a:ext cx="420624" cy="292430"/>
          </a:xfrm>
          <a:prstGeom prst="rect">
            <a:avLst/>
          </a:prstGeom>
        </p:spPr>
      </p:pic>
      <p:sp>
        <p:nvSpPr>
          <p:cNvPr id="8" name="TextBox 7"/>
          <p:cNvSpPr txBox="1"/>
          <p:nvPr/>
        </p:nvSpPr>
        <p:spPr>
          <a:xfrm>
            <a:off x="10253167" y="402336"/>
            <a:ext cx="1463040" cy="365760"/>
          </a:xfrm>
          <a:prstGeom prst="rect">
            <a:avLst/>
          </a:prstGeom>
          <a:noFill/>
        </p:spPr>
        <p:txBody>
          <a:bodyPr wrap="square" lIns="0" rIns="0" tIns="0" bIns="0" anchor="t">
            <a:spAutoFit/>
          </a:bodyPr>
          <a:lstStyle/>
          <a:p>
            <a:pPr algn="l">
              <a:lnSpc>
                <a:spcPct val="74074"/>
              </a:lnSpc>
              <a:spcBef>
                <a:spcPts val="0"/>
              </a:spcBef>
              <a:spcAft>
                <a:spcPts val="0"/>
              </a:spcAft>
            </a:pPr>
            <a:r>
              <a:rPr sz="1050" b="1" i="0" spc="150">
                <a:solidFill>
                  <a:srgbClr val="201C15"/>
                </a:solidFill>
                <a:latin typeface="Playfair Display"/>
              </a:rPr>
              <a:t>LEVITATTE</a:t>
            </a:r>
          </a:p>
          <a:p>
            <a:pPr algn="l">
              <a:lnSpc>
                <a:spcPct val="96721"/>
              </a:lnSpc>
              <a:spcBef>
                <a:spcPts val="0"/>
              </a:spcBef>
              <a:spcAft>
                <a:spcPts val="0"/>
              </a:spcAft>
            </a:pPr>
            <a:r>
              <a:rPr sz="459" b="1" i="0" spc="105">
                <a:solidFill>
                  <a:srgbClr val="937425"/>
                </a:solidFill>
                <a:latin typeface="Inter"/>
              </a:rPr>
              <a:t>LEARNING &amp; DEVELOPMENT</a:t>
            </a:r>
          </a:p>
        </p:txBody>
      </p:sp>
      <p:sp>
        <p:nvSpPr>
          <p:cNvPr id="9" name="Rectangle 8"/>
          <p:cNvSpPr/>
          <p:nvPr/>
        </p:nvSpPr>
        <p:spPr>
          <a:xfrm>
            <a:off x="566928" y="6428232"/>
            <a:ext cx="11057839" cy="6858"/>
          </a:xfrm>
          <a:prstGeom prst="rect">
            <a:avLst/>
          </a:prstGeom>
          <a:solidFill>
            <a:srgbClr val="DDD7C8"/>
          </a:solidFill>
          <a:ln>
            <a:noFill/>
          </a:ln>
          <a:effectLst/>
        </p:spPr>
        <p:txBody>
          <a:bodyPr rtlCol="0" anchor="ctr"/>
          <a:lstStyle/>
          <a:p>
            <a:pPr algn="ctr"/>
          </a:p>
        </p:txBody>
      </p:sp>
      <p:sp>
        <p:nvSpPr>
          <p:cNvPr id="10" name="TextBox 9"/>
          <p:cNvSpPr txBox="1"/>
          <p:nvPr/>
        </p:nvSpPr>
        <p:spPr>
          <a:xfrm>
            <a:off x="566928" y="6528816"/>
            <a:ext cx="10509199" cy="164592"/>
          </a:xfrm>
          <a:prstGeom prst="rect">
            <a:avLst/>
          </a:prstGeom>
          <a:noFill/>
        </p:spPr>
        <p:txBody>
          <a:bodyPr wrap="square" lIns="0" rIns="0" tIns="0" bIns="0" anchor="t">
            <a:spAutoFit/>
          </a:bodyPr>
          <a:lstStyle/>
          <a:p>
            <a:pPr algn="l">
              <a:lnSpc>
                <a:spcPct val="96721"/>
              </a:lnSpc>
              <a:spcBef>
                <a:spcPts val="0"/>
              </a:spcBef>
              <a:spcAft>
                <a:spcPts val="0"/>
              </a:spcAft>
            </a:pPr>
            <a:r>
              <a:rPr sz="620" b="0" i="0" spc="60">
                <a:solidFill>
                  <a:srgbClr val="8A867C"/>
                </a:solidFill>
                <a:latin typeface="Inter"/>
              </a:rPr>
              <a:t>LEVITATTE LEARNING &amp; DEVELOPMENT     ·     PROPOSAL FOR DR. RELA INSTITUTE &amp; MEDICAL CENTRE</a:t>
            </a:r>
          </a:p>
        </p:txBody>
      </p:sp>
      <p:sp>
        <p:nvSpPr>
          <p:cNvPr id="11" name="TextBox 10"/>
          <p:cNvSpPr txBox="1"/>
          <p:nvPr/>
        </p:nvSpPr>
        <p:spPr>
          <a:xfrm>
            <a:off x="11076127" y="6528816"/>
            <a:ext cx="548640" cy="164592"/>
          </a:xfrm>
          <a:prstGeom prst="rect">
            <a:avLst/>
          </a:prstGeom>
          <a:noFill/>
        </p:spPr>
        <p:txBody>
          <a:bodyPr wrap="square" lIns="0" rIns="0" tIns="0" bIns="0" anchor="t">
            <a:spAutoFit/>
          </a:bodyPr>
          <a:lstStyle/>
          <a:p>
            <a:pPr algn="r">
              <a:lnSpc>
                <a:spcPct val="96721"/>
              </a:lnSpc>
              <a:spcBef>
                <a:spcPts val="0"/>
              </a:spcBef>
              <a:spcAft>
                <a:spcPts val="0"/>
              </a:spcAft>
            </a:pPr>
            <a:r>
              <a:rPr sz="620" b="1" i="0">
                <a:solidFill>
                  <a:srgbClr val="8A867C"/>
                </a:solidFill>
                <a:latin typeface="Inter"/>
              </a:rPr>
              <a:t>3</a:t>
            </a:r>
          </a:p>
        </p:txBody>
      </p:sp>
      <p:sp>
        <p:nvSpPr>
          <p:cNvPr id="12" name="Rectangle 11"/>
          <p:cNvSpPr/>
          <p:nvPr/>
        </p:nvSpPr>
        <p:spPr>
          <a:xfrm>
            <a:off x="566928" y="1738375"/>
            <a:ext cx="11091672" cy="228600"/>
          </a:xfrm>
          <a:prstGeom prst="rect">
            <a:avLst/>
          </a:prstGeom>
          <a:solidFill>
            <a:srgbClr val="F1EDE2"/>
          </a:solidFill>
          <a:ln>
            <a:noFill/>
          </a:ln>
          <a:effectLst/>
        </p:spPr>
        <p:txBody>
          <a:bodyPr rtlCol="0" anchor="ctr"/>
          <a:lstStyle/>
          <a:p>
            <a:pPr algn="ctr"/>
          </a:p>
        </p:txBody>
      </p:sp>
      <p:sp>
        <p:nvSpPr>
          <p:cNvPr id="13" name="TextBox 12"/>
          <p:cNvSpPr txBox="1"/>
          <p:nvPr/>
        </p:nvSpPr>
        <p:spPr>
          <a:xfrm>
            <a:off x="649224" y="1738375"/>
            <a:ext cx="2596896" cy="228600"/>
          </a:xfrm>
          <a:prstGeom prst="rect">
            <a:avLst/>
          </a:prstGeom>
          <a:noFill/>
        </p:spPr>
        <p:txBody>
          <a:bodyPr wrap="square" lIns="0" rIns="0" tIns="0" bIns="0" anchor="ctr">
            <a:spAutoFit/>
          </a:bodyPr>
          <a:lstStyle/>
          <a:p>
            <a:pPr algn="l">
              <a:lnSpc>
                <a:spcPct val="96721"/>
              </a:lnSpc>
              <a:spcBef>
                <a:spcPts val="0"/>
              </a:spcBef>
              <a:spcAft>
                <a:spcPts val="0"/>
              </a:spcAft>
            </a:pPr>
            <a:r>
              <a:rPr sz="620" b="1" i="0" spc="160">
                <a:solidFill>
                  <a:srgbClr val="937425"/>
                </a:solidFill>
                <a:latin typeface="Inter"/>
              </a:rPr>
              <a:t>MODULE</a:t>
            </a:r>
          </a:p>
        </p:txBody>
      </p:sp>
      <p:sp>
        <p:nvSpPr>
          <p:cNvPr id="14" name="TextBox 13"/>
          <p:cNvSpPr txBox="1"/>
          <p:nvPr/>
        </p:nvSpPr>
        <p:spPr>
          <a:xfrm>
            <a:off x="3410712" y="1738375"/>
            <a:ext cx="6080760" cy="228600"/>
          </a:xfrm>
          <a:prstGeom prst="rect">
            <a:avLst/>
          </a:prstGeom>
          <a:noFill/>
        </p:spPr>
        <p:txBody>
          <a:bodyPr wrap="square" lIns="0" rIns="0" tIns="0" bIns="0" anchor="ctr">
            <a:spAutoFit/>
          </a:bodyPr>
          <a:lstStyle/>
          <a:p>
            <a:pPr algn="l">
              <a:lnSpc>
                <a:spcPct val="96721"/>
              </a:lnSpc>
              <a:spcBef>
                <a:spcPts val="0"/>
              </a:spcBef>
              <a:spcAft>
                <a:spcPts val="0"/>
              </a:spcAft>
            </a:pPr>
            <a:r>
              <a:rPr sz="620" b="1" i="0" spc="160">
                <a:solidFill>
                  <a:srgbClr val="937425"/>
                </a:solidFill>
                <a:latin typeface="Inter"/>
              </a:rPr>
              <a:t>FOCUS</a:t>
            </a:r>
          </a:p>
        </p:txBody>
      </p:sp>
      <p:sp>
        <p:nvSpPr>
          <p:cNvPr id="15" name="TextBox 14"/>
          <p:cNvSpPr txBox="1"/>
          <p:nvPr/>
        </p:nvSpPr>
        <p:spPr>
          <a:xfrm>
            <a:off x="9656064" y="1738375"/>
            <a:ext cx="768096" cy="228600"/>
          </a:xfrm>
          <a:prstGeom prst="rect">
            <a:avLst/>
          </a:prstGeom>
          <a:noFill/>
        </p:spPr>
        <p:txBody>
          <a:bodyPr wrap="square" lIns="0" rIns="0" tIns="0" bIns="0" anchor="ctr">
            <a:spAutoFit/>
          </a:bodyPr>
          <a:lstStyle/>
          <a:p>
            <a:pPr algn="ctr">
              <a:lnSpc>
                <a:spcPct val="96721"/>
              </a:lnSpc>
              <a:spcBef>
                <a:spcPts val="0"/>
              </a:spcBef>
              <a:spcAft>
                <a:spcPts val="0"/>
              </a:spcAft>
            </a:pPr>
            <a:r>
              <a:rPr sz="620" b="1" i="0" spc="160">
                <a:solidFill>
                  <a:srgbClr val="937425"/>
                </a:solidFill>
                <a:latin typeface="Inter"/>
              </a:rPr>
              <a:t>WEEKS</a:t>
            </a:r>
          </a:p>
        </p:txBody>
      </p:sp>
      <p:sp>
        <p:nvSpPr>
          <p:cNvPr id="16" name="TextBox 15"/>
          <p:cNvSpPr txBox="1"/>
          <p:nvPr/>
        </p:nvSpPr>
        <p:spPr>
          <a:xfrm>
            <a:off x="10588752" y="1738375"/>
            <a:ext cx="987552" cy="228600"/>
          </a:xfrm>
          <a:prstGeom prst="rect">
            <a:avLst/>
          </a:prstGeom>
          <a:noFill/>
        </p:spPr>
        <p:txBody>
          <a:bodyPr wrap="square" lIns="0" rIns="0" tIns="0" bIns="0" anchor="ctr">
            <a:spAutoFit/>
          </a:bodyPr>
          <a:lstStyle/>
          <a:p>
            <a:pPr algn="ctr">
              <a:lnSpc>
                <a:spcPct val="96721"/>
              </a:lnSpc>
              <a:spcBef>
                <a:spcPts val="0"/>
              </a:spcBef>
              <a:spcAft>
                <a:spcPts val="0"/>
              </a:spcAft>
            </a:pPr>
            <a:r>
              <a:rPr sz="620" b="1" i="0" spc="160">
                <a:solidFill>
                  <a:srgbClr val="937425"/>
                </a:solidFill>
                <a:latin typeface="Inter"/>
              </a:rPr>
              <a:t>SESSIONS</a:t>
            </a:r>
          </a:p>
        </p:txBody>
      </p:sp>
      <p:sp>
        <p:nvSpPr>
          <p:cNvPr id="17" name="Rectangle 16"/>
          <p:cNvSpPr/>
          <p:nvPr/>
        </p:nvSpPr>
        <p:spPr>
          <a:xfrm>
            <a:off x="566928" y="1966975"/>
            <a:ext cx="11091672" cy="5486"/>
          </a:xfrm>
          <a:prstGeom prst="rect">
            <a:avLst/>
          </a:prstGeom>
          <a:solidFill>
            <a:srgbClr val="DDD7C8"/>
          </a:solidFill>
          <a:ln>
            <a:noFill/>
          </a:ln>
          <a:effectLst/>
        </p:spPr>
        <p:txBody>
          <a:bodyPr rtlCol="0" anchor="ctr"/>
          <a:lstStyle/>
          <a:p>
            <a:pPr algn="ctr"/>
          </a:p>
        </p:txBody>
      </p:sp>
      <p:sp>
        <p:nvSpPr>
          <p:cNvPr id="18" name="TextBox 17"/>
          <p:cNvSpPr txBox="1"/>
          <p:nvPr/>
        </p:nvSpPr>
        <p:spPr>
          <a:xfrm>
            <a:off x="649224" y="1966975"/>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M1  Foundation &amp; Orientation</a:t>
            </a:r>
          </a:p>
        </p:txBody>
      </p:sp>
      <p:sp>
        <p:nvSpPr>
          <p:cNvPr id="19" name="TextBox 18"/>
          <p:cNvSpPr txBox="1"/>
          <p:nvPr/>
        </p:nvSpPr>
        <p:spPr>
          <a:xfrm>
            <a:off x="3410712" y="1966975"/>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Vision, values, patient rights, conduct, safety protocol, emergency situational awareness, escalation and incident reporting</a:t>
            </a:r>
          </a:p>
        </p:txBody>
      </p:sp>
      <p:sp>
        <p:nvSpPr>
          <p:cNvPr id="20" name="TextBox 19"/>
          <p:cNvSpPr txBox="1"/>
          <p:nvPr/>
        </p:nvSpPr>
        <p:spPr>
          <a:xfrm>
            <a:off x="9656064" y="1966975"/>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1</a:t>
            </a:r>
          </a:p>
        </p:txBody>
      </p:sp>
      <p:sp>
        <p:nvSpPr>
          <p:cNvPr id="21" name="TextBox 20"/>
          <p:cNvSpPr txBox="1"/>
          <p:nvPr/>
        </p:nvSpPr>
        <p:spPr>
          <a:xfrm>
            <a:off x="10588752" y="1966975"/>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3</a:t>
            </a:r>
          </a:p>
        </p:txBody>
      </p:sp>
      <p:sp>
        <p:nvSpPr>
          <p:cNvPr id="22" name="Rectangle 21"/>
          <p:cNvSpPr/>
          <p:nvPr/>
        </p:nvSpPr>
        <p:spPr>
          <a:xfrm>
            <a:off x="566928" y="2188639"/>
            <a:ext cx="11091672" cy="221663"/>
          </a:xfrm>
          <a:prstGeom prst="rect">
            <a:avLst/>
          </a:prstGeom>
          <a:solidFill>
            <a:srgbClr val="FCFAF5"/>
          </a:solidFill>
          <a:ln>
            <a:noFill/>
          </a:ln>
          <a:effectLst/>
        </p:spPr>
        <p:txBody>
          <a:bodyPr rtlCol="0" anchor="ctr"/>
          <a:lstStyle/>
          <a:p>
            <a:pPr algn="ctr"/>
          </a:p>
        </p:txBody>
      </p:sp>
      <p:sp>
        <p:nvSpPr>
          <p:cNvPr id="23" name="Rectangle 22"/>
          <p:cNvSpPr/>
          <p:nvPr/>
        </p:nvSpPr>
        <p:spPr>
          <a:xfrm>
            <a:off x="566928" y="2188639"/>
            <a:ext cx="11091672" cy="5486"/>
          </a:xfrm>
          <a:prstGeom prst="rect">
            <a:avLst/>
          </a:prstGeom>
          <a:solidFill>
            <a:srgbClr val="DDD7C8"/>
          </a:solidFill>
          <a:ln>
            <a:noFill/>
          </a:ln>
          <a:effectLst/>
        </p:spPr>
        <p:txBody>
          <a:bodyPr rtlCol="0" anchor="ctr"/>
          <a:lstStyle/>
          <a:p>
            <a:pPr algn="ctr"/>
          </a:p>
        </p:txBody>
      </p:sp>
      <p:sp>
        <p:nvSpPr>
          <p:cNvPr id="24" name="TextBox 23"/>
          <p:cNvSpPr txBox="1"/>
          <p:nvPr/>
        </p:nvSpPr>
        <p:spPr>
          <a:xfrm>
            <a:off x="649224" y="2188639"/>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M2  Professional Presence</a:t>
            </a:r>
          </a:p>
        </p:txBody>
      </p:sp>
      <p:sp>
        <p:nvSpPr>
          <p:cNvPr id="25" name="TextBox 24"/>
          <p:cNvSpPr txBox="1"/>
          <p:nvPr/>
        </p:nvSpPr>
        <p:spPr>
          <a:xfrm>
            <a:off x="3410712" y="2188639"/>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Grooming, bearing, punctuality, personality and professional image, workplace etiquette</a:t>
            </a:r>
          </a:p>
        </p:txBody>
      </p:sp>
      <p:sp>
        <p:nvSpPr>
          <p:cNvPr id="26" name="TextBox 25"/>
          <p:cNvSpPr txBox="1"/>
          <p:nvPr/>
        </p:nvSpPr>
        <p:spPr>
          <a:xfrm>
            <a:off x="9656064" y="2188639"/>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2</a:t>
            </a:r>
          </a:p>
        </p:txBody>
      </p:sp>
      <p:sp>
        <p:nvSpPr>
          <p:cNvPr id="27" name="TextBox 26"/>
          <p:cNvSpPr txBox="1"/>
          <p:nvPr/>
        </p:nvSpPr>
        <p:spPr>
          <a:xfrm>
            <a:off x="10588752" y="2188639"/>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2</a:t>
            </a:r>
          </a:p>
        </p:txBody>
      </p:sp>
      <p:sp>
        <p:nvSpPr>
          <p:cNvPr id="28" name="Rectangle 27"/>
          <p:cNvSpPr/>
          <p:nvPr/>
        </p:nvSpPr>
        <p:spPr>
          <a:xfrm>
            <a:off x="566928" y="2410303"/>
            <a:ext cx="11091672" cy="5486"/>
          </a:xfrm>
          <a:prstGeom prst="rect">
            <a:avLst/>
          </a:prstGeom>
          <a:solidFill>
            <a:srgbClr val="DDD7C8"/>
          </a:solidFill>
          <a:ln>
            <a:noFill/>
          </a:ln>
          <a:effectLst/>
        </p:spPr>
        <p:txBody>
          <a:bodyPr rtlCol="0" anchor="ctr"/>
          <a:lstStyle/>
          <a:p>
            <a:pPr algn="ctr"/>
          </a:p>
        </p:txBody>
      </p:sp>
      <p:sp>
        <p:nvSpPr>
          <p:cNvPr id="29" name="TextBox 28"/>
          <p:cNvSpPr txBox="1"/>
          <p:nvPr/>
        </p:nvSpPr>
        <p:spPr>
          <a:xfrm>
            <a:off x="649224" y="2410303"/>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M3  Communication Fundamentals</a:t>
            </a:r>
          </a:p>
        </p:txBody>
      </p:sp>
      <p:sp>
        <p:nvSpPr>
          <p:cNvPr id="30" name="TextBox 29"/>
          <p:cNvSpPr txBox="1"/>
          <p:nvPr/>
        </p:nvSpPr>
        <p:spPr>
          <a:xfrm>
            <a:off x="3410712" y="2410303"/>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Verbal and non-verbal, active listening, telephone etiquette, clarity under pressure</a:t>
            </a:r>
          </a:p>
        </p:txBody>
      </p:sp>
      <p:sp>
        <p:nvSpPr>
          <p:cNvPr id="31" name="TextBox 30"/>
          <p:cNvSpPr txBox="1"/>
          <p:nvPr/>
        </p:nvSpPr>
        <p:spPr>
          <a:xfrm>
            <a:off x="9656064" y="2410303"/>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2–3</a:t>
            </a:r>
          </a:p>
        </p:txBody>
      </p:sp>
      <p:sp>
        <p:nvSpPr>
          <p:cNvPr id="32" name="TextBox 31"/>
          <p:cNvSpPr txBox="1"/>
          <p:nvPr/>
        </p:nvSpPr>
        <p:spPr>
          <a:xfrm>
            <a:off x="10588752" y="2410303"/>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4</a:t>
            </a:r>
          </a:p>
        </p:txBody>
      </p:sp>
      <p:sp>
        <p:nvSpPr>
          <p:cNvPr id="33" name="Rectangle 32"/>
          <p:cNvSpPr/>
          <p:nvPr/>
        </p:nvSpPr>
        <p:spPr>
          <a:xfrm>
            <a:off x="566928" y="2631967"/>
            <a:ext cx="11091672" cy="221663"/>
          </a:xfrm>
          <a:prstGeom prst="rect">
            <a:avLst/>
          </a:prstGeom>
          <a:solidFill>
            <a:srgbClr val="FCFAF5"/>
          </a:solidFill>
          <a:ln>
            <a:noFill/>
          </a:ln>
          <a:effectLst/>
        </p:spPr>
        <p:txBody>
          <a:bodyPr rtlCol="0" anchor="ctr"/>
          <a:lstStyle/>
          <a:p>
            <a:pPr algn="ctr"/>
          </a:p>
        </p:txBody>
      </p:sp>
      <p:sp>
        <p:nvSpPr>
          <p:cNvPr id="34" name="Rectangle 33"/>
          <p:cNvSpPr/>
          <p:nvPr/>
        </p:nvSpPr>
        <p:spPr>
          <a:xfrm>
            <a:off x="566928" y="2631967"/>
            <a:ext cx="11091672" cy="5486"/>
          </a:xfrm>
          <a:prstGeom prst="rect">
            <a:avLst/>
          </a:prstGeom>
          <a:solidFill>
            <a:srgbClr val="DDD7C8"/>
          </a:solidFill>
          <a:ln>
            <a:noFill/>
          </a:ln>
          <a:effectLst/>
        </p:spPr>
        <p:txBody>
          <a:bodyPr rtlCol="0" anchor="ctr"/>
          <a:lstStyle/>
          <a:p>
            <a:pPr algn="ctr"/>
          </a:p>
        </p:txBody>
      </p:sp>
      <p:sp>
        <p:nvSpPr>
          <p:cNvPr id="35" name="TextBox 34"/>
          <p:cNvSpPr txBox="1"/>
          <p:nvPr/>
        </p:nvSpPr>
        <p:spPr>
          <a:xfrm>
            <a:off x="649224" y="2631967"/>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M4  Emotional Intelligence &amp; Empathy</a:t>
            </a:r>
          </a:p>
        </p:txBody>
      </p:sp>
      <p:sp>
        <p:nvSpPr>
          <p:cNvPr id="36" name="TextBox 35"/>
          <p:cNvSpPr txBox="1"/>
          <p:nvPr/>
        </p:nvSpPr>
        <p:spPr>
          <a:xfrm>
            <a:off x="3410712" y="2631967"/>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Self-awareness, self-regulation, empathy enhancement sessions, patient dignity and privacy</a:t>
            </a:r>
          </a:p>
        </p:txBody>
      </p:sp>
      <p:sp>
        <p:nvSpPr>
          <p:cNvPr id="37" name="TextBox 36"/>
          <p:cNvSpPr txBox="1"/>
          <p:nvPr/>
        </p:nvSpPr>
        <p:spPr>
          <a:xfrm>
            <a:off x="9656064" y="2631967"/>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4</a:t>
            </a:r>
          </a:p>
        </p:txBody>
      </p:sp>
      <p:sp>
        <p:nvSpPr>
          <p:cNvPr id="38" name="TextBox 37"/>
          <p:cNvSpPr txBox="1"/>
          <p:nvPr/>
        </p:nvSpPr>
        <p:spPr>
          <a:xfrm>
            <a:off x="10588752" y="2631967"/>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3</a:t>
            </a:r>
          </a:p>
        </p:txBody>
      </p:sp>
      <p:sp>
        <p:nvSpPr>
          <p:cNvPr id="39" name="Rectangle 38"/>
          <p:cNvSpPr/>
          <p:nvPr/>
        </p:nvSpPr>
        <p:spPr>
          <a:xfrm>
            <a:off x="566928" y="2853631"/>
            <a:ext cx="11091672" cy="5486"/>
          </a:xfrm>
          <a:prstGeom prst="rect">
            <a:avLst/>
          </a:prstGeom>
          <a:solidFill>
            <a:srgbClr val="DDD7C8"/>
          </a:solidFill>
          <a:ln>
            <a:noFill/>
          </a:ln>
          <a:effectLst/>
        </p:spPr>
        <p:txBody>
          <a:bodyPr rtlCol="0" anchor="ctr"/>
          <a:lstStyle/>
          <a:p>
            <a:pPr algn="ctr"/>
          </a:p>
        </p:txBody>
      </p:sp>
      <p:sp>
        <p:nvSpPr>
          <p:cNvPr id="40" name="TextBox 39"/>
          <p:cNvSpPr txBox="1"/>
          <p:nvPr/>
        </p:nvSpPr>
        <p:spPr>
          <a:xfrm>
            <a:off x="649224" y="2853631"/>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M5  Patient Experience &amp; Standards</a:t>
            </a:r>
          </a:p>
        </p:txBody>
      </p:sp>
      <p:sp>
        <p:nvSpPr>
          <p:cNvPr id="41" name="TextBox 40"/>
          <p:cNvSpPr txBox="1"/>
          <p:nvPr/>
        </p:nvSpPr>
        <p:spPr>
          <a:xfrm>
            <a:off x="3410712" y="2853631"/>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First impressions, guiding, proactive service, service excellence, managing expectations and delays</a:t>
            </a:r>
          </a:p>
        </p:txBody>
      </p:sp>
      <p:sp>
        <p:nvSpPr>
          <p:cNvPr id="42" name="TextBox 41"/>
          <p:cNvSpPr txBox="1"/>
          <p:nvPr/>
        </p:nvSpPr>
        <p:spPr>
          <a:xfrm>
            <a:off x="9656064" y="2853631"/>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5–6</a:t>
            </a:r>
          </a:p>
        </p:txBody>
      </p:sp>
      <p:sp>
        <p:nvSpPr>
          <p:cNvPr id="43" name="TextBox 42"/>
          <p:cNvSpPr txBox="1"/>
          <p:nvPr/>
        </p:nvSpPr>
        <p:spPr>
          <a:xfrm>
            <a:off x="10588752" y="2853631"/>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4</a:t>
            </a:r>
          </a:p>
        </p:txBody>
      </p:sp>
      <p:sp>
        <p:nvSpPr>
          <p:cNvPr id="44" name="Rectangle 43"/>
          <p:cNvSpPr/>
          <p:nvPr/>
        </p:nvSpPr>
        <p:spPr>
          <a:xfrm>
            <a:off x="566928" y="3075295"/>
            <a:ext cx="11091672" cy="221663"/>
          </a:xfrm>
          <a:prstGeom prst="rect">
            <a:avLst/>
          </a:prstGeom>
          <a:solidFill>
            <a:srgbClr val="FCFAF5"/>
          </a:solidFill>
          <a:ln>
            <a:noFill/>
          </a:ln>
          <a:effectLst/>
        </p:spPr>
        <p:txBody>
          <a:bodyPr rtlCol="0" anchor="ctr"/>
          <a:lstStyle/>
          <a:p>
            <a:pPr algn="ctr"/>
          </a:p>
        </p:txBody>
      </p:sp>
      <p:sp>
        <p:nvSpPr>
          <p:cNvPr id="45" name="Rectangle 44"/>
          <p:cNvSpPr/>
          <p:nvPr/>
        </p:nvSpPr>
        <p:spPr>
          <a:xfrm>
            <a:off x="566928" y="3075295"/>
            <a:ext cx="11091672" cy="5486"/>
          </a:xfrm>
          <a:prstGeom prst="rect">
            <a:avLst/>
          </a:prstGeom>
          <a:solidFill>
            <a:srgbClr val="DDD7C8"/>
          </a:solidFill>
          <a:ln>
            <a:noFill/>
          </a:ln>
          <a:effectLst/>
        </p:spPr>
        <p:txBody>
          <a:bodyPr rtlCol="0" anchor="ctr"/>
          <a:lstStyle/>
          <a:p>
            <a:pPr algn="ctr"/>
          </a:p>
        </p:txBody>
      </p:sp>
      <p:sp>
        <p:nvSpPr>
          <p:cNvPr id="46" name="TextBox 45"/>
          <p:cNvSpPr txBox="1"/>
          <p:nvPr/>
        </p:nvSpPr>
        <p:spPr>
          <a:xfrm>
            <a:off x="649224" y="3075295"/>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M6  The Patient Journey</a:t>
            </a:r>
          </a:p>
        </p:txBody>
      </p:sp>
      <p:sp>
        <p:nvSpPr>
          <p:cNvPr id="47" name="TextBox 46"/>
          <p:cNvSpPr txBox="1"/>
          <p:nvPr/>
        </p:nvSpPr>
        <p:spPr>
          <a:xfrm>
            <a:off x="3410712" y="3075295"/>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Enquiry to discharge, touchpoint by touchpoint, allocated by role</a:t>
            </a:r>
          </a:p>
        </p:txBody>
      </p:sp>
      <p:sp>
        <p:nvSpPr>
          <p:cNvPr id="48" name="TextBox 47"/>
          <p:cNvSpPr txBox="1"/>
          <p:nvPr/>
        </p:nvSpPr>
        <p:spPr>
          <a:xfrm>
            <a:off x="9656064" y="3075295"/>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6–7</a:t>
            </a:r>
          </a:p>
        </p:txBody>
      </p:sp>
      <p:sp>
        <p:nvSpPr>
          <p:cNvPr id="49" name="TextBox 48"/>
          <p:cNvSpPr txBox="1"/>
          <p:nvPr/>
        </p:nvSpPr>
        <p:spPr>
          <a:xfrm>
            <a:off x="10588752" y="3075295"/>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4</a:t>
            </a:r>
          </a:p>
        </p:txBody>
      </p:sp>
      <p:sp>
        <p:nvSpPr>
          <p:cNvPr id="50" name="Rectangle 49"/>
          <p:cNvSpPr/>
          <p:nvPr/>
        </p:nvSpPr>
        <p:spPr>
          <a:xfrm>
            <a:off x="566928" y="3296959"/>
            <a:ext cx="11091672" cy="5486"/>
          </a:xfrm>
          <a:prstGeom prst="rect">
            <a:avLst/>
          </a:prstGeom>
          <a:solidFill>
            <a:srgbClr val="DDD7C8"/>
          </a:solidFill>
          <a:ln>
            <a:noFill/>
          </a:ln>
          <a:effectLst/>
        </p:spPr>
        <p:txBody>
          <a:bodyPr rtlCol="0" anchor="ctr"/>
          <a:lstStyle/>
          <a:p>
            <a:pPr algn="ctr"/>
          </a:p>
        </p:txBody>
      </p:sp>
      <p:sp>
        <p:nvSpPr>
          <p:cNvPr id="51" name="TextBox 50"/>
          <p:cNvSpPr txBox="1"/>
          <p:nvPr/>
        </p:nvSpPr>
        <p:spPr>
          <a:xfrm>
            <a:off x="649224" y="3296959"/>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M7  Difficult Situations &amp; Recovery</a:t>
            </a:r>
          </a:p>
        </p:txBody>
      </p:sp>
      <p:sp>
        <p:nvSpPr>
          <p:cNvPr id="52" name="TextBox 51"/>
          <p:cNvSpPr txBox="1"/>
          <p:nvPr/>
        </p:nvSpPr>
        <p:spPr>
          <a:xfrm>
            <a:off x="3410712" y="3296959"/>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Difficult news, complaints, service recovery, conflict resolution, de-escalation, crisis management</a:t>
            </a:r>
          </a:p>
        </p:txBody>
      </p:sp>
      <p:sp>
        <p:nvSpPr>
          <p:cNvPr id="53" name="TextBox 52"/>
          <p:cNvSpPr txBox="1"/>
          <p:nvPr/>
        </p:nvSpPr>
        <p:spPr>
          <a:xfrm>
            <a:off x="9656064" y="3296959"/>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7–9</a:t>
            </a:r>
          </a:p>
        </p:txBody>
      </p:sp>
      <p:sp>
        <p:nvSpPr>
          <p:cNvPr id="54" name="TextBox 53"/>
          <p:cNvSpPr txBox="1"/>
          <p:nvPr/>
        </p:nvSpPr>
        <p:spPr>
          <a:xfrm>
            <a:off x="10588752" y="3296959"/>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5</a:t>
            </a:r>
          </a:p>
        </p:txBody>
      </p:sp>
      <p:sp>
        <p:nvSpPr>
          <p:cNvPr id="55" name="Rectangle 54"/>
          <p:cNvSpPr/>
          <p:nvPr/>
        </p:nvSpPr>
        <p:spPr>
          <a:xfrm>
            <a:off x="566928" y="3518622"/>
            <a:ext cx="11091672" cy="221663"/>
          </a:xfrm>
          <a:prstGeom prst="rect">
            <a:avLst/>
          </a:prstGeom>
          <a:solidFill>
            <a:srgbClr val="FCFAF5"/>
          </a:solidFill>
          <a:ln>
            <a:noFill/>
          </a:ln>
          <a:effectLst/>
        </p:spPr>
        <p:txBody>
          <a:bodyPr rtlCol="0" anchor="ctr"/>
          <a:lstStyle/>
          <a:p>
            <a:pPr algn="ctr"/>
          </a:p>
        </p:txBody>
      </p:sp>
      <p:sp>
        <p:nvSpPr>
          <p:cNvPr id="56" name="Rectangle 55"/>
          <p:cNvSpPr/>
          <p:nvPr/>
        </p:nvSpPr>
        <p:spPr>
          <a:xfrm>
            <a:off x="566928" y="3518622"/>
            <a:ext cx="11091672" cy="5486"/>
          </a:xfrm>
          <a:prstGeom prst="rect">
            <a:avLst/>
          </a:prstGeom>
          <a:solidFill>
            <a:srgbClr val="DDD7C8"/>
          </a:solidFill>
          <a:ln>
            <a:noFill/>
          </a:ln>
          <a:effectLst/>
        </p:spPr>
        <p:txBody>
          <a:bodyPr rtlCol="0" anchor="ctr"/>
          <a:lstStyle/>
          <a:p>
            <a:pPr algn="ctr"/>
          </a:p>
        </p:txBody>
      </p:sp>
      <p:sp>
        <p:nvSpPr>
          <p:cNvPr id="57" name="TextBox 56"/>
          <p:cNvSpPr txBox="1"/>
          <p:nvPr/>
        </p:nvSpPr>
        <p:spPr>
          <a:xfrm>
            <a:off x="649224" y="3518622"/>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M8  Personal Effectiveness &amp; Resilience</a:t>
            </a:r>
          </a:p>
        </p:txBody>
      </p:sp>
      <p:sp>
        <p:nvSpPr>
          <p:cNvPr id="58" name="TextBox 57"/>
          <p:cNvSpPr txBox="1"/>
          <p:nvPr/>
        </p:nvSpPr>
        <p:spPr>
          <a:xfrm>
            <a:off x="3410712" y="3518622"/>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Stress management, compassion fatigue, self-motivation, self-efficacy, priorities, accountability</a:t>
            </a:r>
          </a:p>
        </p:txBody>
      </p:sp>
      <p:sp>
        <p:nvSpPr>
          <p:cNvPr id="59" name="TextBox 58"/>
          <p:cNvSpPr txBox="1"/>
          <p:nvPr/>
        </p:nvSpPr>
        <p:spPr>
          <a:xfrm>
            <a:off x="9656064" y="3518622"/>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9</a:t>
            </a:r>
          </a:p>
        </p:txBody>
      </p:sp>
      <p:sp>
        <p:nvSpPr>
          <p:cNvPr id="60" name="TextBox 59"/>
          <p:cNvSpPr txBox="1"/>
          <p:nvPr/>
        </p:nvSpPr>
        <p:spPr>
          <a:xfrm>
            <a:off x="10588752" y="3518622"/>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2</a:t>
            </a:r>
          </a:p>
        </p:txBody>
      </p:sp>
      <p:sp>
        <p:nvSpPr>
          <p:cNvPr id="61" name="Rectangle 60"/>
          <p:cNvSpPr/>
          <p:nvPr/>
        </p:nvSpPr>
        <p:spPr>
          <a:xfrm>
            <a:off x="566928" y="3740286"/>
            <a:ext cx="11091672" cy="5486"/>
          </a:xfrm>
          <a:prstGeom prst="rect">
            <a:avLst/>
          </a:prstGeom>
          <a:solidFill>
            <a:srgbClr val="DDD7C8"/>
          </a:solidFill>
          <a:ln>
            <a:noFill/>
          </a:ln>
          <a:effectLst/>
        </p:spPr>
        <p:txBody>
          <a:bodyPr rtlCol="0" anchor="ctr"/>
          <a:lstStyle/>
          <a:p>
            <a:pPr algn="ctr"/>
          </a:p>
        </p:txBody>
      </p:sp>
      <p:sp>
        <p:nvSpPr>
          <p:cNvPr id="62" name="TextBox 61"/>
          <p:cNvSpPr txBox="1"/>
          <p:nvPr/>
        </p:nvSpPr>
        <p:spPr>
          <a:xfrm>
            <a:off x="649224" y="3740286"/>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M9  Teamwork &amp; Coordination</a:t>
            </a:r>
          </a:p>
        </p:txBody>
      </p:sp>
      <p:sp>
        <p:nvSpPr>
          <p:cNvPr id="63" name="TextBox 62"/>
          <p:cNvSpPr txBox="1"/>
          <p:nvPr/>
        </p:nvSpPr>
        <p:spPr>
          <a:xfrm>
            <a:off x="3410712" y="3740286"/>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Handovers, internal-customer mindset, interdepartmental coordination, escalation discipline</a:t>
            </a:r>
          </a:p>
        </p:txBody>
      </p:sp>
      <p:sp>
        <p:nvSpPr>
          <p:cNvPr id="64" name="TextBox 63"/>
          <p:cNvSpPr txBox="1"/>
          <p:nvPr/>
        </p:nvSpPr>
        <p:spPr>
          <a:xfrm>
            <a:off x="9656064" y="3740286"/>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10</a:t>
            </a:r>
          </a:p>
        </p:txBody>
      </p:sp>
      <p:sp>
        <p:nvSpPr>
          <p:cNvPr id="65" name="TextBox 64"/>
          <p:cNvSpPr txBox="1"/>
          <p:nvPr/>
        </p:nvSpPr>
        <p:spPr>
          <a:xfrm>
            <a:off x="10588752" y="3740286"/>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3</a:t>
            </a:r>
          </a:p>
        </p:txBody>
      </p:sp>
      <p:sp>
        <p:nvSpPr>
          <p:cNvPr id="66" name="Rectangle 65"/>
          <p:cNvSpPr/>
          <p:nvPr/>
        </p:nvSpPr>
        <p:spPr>
          <a:xfrm>
            <a:off x="566928" y="3961950"/>
            <a:ext cx="11091672" cy="221663"/>
          </a:xfrm>
          <a:prstGeom prst="rect">
            <a:avLst/>
          </a:prstGeom>
          <a:solidFill>
            <a:srgbClr val="FCFAF5"/>
          </a:solidFill>
          <a:ln>
            <a:noFill/>
          </a:ln>
          <a:effectLst/>
        </p:spPr>
        <p:txBody>
          <a:bodyPr rtlCol="0" anchor="ctr"/>
          <a:lstStyle/>
          <a:p>
            <a:pPr algn="ctr"/>
          </a:p>
        </p:txBody>
      </p:sp>
      <p:sp>
        <p:nvSpPr>
          <p:cNvPr id="67" name="Rectangle 66"/>
          <p:cNvSpPr/>
          <p:nvPr/>
        </p:nvSpPr>
        <p:spPr>
          <a:xfrm>
            <a:off x="566928" y="3961950"/>
            <a:ext cx="11091672" cy="5486"/>
          </a:xfrm>
          <a:prstGeom prst="rect">
            <a:avLst/>
          </a:prstGeom>
          <a:solidFill>
            <a:srgbClr val="DDD7C8"/>
          </a:solidFill>
          <a:ln>
            <a:noFill/>
          </a:ln>
          <a:effectLst/>
        </p:spPr>
        <p:txBody>
          <a:bodyPr rtlCol="0" anchor="ctr"/>
          <a:lstStyle/>
          <a:p>
            <a:pPr algn="ctr"/>
          </a:p>
        </p:txBody>
      </p:sp>
      <p:sp>
        <p:nvSpPr>
          <p:cNvPr id="68" name="TextBox 67"/>
          <p:cNvSpPr txBox="1"/>
          <p:nvPr/>
        </p:nvSpPr>
        <p:spPr>
          <a:xfrm>
            <a:off x="649224" y="3961950"/>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M10  Leadership &amp; Supervisory</a:t>
            </a:r>
          </a:p>
        </p:txBody>
      </p:sp>
      <p:sp>
        <p:nvSpPr>
          <p:cNvPr id="69" name="TextBox 68"/>
          <p:cNvSpPr txBox="1"/>
          <p:nvPr/>
        </p:nvSpPr>
        <p:spPr>
          <a:xfrm>
            <a:off x="3410712" y="3961950"/>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Huddles, coaching, feedback, conflict resolution, underperformance</a:t>
            </a:r>
          </a:p>
        </p:txBody>
      </p:sp>
      <p:sp>
        <p:nvSpPr>
          <p:cNvPr id="70" name="TextBox 69"/>
          <p:cNvSpPr txBox="1"/>
          <p:nvPr/>
        </p:nvSpPr>
        <p:spPr>
          <a:xfrm>
            <a:off x="9656064" y="3961950"/>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11–12</a:t>
            </a:r>
          </a:p>
        </p:txBody>
      </p:sp>
      <p:sp>
        <p:nvSpPr>
          <p:cNvPr id="71" name="TextBox 70"/>
          <p:cNvSpPr txBox="1"/>
          <p:nvPr/>
        </p:nvSpPr>
        <p:spPr>
          <a:xfrm>
            <a:off x="10588752" y="3961950"/>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4</a:t>
            </a:r>
          </a:p>
        </p:txBody>
      </p:sp>
      <p:sp>
        <p:nvSpPr>
          <p:cNvPr id="72" name="Rectangle 71"/>
          <p:cNvSpPr/>
          <p:nvPr/>
        </p:nvSpPr>
        <p:spPr>
          <a:xfrm>
            <a:off x="566928" y="4183614"/>
            <a:ext cx="11091672" cy="5486"/>
          </a:xfrm>
          <a:prstGeom prst="rect">
            <a:avLst/>
          </a:prstGeom>
          <a:solidFill>
            <a:srgbClr val="DDD7C8"/>
          </a:solidFill>
          <a:ln>
            <a:noFill/>
          </a:ln>
          <a:effectLst/>
        </p:spPr>
        <p:txBody>
          <a:bodyPr rtlCol="0" anchor="ctr"/>
          <a:lstStyle/>
          <a:p>
            <a:pPr algn="ctr"/>
          </a:p>
        </p:txBody>
      </p:sp>
      <p:sp>
        <p:nvSpPr>
          <p:cNvPr id="73" name="TextBox 72"/>
          <p:cNvSpPr txBox="1"/>
          <p:nvPr/>
        </p:nvSpPr>
        <p:spPr>
          <a:xfrm>
            <a:off x="649224" y="4183614"/>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M11  Train-the-Trainer</a:t>
            </a:r>
          </a:p>
        </p:txBody>
      </p:sp>
      <p:sp>
        <p:nvSpPr>
          <p:cNvPr id="74" name="TextBox 73"/>
          <p:cNvSpPr txBox="1"/>
          <p:nvPr/>
        </p:nvSpPr>
        <p:spPr>
          <a:xfrm>
            <a:off x="3410712" y="4183614"/>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Adult learning, facilitation, assessment, reinforcement</a:t>
            </a:r>
          </a:p>
        </p:txBody>
      </p:sp>
      <p:sp>
        <p:nvSpPr>
          <p:cNvPr id="75" name="TextBox 74"/>
          <p:cNvSpPr txBox="1"/>
          <p:nvPr/>
        </p:nvSpPr>
        <p:spPr>
          <a:xfrm>
            <a:off x="9656064" y="4183614"/>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12–13</a:t>
            </a:r>
          </a:p>
        </p:txBody>
      </p:sp>
      <p:sp>
        <p:nvSpPr>
          <p:cNvPr id="76" name="TextBox 75"/>
          <p:cNvSpPr txBox="1"/>
          <p:nvPr/>
        </p:nvSpPr>
        <p:spPr>
          <a:xfrm>
            <a:off x="10588752" y="4183614"/>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3</a:t>
            </a:r>
          </a:p>
        </p:txBody>
      </p:sp>
      <p:sp>
        <p:nvSpPr>
          <p:cNvPr id="77" name="Rectangle 76"/>
          <p:cNvSpPr/>
          <p:nvPr/>
        </p:nvSpPr>
        <p:spPr>
          <a:xfrm>
            <a:off x="566928" y="4405278"/>
            <a:ext cx="11091672" cy="221663"/>
          </a:xfrm>
          <a:prstGeom prst="rect">
            <a:avLst/>
          </a:prstGeom>
          <a:solidFill>
            <a:srgbClr val="FCFAF5"/>
          </a:solidFill>
          <a:ln>
            <a:noFill/>
          </a:ln>
          <a:effectLst/>
        </p:spPr>
        <p:txBody>
          <a:bodyPr rtlCol="0" anchor="ctr"/>
          <a:lstStyle/>
          <a:p>
            <a:pPr algn="ctr"/>
          </a:p>
        </p:txBody>
      </p:sp>
      <p:sp>
        <p:nvSpPr>
          <p:cNvPr id="78" name="Rectangle 77"/>
          <p:cNvSpPr/>
          <p:nvPr/>
        </p:nvSpPr>
        <p:spPr>
          <a:xfrm>
            <a:off x="566928" y="4405278"/>
            <a:ext cx="11091672" cy="5486"/>
          </a:xfrm>
          <a:prstGeom prst="rect">
            <a:avLst/>
          </a:prstGeom>
          <a:solidFill>
            <a:srgbClr val="DDD7C8"/>
          </a:solidFill>
          <a:ln>
            <a:noFill/>
          </a:ln>
          <a:effectLst/>
        </p:spPr>
        <p:txBody>
          <a:bodyPr rtlCol="0" anchor="ctr"/>
          <a:lstStyle/>
          <a:p>
            <a:pPr algn="ctr"/>
          </a:p>
        </p:txBody>
      </p:sp>
      <p:sp>
        <p:nvSpPr>
          <p:cNvPr id="79" name="TextBox 78"/>
          <p:cNvSpPr txBox="1"/>
          <p:nvPr/>
        </p:nvSpPr>
        <p:spPr>
          <a:xfrm>
            <a:off x="649224" y="4405278"/>
            <a:ext cx="2596896" cy="221663"/>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M12  Consolidation &amp; Review</a:t>
            </a:r>
          </a:p>
        </p:txBody>
      </p:sp>
      <p:sp>
        <p:nvSpPr>
          <p:cNvPr id="80" name="TextBox 79"/>
          <p:cNvSpPr txBox="1"/>
          <p:nvPr/>
        </p:nvSpPr>
        <p:spPr>
          <a:xfrm>
            <a:off x="3410712" y="4405278"/>
            <a:ext cx="6080760" cy="221663"/>
          </a:xfrm>
          <a:prstGeom prst="rect">
            <a:avLst/>
          </a:prstGeom>
          <a:noFill/>
        </p:spPr>
        <p:txBody>
          <a:bodyPr wrap="square" lIns="0" rIns="0" tIns="0" bIns="0" anchor="ctr">
            <a:spAutoFit/>
          </a:bodyPr>
          <a:lstStyle/>
          <a:p>
            <a:pPr algn="l">
              <a:lnSpc>
                <a:spcPct val="93443"/>
              </a:lnSpc>
              <a:spcBef>
                <a:spcPts val="0"/>
              </a:spcBef>
              <a:spcAft>
                <a:spcPts val="0"/>
              </a:spcAft>
            </a:pPr>
            <a:r>
              <a:rPr sz="670" b="0" i="0">
                <a:solidFill>
                  <a:srgbClr val="555149"/>
                </a:solidFill>
                <a:latin typeface="Inter"/>
              </a:rPr>
              <a:t>Post-assessment, effectiveness dashboard, management review</a:t>
            </a:r>
          </a:p>
        </p:txBody>
      </p:sp>
      <p:sp>
        <p:nvSpPr>
          <p:cNvPr id="81" name="TextBox 80"/>
          <p:cNvSpPr txBox="1"/>
          <p:nvPr/>
        </p:nvSpPr>
        <p:spPr>
          <a:xfrm>
            <a:off x="9656064" y="4405278"/>
            <a:ext cx="768096" cy="221663"/>
          </a:xfrm>
          <a:prstGeom prst="rect">
            <a:avLst/>
          </a:prstGeom>
          <a:noFill/>
        </p:spPr>
        <p:txBody>
          <a:bodyPr wrap="square" lIns="0" rIns="0" tIns="0" bIns="0" anchor="ctr">
            <a:spAutoFit/>
          </a:bodyPr>
          <a:lstStyle/>
          <a:p>
            <a:pPr algn="ctr">
              <a:lnSpc>
                <a:spcPct val="93443"/>
              </a:lnSpc>
              <a:spcBef>
                <a:spcPts val="0"/>
              </a:spcBef>
              <a:spcAft>
                <a:spcPts val="0"/>
              </a:spcAft>
            </a:pPr>
            <a:r>
              <a:rPr sz="670" b="0" i="0">
                <a:solidFill>
                  <a:srgbClr val="4A4233"/>
                </a:solidFill>
                <a:latin typeface="Inter"/>
              </a:rPr>
              <a:t>13</a:t>
            </a:r>
          </a:p>
        </p:txBody>
      </p:sp>
      <p:sp>
        <p:nvSpPr>
          <p:cNvPr id="82" name="TextBox 81"/>
          <p:cNvSpPr txBox="1"/>
          <p:nvPr/>
        </p:nvSpPr>
        <p:spPr>
          <a:xfrm>
            <a:off x="10588752" y="4405278"/>
            <a:ext cx="987552" cy="221663"/>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2</a:t>
            </a:r>
          </a:p>
        </p:txBody>
      </p:sp>
      <p:sp>
        <p:nvSpPr>
          <p:cNvPr id="83" name="Rectangle 82"/>
          <p:cNvSpPr/>
          <p:nvPr/>
        </p:nvSpPr>
        <p:spPr>
          <a:xfrm>
            <a:off x="566928" y="4626942"/>
            <a:ext cx="11091672" cy="239951"/>
          </a:xfrm>
          <a:prstGeom prst="rect">
            <a:avLst/>
          </a:prstGeom>
          <a:solidFill>
            <a:srgbClr val="F1EDE2"/>
          </a:solidFill>
          <a:ln>
            <a:noFill/>
          </a:ln>
          <a:effectLst/>
        </p:spPr>
        <p:txBody>
          <a:bodyPr rtlCol="0" anchor="ctr"/>
          <a:lstStyle/>
          <a:p>
            <a:pPr algn="ctr"/>
          </a:p>
        </p:txBody>
      </p:sp>
      <p:sp>
        <p:nvSpPr>
          <p:cNvPr id="84" name="Rectangle 83"/>
          <p:cNvSpPr/>
          <p:nvPr/>
        </p:nvSpPr>
        <p:spPr>
          <a:xfrm>
            <a:off x="566928" y="4626942"/>
            <a:ext cx="11091672" cy="5486"/>
          </a:xfrm>
          <a:prstGeom prst="rect">
            <a:avLst/>
          </a:prstGeom>
          <a:solidFill>
            <a:srgbClr val="DDD7C8"/>
          </a:solidFill>
          <a:ln>
            <a:noFill/>
          </a:ln>
          <a:effectLst/>
        </p:spPr>
        <p:txBody>
          <a:bodyPr rtlCol="0" anchor="ctr"/>
          <a:lstStyle/>
          <a:p>
            <a:pPr algn="ctr"/>
          </a:p>
        </p:txBody>
      </p:sp>
      <p:sp>
        <p:nvSpPr>
          <p:cNvPr id="85" name="TextBox 84"/>
          <p:cNvSpPr txBox="1"/>
          <p:nvPr/>
        </p:nvSpPr>
        <p:spPr>
          <a:xfrm>
            <a:off x="649224" y="4626942"/>
            <a:ext cx="2596896" cy="239951"/>
          </a:xfrm>
          <a:prstGeom prst="rect">
            <a:avLst/>
          </a:prstGeom>
          <a:noFill/>
        </p:spPr>
        <p:txBody>
          <a:bodyPr wrap="square" lIns="0" rIns="0" tIns="0" bIns="0" anchor="ctr">
            <a:spAutoFit/>
          </a:bodyPr>
          <a:lstStyle/>
          <a:p>
            <a:pPr algn="l">
              <a:lnSpc>
                <a:spcPct val="93443"/>
              </a:lnSpc>
              <a:spcBef>
                <a:spcPts val="0"/>
              </a:spcBef>
              <a:spcAft>
                <a:spcPts val="0"/>
              </a:spcAft>
            </a:pPr>
            <a:r>
              <a:rPr sz="690" b="1" i="0">
                <a:solidFill>
                  <a:srgbClr val="201C15"/>
                </a:solidFill>
                <a:latin typeface="Inter"/>
              </a:rPr>
              <a:t>Total</a:t>
            </a:r>
          </a:p>
        </p:txBody>
      </p:sp>
      <p:sp>
        <p:nvSpPr>
          <p:cNvPr id="86" name="TextBox 85"/>
          <p:cNvSpPr txBox="1"/>
          <p:nvPr/>
        </p:nvSpPr>
        <p:spPr>
          <a:xfrm>
            <a:off x="3410712" y="4626942"/>
            <a:ext cx="6080760" cy="239951"/>
          </a:xfrm>
          <a:prstGeom prst="rect">
            <a:avLst/>
          </a:prstGeom>
          <a:noFill/>
        </p:spPr>
        <p:txBody>
          <a:bodyPr wrap="square" lIns="0" rIns="0" tIns="0" bIns="0" anchor="ctr">
            <a:spAutoFit/>
          </a:bodyPr>
          <a:lstStyle/>
          <a:p>
            <a:pPr algn="l">
              <a:lnSpc>
                <a:spcPct val="93443"/>
              </a:lnSpc>
              <a:spcBef>
                <a:spcPts val="0"/>
              </a:spcBef>
              <a:spcAft>
                <a:spcPts val="0"/>
              </a:spcAft>
            </a:pPr>
            <a:r>
              <a:rPr sz="670" b="1" i="0">
                <a:solidFill>
                  <a:srgbClr val="201C15"/>
                </a:solidFill>
                <a:latin typeface="Inter"/>
              </a:rPr>
              <a:t>13 weeks, 3 sessions per week</a:t>
            </a:r>
          </a:p>
        </p:txBody>
      </p:sp>
      <p:sp>
        <p:nvSpPr>
          <p:cNvPr id="87" name="TextBox 86"/>
          <p:cNvSpPr txBox="1"/>
          <p:nvPr/>
        </p:nvSpPr>
        <p:spPr>
          <a:xfrm>
            <a:off x="9656064" y="4626942"/>
            <a:ext cx="768096" cy="239951"/>
          </a:xfrm>
          <a:prstGeom prst="rect">
            <a:avLst/>
          </a:prstGeom>
          <a:noFill/>
        </p:spPr>
        <p:txBody>
          <a:bodyPr wrap="square" lIns="0" rIns="0" tIns="0" bIns="0" anchor="ctr">
            <a:spAutoFit/>
          </a:bodyPr>
          <a:lstStyle/>
          <a:p>
            <a:pPr algn="ctr">
              <a:lnSpc>
                <a:spcPct val="93443"/>
              </a:lnSpc>
              <a:spcBef>
                <a:spcPts val="0"/>
              </a:spcBef>
              <a:spcAft>
                <a:spcPts val="0"/>
              </a:spcAft>
            </a:pPr>
            <a:r>
              <a:rPr sz="670" b="1" i="0">
                <a:solidFill>
                  <a:srgbClr val="201C15"/>
                </a:solidFill>
                <a:latin typeface="Inter"/>
              </a:rPr>
              <a:t>1–13</a:t>
            </a:r>
          </a:p>
        </p:txBody>
      </p:sp>
      <p:sp>
        <p:nvSpPr>
          <p:cNvPr id="88" name="TextBox 87"/>
          <p:cNvSpPr txBox="1"/>
          <p:nvPr/>
        </p:nvSpPr>
        <p:spPr>
          <a:xfrm>
            <a:off x="10588752" y="4626942"/>
            <a:ext cx="987552" cy="239951"/>
          </a:xfrm>
          <a:prstGeom prst="rect">
            <a:avLst/>
          </a:prstGeom>
          <a:noFill/>
        </p:spPr>
        <p:txBody>
          <a:bodyPr wrap="square" lIns="0" rIns="0" tIns="0" bIns="0" anchor="ctr">
            <a:spAutoFit/>
          </a:bodyPr>
          <a:lstStyle/>
          <a:p>
            <a:pPr algn="ctr">
              <a:lnSpc>
                <a:spcPct val="93443"/>
              </a:lnSpc>
              <a:spcBef>
                <a:spcPts val="0"/>
              </a:spcBef>
              <a:spcAft>
                <a:spcPts val="0"/>
              </a:spcAft>
            </a:pPr>
            <a:r>
              <a:rPr sz="690" b="1" i="0">
                <a:solidFill>
                  <a:srgbClr val="201C15"/>
                </a:solidFill>
                <a:latin typeface="Inter"/>
              </a:rPr>
              <a:t>39</a:t>
            </a:r>
          </a:p>
        </p:txBody>
      </p:sp>
      <p:sp>
        <p:nvSpPr>
          <p:cNvPr id="89" name="Rectangle 88"/>
          <p:cNvSpPr/>
          <p:nvPr/>
        </p:nvSpPr>
        <p:spPr>
          <a:xfrm>
            <a:off x="566928" y="4866893"/>
            <a:ext cx="11091672" cy="8229"/>
          </a:xfrm>
          <a:prstGeom prst="rect">
            <a:avLst/>
          </a:prstGeom>
          <a:solidFill>
            <a:srgbClr val="937425"/>
          </a:solidFill>
          <a:ln>
            <a:noFill/>
          </a:ln>
          <a:effectLst/>
        </p:spPr>
        <p:txBody>
          <a:bodyPr rtlCol="0" anchor="ctr"/>
          <a:lstStyle/>
          <a:p>
            <a:pPr algn="ctr"/>
          </a:p>
        </p:txBody>
      </p:sp>
      <p:sp>
        <p:nvSpPr>
          <p:cNvPr id="90" name="TextBox 89"/>
          <p:cNvSpPr txBox="1"/>
          <p:nvPr/>
        </p:nvSpPr>
        <p:spPr>
          <a:xfrm>
            <a:off x="566928" y="4994909"/>
            <a:ext cx="11057839" cy="182880"/>
          </a:xfrm>
          <a:prstGeom prst="rect">
            <a:avLst/>
          </a:prstGeom>
          <a:noFill/>
        </p:spPr>
        <p:txBody>
          <a:bodyPr wrap="square" lIns="0" rIns="0" tIns="0" bIns="0" anchor="t">
            <a:spAutoFit/>
          </a:bodyPr>
          <a:lstStyle/>
          <a:p>
            <a:pPr algn="l">
              <a:lnSpc>
                <a:spcPct val="93443"/>
              </a:lnSpc>
              <a:spcBef>
                <a:spcPts val="0"/>
              </a:spcBef>
              <a:spcAft>
                <a:spcPts val="0"/>
              </a:spcAft>
            </a:pPr>
            <a:r>
              <a:rPr sz="620" b="1" i="0" spc="160">
                <a:solidFill>
                  <a:srgbClr val="937425"/>
                </a:solidFill>
                <a:latin typeface="Inter"/>
              </a:rPr>
              <a:t>ALLOCATION   </a:t>
            </a:r>
            <a:r>
              <a:rPr sz="680" b="0" i="0">
                <a:solidFill>
                  <a:srgbClr val="555149"/>
                </a:solidFill>
                <a:latin typeface="Inter"/>
              </a:rPr>
              <a:t>Every group takes the foundation modules; M6 is allocated by role, M10 is for supervisors and department heads, M11 for the nominated internal trainers.</a:t>
            </a:r>
          </a:p>
        </p:txBody>
      </p:sp>
      <p:sp>
        <p:nvSpPr>
          <p:cNvPr id="91" name="TextBox 90"/>
          <p:cNvSpPr txBox="1"/>
          <p:nvPr/>
        </p:nvSpPr>
        <p:spPr>
          <a:xfrm>
            <a:off x="566928" y="5287518"/>
            <a:ext cx="3527450" cy="164592"/>
          </a:xfrm>
          <a:prstGeom prst="rect">
            <a:avLst/>
          </a:prstGeom>
          <a:noFill/>
        </p:spPr>
        <p:txBody>
          <a:bodyPr wrap="square" lIns="0" rIns="0" tIns="0" bIns="0" anchor="t">
            <a:spAutoFit/>
          </a:bodyPr>
          <a:lstStyle/>
          <a:p>
            <a:pPr algn="l">
              <a:lnSpc>
                <a:spcPct val="96721"/>
              </a:lnSpc>
              <a:spcBef>
                <a:spcPts val="0"/>
              </a:spcBef>
              <a:spcAft>
                <a:spcPts val="0"/>
              </a:spcAft>
            </a:pPr>
            <a:r>
              <a:rPr sz="640" b="1" i="0" spc="130">
                <a:solidFill>
                  <a:srgbClr val="937425"/>
                </a:solidFill>
                <a:latin typeface="Inter"/>
              </a:rPr>
              <a:t>–  PROFESSIONAL PRESENCE EARLY</a:t>
            </a:r>
          </a:p>
        </p:txBody>
      </p:sp>
      <p:sp>
        <p:nvSpPr>
          <p:cNvPr id="92" name="TextBox 91"/>
          <p:cNvSpPr txBox="1"/>
          <p:nvPr/>
        </p:nvSpPr>
        <p:spPr>
          <a:xfrm>
            <a:off x="566928" y="5479542"/>
            <a:ext cx="3527450" cy="378714"/>
          </a:xfrm>
          <a:prstGeom prst="rect">
            <a:avLst/>
          </a:prstGeom>
          <a:noFill/>
        </p:spPr>
        <p:txBody>
          <a:bodyPr wrap="square" lIns="0" rIns="0" tIns="0" bIns="0" anchor="t">
            <a:spAutoFit/>
          </a:bodyPr>
          <a:lstStyle/>
          <a:p>
            <a:pPr algn="l">
              <a:lnSpc>
                <a:spcPct val="106557"/>
              </a:lnSpc>
              <a:spcBef>
                <a:spcPts val="0"/>
              </a:spcBef>
              <a:spcAft>
                <a:spcPts val="0"/>
              </a:spcAft>
            </a:pPr>
            <a:r>
              <a:rPr sz="700" b="0" i="0">
                <a:solidFill>
                  <a:srgbClr val="555149"/>
                </a:solidFill>
                <a:latin typeface="Inter"/>
              </a:rPr>
              <a:t>the patient judges before a word is spoken, and it is the quickest change to become visible, which earns the programme credibility for the harder work that follows.</a:t>
            </a:r>
          </a:p>
        </p:txBody>
      </p:sp>
      <p:sp>
        <p:nvSpPr>
          <p:cNvPr id="93" name="Rectangle 92"/>
          <p:cNvSpPr/>
          <p:nvPr/>
        </p:nvSpPr>
        <p:spPr>
          <a:xfrm>
            <a:off x="4213250" y="5305805"/>
            <a:ext cx="6858" cy="525018"/>
          </a:xfrm>
          <a:prstGeom prst="rect">
            <a:avLst/>
          </a:prstGeom>
          <a:solidFill>
            <a:srgbClr val="DDD7C8"/>
          </a:solidFill>
          <a:ln>
            <a:noFill/>
          </a:ln>
          <a:effectLst/>
        </p:spPr>
        <p:txBody>
          <a:bodyPr rtlCol="0" anchor="ctr"/>
          <a:lstStyle/>
          <a:p>
            <a:pPr algn="ctr"/>
          </a:p>
        </p:txBody>
      </p:sp>
      <p:sp>
        <p:nvSpPr>
          <p:cNvPr id="94" name="TextBox 93"/>
          <p:cNvSpPr txBox="1"/>
          <p:nvPr/>
        </p:nvSpPr>
        <p:spPr>
          <a:xfrm>
            <a:off x="4332122" y="5287518"/>
            <a:ext cx="3527450" cy="164592"/>
          </a:xfrm>
          <a:prstGeom prst="rect">
            <a:avLst/>
          </a:prstGeom>
          <a:noFill/>
        </p:spPr>
        <p:txBody>
          <a:bodyPr wrap="square" lIns="0" rIns="0" tIns="0" bIns="0" anchor="t">
            <a:spAutoFit/>
          </a:bodyPr>
          <a:lstStyle/>
          <a:p>
            <a:pPr algn="l">
              <a:lnSpc>
                <a:spcPct val="96721"/>
              </a:lnSpc>
              <a:spcBef>
                <a:spcPts val="0"/>
              </a:spcBef>
              <a:spcAft>
                <a:spcPts val="0"/>
              </a:spcAft>
            </a:pPr>
            <a:r>
              <a:rPr sz="640" b="1" i="0" spc="130">
                <a:solidFill>
                  <a:srgbClr val="937425"/>
                </a:solidFill>
                <a:latin typeface="Inter"/>
              </a:rPr>
              <a:t>–  DIFFICULT SITUATIONS LATE, RESILIENCE STRAIGHT AFTER</a:t>
            </a:r>
          </a:p>
        </p:txBody>
      </p:sp>
      <p:sp>
        <p:nvSpPr>
          <p:cNvPr id="95" name="TextBox 94"/>
          <p:cNvSpPr txBox="1"/>
          <p:nvPr/>
        </p:nvSpPr>
        <p:spPr>
          <a:xfrm>
            <a:off x="4332122" y="5479542"/>
            <a:ext cx="3527450" cy="378714"/>
          </a:xfrm>
          <a:prstGeom prst="rect">
            <a:avLst/>
          </a:prstGeom>
          <a:noFill/>
        </p:spPr>
        <p:txBody>
          <a:bodyPr wrap="square" lIns="0" rIns="0" tIns="0" bIns="0" anchor="t">
            <a:spAutoFit/>
          </a:bodyPr>
          <a:lstStyle/>
          <a:p>
            <a:pPr algn="l">
              <a:lnSpc>
                <a:spcPct val="106557"/>
              </a:lnSpc>
              <a:spcBef>
                <a:spcPts val="0"/>
              </a:spcBef>
              <a:spcAft>
                <a:spcPts val="0"/>
              </a:spcAft>
            </a:pPr>
            <a:r>
              <a:rPr sz="700" b="0" i="0">
                <a:solidFill>
                  <a:srgbClr val="555149"/>
                </a:solidFill>
                <a:latin typeface="Inter"/>
              </a:rPr>
              <a:t>de-escalation depends on active listening, emotional regulation and agreed standards already being in place. Teaching complaint handling first is the most common design error.</a:t>
            </a:r>
          </a:p>
        </p:txBody>
      </p:sp>
      <p:sp>
        <p:nvSpPr>
          <p:cNvPr id="96" name="Rectangle 95"/>
          <p:cNvSpPr/>
          <p:nvPr/>
        </p:nvSpPr>
        <p:spPr>
          <a:xfrm>
            <a:off x="7978444" y="5305805"/>
            <a:ext cx="6858" cy="525018"/>
          </a:xfrm>
          <a:prstGeom prst="rect">
            <a:avLst/>
          </a:prstGeom>
          <a:solidFill>
            <a:srgbClr val="DDD7C8"/>
          </a:solidFill>
          <a:ln>
            <a:noFill/>
          </a:ln>
          <a:effectLst/>
        </p:spPr>
        <p:txBody>
          <a:bodyPr rtlCol="0" anchor="ctr"/>
          <a:lstStyle/>
          <a:p>
            <a:pPr algn="ctr"/>
          </a:p>
        </p:txBody>
      </p:sp>
      <p:sp>
        <p:nvSpPr>
          <p:cNvPr id="97" name="TextBox 96"/>
          <p:cNvSpPr txBox="1"/>
          <p:nvPr/>
        </p:nvSpPr>
        <p:spPr>
          <a:xfrm>
            <a:off x="8097316" y="5287518"/>
            <a:ext cx="3527450" cy="164592"/>
          </a:xfrm>
          <a:prstGeom prst="rect">
            <a:avLst/>
          </a:prstGeom>
          <a:noFill/>
        </p:spPr>
        <p:txBody>
          <a:bodyPr wrap="square" lIns="0" rIns="0" tIns="0" bIns="0" anchor="t">
            <a:spAutoFit/>
          </a:bodyPr>
          <a:lstStyle/>
          <a:p>
            <a:pPr algn="l">
              <a:lnSpc>
                <a:spcPct val="96721"/>
              </a:lnSpc>
              <a:spcBef>
                <a:spcPts val="0"/>
              </a:spcBef>
              <a:spcAft>
                <a:spcPts val="0"/>
              </a:spcAft>
            </a:pPr>
            <a:r>
              <a:rPr sz="640" b="1" i="0" spc="130">
                <a:solidFill>
                  <a:srgbClr val="937425"/>
                </a:solidFill>
                <a:latin typeface="Inter"/>
              </a:rPr>
              <a:t>–  SUPERVISORS AFTER THEIR TEAMS, TRAIN-THE-TRAINER LAST</a:t>
            </a:r>
          </a:p>
        </p:txBody>
      </p:sp>
      <p:sp>
        <p:nvSpPr>
          <p:cNvPr id="98" name="TextBox 97"/>
          <p:cNvSpPr txBox="1"/>
          <p:nvPr/>
        </p:nvSpPr>
        <p:spPr>
          <a:xfrm>
            <a:off x="8097316" y="5479542"/>
            <a:ext cx="3527450" cy="378714"/>
          </a:xfrm>
          <a:prstGeom prst="rect">
            <a:avLst/>
          </a:prstGeom>
          <a:noFill/>
        </p:spPr>
        <p:txBody>
          <a:bodyPr wrap="square" lIns="0" rIns="0" tIns="0" bIns="0" anchor="t">
            <a:spAutoFit/>
          </a:bodyPr>
          <a:lstStyle/>
          <a:p>
            <a:pPr algn="l">
              <a:lnSpc>
                <a:spcPct val="106557"/>
              </a:lnSpc>
              <a:spcBef>
                <a:spcPts val="0"/>
              </a:spcBef>
              <a:spcAft>
                <a:spcPts val="0"/>
              </a:spcAft>
            </a:pPr>
            <a:r>
              <a:rPr sz="700" b="0" i="0">
                <a:solidFill>
                  <a:srgbClr val="555149"/>
                </a:solidFill>
                <a:latin typeface="Inter"/>
              </a:rPr>
              <a:t>a supervisor cannot reinforce a standard they did not sit through. Trained staff returning to untrained supervisors regress.</a:t>
            </a:r>
          </a:p>
        </p:txBody>
      </p:sp>
      <p:sp>
        <p:nvSpPr>
          <p:cNvPr id="99" name="Rectangle 98"/>
          <p:cNvSpPr/>
          <p:nvPr/>
        </p:nvSpPr>
        <p:spPr>
          <a:xfrm>
            <a:off x="566928" y="5903976"/>
            <a:ext cx="11057839" cy="6858"/>
          </a:xfrm>
          <a:prstGeom prst="rect">
            <a:avLst/>
          </a:prstGeom>
          <a:solidFill>
            <a:srgbClr val="DDD7C8"/>
          </a:solidFill>
          <a:ln>
            <a:noFill/>
          </a:ln>
          <a:effectLst/>
        </p:spPr>
        <p:txBody>
          <a:bodyPr rtlCol="0" anchor="ctr"/>
          <a:lstStyle/>
          <a:p>
            <a:pPr algn="ctr"/>
          </a:p>
        </p:txBody>
      </p:sp>
      <p:sp>
        <p:nvSpPr>
          <p:cNvPr id="100" name="TextBox 99"/>
          <p:cNvSpPr txBox="1"/>
          <p:nvPr/>
        </p:nvSpPr>
        <p:spPr>
          <a:xfrm>
            <a:off x="566928" y="6031992"/>
            <a:ext cx="777240" cy="164592"/>
          </a:xfrm>
          <a:prstGeom prst="rect">
            <a:avLst/>
          </a:prstGeom>
          <a:noFill/>
        </p:spPr>
        <p:txBody>
          <a:bodyPr wrap="square" lIns="0" rIns="0" tIns="0" bIns="0" anchor="t">
            <a:spAutoFit/>
          </a:bodyPr>
          <a:lstStyle/>
          <a:p>
            <a:pPr algn="l">
              <a:lnSpc>
                <a:spcPct val="93443"/>
              </a:lnSpc>
              <a:spcBef>
                <a:spcPts val="0"/>
              </a:spcBef>
              <a:spcAft>
                <a:spcPts val="0"/>
              </a:spcAft>
            </a:pPr>
            <a:r>
              <a:rPr sz="620" b="1" i="0" spc="160">
                <a:solidFill>
                  <a:srgbClr val="937425"/>
                </a:solidFill>
                <a:latin typeface="Inter"/>
              </a:rPr>
              <a:t>COHORTS</a:t>
            </a:r>
          </a:p>
        </p:txBody>
      </p:sp>
      <p:sp>
        <p:nvSpPr>
          <p:cNvPr id="101" name="TextBox 100"/>
          <p:cNvSpPr txBox="1"/>
          <p:nvPr/>
        </p:nvSpPr>
        <p:spPr>
          <a:xfrm>
            <a:off x="1389888" y="6031992"/>
            <a:ext cx="10234879" cy="249935"/>
          </a:xfrm>
          <a:prstGeom prst="rect">
            <a:avLst/>
          </a:prstGeom>
          <a:noFill/>
        </p:spPr>
        <p:txBody>
          <a:bodyPr wrap="square" lIns="0" rIns="0" tIns="0" bIns="0" anchor="t">
            <a:spAutoFit/>
          </a:bodyPr>
          <a:lstStyle/>
          <a:p>
            <a:pPr algn="just">
              <a:lnSpc>
                <a:spcPct val="106557"/>
              </a:lnSpc>
              <a:spcBef>
                <a:spcPts val="0"/>
              </a:spcBef>
              <a:spcAft>
                <a:spcPts val="0"/>
              </a:spcAft>
            </a:pPr>
            <a:r>
              <a:rPr sz="660" b="0" i="0">
                <a:solidFill>
                  <a:srgbClr val="555149"/>
                </a:solidFill>
                <a:latin typeface="Inter"/>
              </a:rPr>
              <a:t>Weeks 1 to 10 run frontline and staff batches, with supervisors attending alongside their own teams rather than in a separate senior run. Weeks 11 and 12 take the supervisory and leadership cohort, Weeks 12 and 13 the internal-trainer group. Induction is built during Diagnose and Design and delivered to each new-joiner cohort as they arrive, so it is a standing track rather than a calendar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txBody>
          <a:bodyPr rtlCol="0" anchor="ctr"/>
          <a:lstStyle/>
          <a:p>
            <a:pPr algn="ctr"/>
          </a:p>
        </p:txBody>
      </p:sp>
      <p:sp>
        <p:nvSpPr>
          <p:cNvPr id="3" name="TextBox 2"/>
          <p:cNvSpPr txBox="1"/>
          <p:nvPr/>
        </p:nvSpPr>
        <p:spPr>
          <a:xfrm>
            <a:off x="566928" y="402336"/>
            <a:ext cx="8771839" cy="201168"/>
          </a:xfrm>
          <a:prstGeom prst="rect">
            <a:avLst/>
          </a:prstGeom>
          <a:noFill/>
        </p:spPr>
        <p:txBody>
          <a:bodyPr wrap="square" lIns="0" rIns="0" tIns="0" bIns="0" anchor="t">
            <a:spAutoFit/>
          </a:bodyPr>
          <a:lstStyle/>
          <a:p>
            <a:pPr algn="l">
              <a:lnSpc>
                <a:spcPct val="96721"/>
              </a:lnSpc>
              <a:spcBef>
                <a:spcPts val="0"/>
              </a:spcBef>
              <a:spcAft>
                <a:spcPts val="0"/>
              </a:spcAft>
            </a:pPr>
            <a:r>
              <a:rPr sz="900" b="1" i="0">
                <a:solidFill>
                  <a:srgbClr val="B08930"/>
                </a:solidFill>
                <a:latin typeface="Playfair Display"/>
              </a:rPr>
              <a:t>03   </a:t>
            </a:r>
            <a:r>
              <a:rPr sz="720" b="1" i="0" spc="230">
                <a:solidFill>
                  <a:srgbClr val="937425"/>
                </a:solidFill>
                <a:latin typeface="Inter"/>
              </a:rPr>
              <a:t>APPROACH, DELIVERY AND MEASUREMENT</a:t>
            </a:r>
          </a:p>
        </p:txBody>
      </p:sp>
      <p:sp>
        <p:nvSpPr>
          <p:cNvPr id="4" name="TextBox 3"/>
          <p:cNvSpPr txBox="1"/>
          <p:nvPr/>
        </p:nvSpPr>
        <p:spPr>
          <a:xfrm>
            <a:off x="566928" y="603504"/>
            <a:ext cx="8680399" cy="438912"/>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201C15"/>
                </a:solidFill>
                <a:latin typeface="Playfair Display"/>
              </a:rPr>
              <a:t>How it runs, and what the hospital receives</a:t>
            </a:r>
          </a:p>
        </p:txBody>
      </p:sp>
      <p:sp>
        <p:nvSpPr>
          <p:cNvPr id="5" name="Rectangle 4"/>
          <p:cNvSpPr/>
          <p:nvPr/>
        </p:nvSpPr>
        <p:spPr>
          <a:xfrm>
            <a:off x="566928" y="1115568"/>
            <a:ext cx="11057839" cy="10058"/>
          </a:xfrm>
          <a:prstGeom prst="rect">
            <a:avLst/>
          </a:prstGeom>
          <a:solidFill>
            <a:srgbClr val="937425"/>
          </a:solidFill>
          <a:ln>
            <a:noFill/>
          </a:ln>
          <a:effectLst/>
        </p:spPr>
        <p:txBody>
          <a:bodyPr rtlCol="0" anchor="ctr"/>
          <a:lstStyle/>
          <a:p>
            <a:pPr algn="ctr"/>
          </a:p>
        </p:txBody>
      </p:sp>
      <p:pic>
        <p:nvPicPr>
          <p:cNvPr id="6" name="Picture 5" descr="owl_refined.png"/>
          <p:cNvPicPr>
            <a:picLocks noChangeAspect="1"/>
          </p:cNvPicPr>
          <p:nvPr/>
        </p:nvPicPr>
        <p:blipFill>
          <a:blip r:embed="rId2"/>
          <a:stretch>
            <a:fillRect/>
          </a:stretch>
        </p:blipFill>
        <p:spPr>
          <a:xfrm>
            <a:off x="9741103" y="384048"/>
            <a:ext cx="420624" cy="292430"/>
          </a:xfrm>
          <a:prstGeom prst="rect">
            <a:avLst/>
          </a:prstGeom>
        </p:spPr>
      </p:pic>
      <p:sp>
        <p:nvSpPr>
          <p:cNvPr id="7" name="TextBox 6"/>
          <p:cNvSpPr txBox="1"/>
          <p:nvPr/>
        </p:nvSpPr>
        <p:spPr>
          <a:xfrm>
            <a:off x="10253167" y="402336"/>
            <a:ext cx="1463040" cy="365760"/>
          </a:xfrm>
          <a:prstGeom prst="rect">
            <a:avLst/>
          </a:prstGeom>
          <a:noFill/>
        </p:spPr>
        <p:txBody>
          <a:bodyPr wrap="square" lIns="0" rIns="0" tIns="0" bIns="0" anchor="t">
            <a:spAutoFit/>
          </a:bodyPr>
          <a:lstStyle/>
          <a:p>
            <a:pPr algn="l">
              <a:lnSpc>
                <a:spcPct val="74074"/>
              </a:lnSpc>
              <a:spcBef>
                <a:spcPts val="0"/>
              </a:spcBef>
              <a:spcAft>
                <a:spcPts val="0"/>
              </a:spcAft>
            </a:pPr>
            <a:r>
              <a:rPr sz="1050" b="1" i="0" spc="150">
                <a:solidFill>
                  <a:srgbClr val="201C15"/>
                </a:solidFill>
                <a:latin typeface="Playfair Display"/>
              </a:rPr>
              <a:t>LEVITATTE</a:t>
            </a:r>
          </a:p>
          <a:p>
            <a:pPr algn="l">
              <a:lnSpc>
                <a:spcPct val="96721"/>
              </a:lnSpc>
              <a:spcBef>
                <a:spcPts val="0"/>
              </a:spcBef>
              <a:spcAft>
                <a:spcPts val="0"/>
              </a:spcAft>
            </a:pPr>
            <a:r>
              <a:rPr sz="459" b="1" i="0" spc="105">
                <a:solidFill>
                  <a:srgbClr val="937425"/>
                </a:solidFill>
                <a:latin typeface="Inter"/>
              </a:rPr>
              <a:t>LEARNING &amp; DEVELOPMENT</a:t>
            </a:r>
          </a:p>
        </p:txBody>
      </p:sp>
      <p:sp>
        <p:nvSpPr>
          <p:cNvPr id="8" name="Rectangle 7"/>
          <p:cNvSpPr/>
          <p:nvPr/>
        </p:nvSpPr>
        <p:spPr>
          <a:xfrm>
            <a:off x="566928" y="6428232"/>
            <a:ext cx="11057839" cy="6858"/>
          </a:xfrm>
          <a:prstGeom prst="rect">
            <a:avLst/>
          </a:prstGeom>
          <a:solidFill>
            <a:srgbClr val="DDD7C8"/>
          </a:solidFill>
          <a:ln>
            <a:noFill/>
          </a:ln>
          <a:effectLst/>
        </p:spPr>
        <p:txBody>
          <a:bodyPr rtlCol="0" anchor="ctr"/>
          <a:lstStyle/>
          <a:p>
            <a:pPr algn="ctr"/>
          </a:p>
        </p:txBody>
      </p:sp>
      <p:sp>
        <p:nvSpPr>
          <p:cNvPr id="9" name="TextBox 8"/>
          <p:cNvSpPr txBox="1"/>
          <p:nvPr/>
        </p:nvSpPr>
        <p:spPr>
          <a:xfrm>
            <a:off x="566928" y="6528816"/>
            <a:ext cx="10509199" cy="164592"/>
          </a:xfrm>
          <a:prstGeom prst="rect">
            <a:avLst/>
          </a:prstGeom>
          <a:noFill/>
        </p:spPr>
        <p:txBody>
          <a:bodyPr wrap="square" lIns="0" rIns="0" tIns="0" bIns="0" anchor="t">
            <a:spAutoFit/>
          </a:bodyPr>
          <a:lstStyle/>
          <a:p>
            <a:pPr algn="l">
              <a:lnSpc>
                <a:spcPct val="96721"/>
              </a:lnSpc>
              <a:spcBef>
                <a:spcPts val="0"/>
              </a:spcBef>
              <a:spcAft>
                <a:spcPts val="0"/>
              </a:spcAft>
            </a:pPr>
            <a:r>
              <a:rPr sz="620" b="0" i="0" spc="60">
                <a:solidFill>
                  <a:srgbClr val="8A867C"/>
                </a:solidFill>
                <a:latin typeface="Inter"/>
              </a:rPr>
              <a:t>LEVITATTE LEARNING &amp; DEVELOPMENT     ·     PROPOSAL FOR DR. RELA INSTITUTE &amp; MEDICAL CENTRE</a:t>
            </a:r>
          </a:p>
        </p:txBody>
      </p:sp>
      <p:sp>
        <p:nvSpPr>
          <p:cNvPr id="10" name="TextBox 9"/>
          <p:cNvSpPr txBox="1"/>
          <p:nvPr/>
        </p:nvSpPr>
        <p:spPr>
          <a:xfrm>
            <a:off x="11076127" y="6528816"/>
            <a:ext cx="548640" cy="164592"/>
          </a:xfrm>
          <a:prstGeom prst="rect">
            <a:avLst/>
          </a:prstGeom>
          <a:noFill/>
        </p:spPr>
        <p:txBody>
          <a:bodyPr wrap="square" lIns="0" rIns="0" tIns="0" bIns="0" anchor="t">
            <a:spAutoFit/>
          </a:bodyPr>
          <a:lstStyle/>
          <a:p>
            <a:pPr algn="r">
              <a:lnSpc>
                <a:spcPct val="96721"/>
              </a:lnSpc>
              <a:spcBef>
                <a:spcPts val="0"/>
              </a:spcBef>
              <a:spcAft>
                <a:spcPts val="0"/>
              </a:spcAft>
            </a:pPr>
            <a:r>
              <a:rPr sz="620" b="1" i="0">
                <a:solidFill>
                  <a:srgbClr val="8A867C"/>
                </a:solidFill>
                <a:latin typeface="Inter"/>
              </a:rPr>
              <a:t>4</a:t>
            </a:r>
          </a:p>
        </p:txBody>
      </p:sp>
      <p:sp>
        <p:nvSpPr>
          <p:cNvPr id="11" name="Rectangle 10"/>
          <p:cNvSpPr/>
          <p:nvPr/>
        </p:nvSpPr>
        <p:spPr>
          <a:xfrm>
            <a:off x="566928" y="1298448"/>
            <a:ext cx="11057839" cy="812596"/>
          </a:xfrm>
          <a:prstGeom prst="rect">
            <a:avLst/>
          </a:prstGeom>
          <a:solidFill>
            <a:srgbClr val="FCF8EF"/>
          </a:solidFill>
          <a:ln w="6350">
            <a:solidFill>
              <a:srgbClr val="DDD7C8"/>
            </a:solidFill>
          </a:ln>
          <a:effectLst/>
        </p:spPr>
        <p:txBody>
          <a:bodyPr rtlCol="0" anchor="ctr"/>
          <a:lstStyle/>
          <a:p>
            <a:pPr algn="ctr"/>
          </a:p>
        </p:txBody>
      </p:sp>
      <p:sp>
        <p:nvSpPr>
          <p:cNvPr id="12" name="Rectangle 11"/>
          <p:cNvSpPr/>
          <p:nvPr/>
        </p:nvSpPr>
        <p:spPr>
          <a:xfrm>
            <a:off x="566928" y="1298448"/>
            <a:ext cx="25603" cy="812596"/>
          </a:xfrm>
          <a:prstGeom prst="rect">
            <a:avLst/>
          </a:prstGeom>
          <a:solidFill>
            <a:srgbClr val="937425"/>
          </a:solidFill>
          <a:ln>
            <a:noFill/>
          </a:ln>
          <a:effectLst/>
        </p:spPr>
        <p:txBody>
          <a:bodyPr rtlCol="0" anchor="ctr"/>
          <a:lstStyle/>
          <a:p>
            <a:pPr algn="ctr"/>
          </a:p>
        </p:txBody>
      </p:sp>
      <p:sp>
        <p:nvSpPr>
          <p:cNvPr id="13" name="TextBox 12"/>
          <p:cNvSpPr txBox="1"/>
          <p:nvPr/>
        </p:nvSpPr>
        <p:spPr>
          <a:xfrm>
            <a:off x="749808" y="1417319"/>
            <a:ext cx="10692079" cy="146304"/>
          </a:xfrm>
          <a:prstGeom prst="rect">
            <a:avLst/>
          </a:prstGeom>
          <a:noFill/>
        </p:spPr>
        <p:txBody>
          <a:bodyPr wrap="square" lIns="0" rIns="0" tIns="0" bIns="0" anchor="t">
            <a:spAutoFit/>
          </a:bodyPr>
          <a:lstStyle/>
          <a:p>
            <a:pPr algn="l">
              <a:lnSpc>
                <a:spcPct val="96721"/>
              </a:lnSpc>
              <a:spcBef>
                <a:spcPts val="0"/>
              </a:spcBef>
              <a:spcAft>
                <a:spcPts val="0"/>
              </a:spcAft>
            </a:pPr>
            <a:r>
              <a:rPr sz="630" b="1" i="0" spc="180">
                <a:solidFill>
                  <a:srgbClr val="937425"/>
                </a:solidFill>
                <a:latin typeface="Inter"/>
              </a:rPr>
              <a:t>HOW WE TEACH</a:t>
            </a:r>
          </a:p>
        </p:txBody>
      </p:sp>
      <p:sp>
        <p:nvSpPr>
          <p:cNvPr id="14" name="TextBox 13"/>
          <p:cNvSpPr txBox="1"/>
          <p:nvPr/>
        </p:nvSpPr>
        <p:spPr>
          <a:xfrm>
            <a:off x="749808" y="1600200"/>
            <a:ext cx="10692079" cy="391972"/>
          </a:xfrm>
          <a:prstGeom prst="rect">
            <a:avLst/>
          </a:prstGeom>
          <a:noFill/>
        </p:spPr>
        <p:txBody>
          <a:bodyPr wrap="square" lIns="0" rIns="0" tIns="0" bIns="0" anchor="t">
            <a:spAutoFit/>
          </a:bodyPr>
          <a:lstStyle/>
          <a:p>
            <a:pPr algn="just">
              <a:lnSpc>
                <a:spcPct val="111475"/>
              </a:lnSpc>
              <a:spcBef>
                <a:spcPts val="0"/>
              </a:spcBef>
              <a:spcAft>
                <a:spcPts val="0"/>
              </a:spcAft>
            </a:pPr>
            <a:r>
              <a:rPr sz="730" b="0" i="0">
                <a:solidFill>
                  <a:srgbClr val="555149"/>
                </a:solidFill>
                <a:latin typeface="Inter"/>
              </a:rPr>
              <a:t>All training is built on the narrative of real experience and real incidents: hospital-based case studies, incident reports, patient-interaction simulations, role plays, scenario discussions, microlearning, on-the-job observation and coaching, with assessment before and after. Employees practise how to do it rather than simply being told.  A four-hour session allows a full cycle of concept, demonstration, practice and feedback, of which 105 minutes are structured practice and a further 25 minutes participant case work.</a:t>
            </a:r>
          </a:p>
        </p:txBody>
      </p:sp>
      <p:sp>
        <p:nvSpPr>
          <p:cNvPr id="15" name="Rectangle 14"/>
          <p:cNvSpPr/>
          <p:nvPr/>
        </p:nvSpPr>
        <p:spPr>
          <a:xfrm>
            <a:off x="566928" y="4921504"/>
            <a:ext cx="11057839" cy="1360423"/>
          </a:xfrm>
          <a:prstGeom prst="rect">
            <a:avLst/>
          </a:prstGeom>
          <a:solidFill>
            <a:srgbClr val="F1EDE2"/>
          </a:solidFill>
          <a:ln>
            <a:noFill/>
          </a:ln>
          <a:effectLst/>
        </p:spPr>
        <p:txBody>
          <a:bodyPr rtlCol="0" anchor="ctr"/>
          <a:lstStyle/>
          <a:p>
            <a:pPr algn="ctr"/>
          </a:p>
        </p:txBody>
      </p:sp>
      <p:sp>
        <p:nvSpPr>
          <p:cNvPr id="16" name="TextBox 15"/>
          <p:cNvSpPr txBox="1"/>
          <p:nvPr/>
        </p:nvSpPr>
        <p:spPr>
          <a:xfrm>
            <a:off x="731520" y="5031232"/>
            <a:ext cx="5486400" cy="155448"/>
          </a:xfrm>
          <a:prstGeom prst="rect">
            <a:avLst/>
          </a:prstGeom>
          <a:noFill/>
        </p:spPr>
        <p:txBody>
          <a:bodyPr wrap="square" lIns="0" rIns="0" tIns="0" bIns="0" anchor="t">
            <a:spAutoFit/>
          </a:bodyPr>
          <a:lstStyle/>
          <a:p>
            <a:pPr algn="l">
              <a:lnSpc>
                <a:spcPct val="96721"/>
              </a:lnSpc>
              <a:spcBef>
                <a:spcPts val="0"/>
              </a:spcBef>
              <a:spcAft>
                <a:spcPts val="0"/>
              </a:spcAft>
            </a:pPr>
            <a:r>
              <a:rPr sz="640" b="1" i="0" spc="180">
                <a:solidFill>
                  <a:srgbClr val="937425"/>
                </a:solidFill>
                <a:latin typeface="Inter"/>
              </a:rPr>
              <a:t>ALLOCATED BY ROLE  ·  WHAT EACH GROUP KEEPS</a:t>
            </a:r>
          </a:p>
        </p:txBody>
      </p:sp>
      <p:sp>
        <p:nvSpPr>
          <p:cNvPr id="17" name="Rectangle 16"/>
          <p:cNvSpPr/>
          <p:nvPr/>
        </p:nvSpPr>
        <p:spPr>
          <a:xfrm>
            <a:off x="731520" y="5223256"/>
            <a:ext cx="10728655" cy="7315"/>
          </a:xfrm>
          <a:prstGeom prst="rect">
            <a:avLst/>
          </a:prstGeom>
          <a:solidFill>
            <a:srgbClr val="937425"/>
          </a:solidFill>
          <a:ln>
            <a:noFill/>
          </a:ln>
          <a:effectLst/>
        </p:spPr>
        <p:txBody>
          <a:bodyPr rtlCol="0" anchor="ctr"/>
          <a:lstStyle/>
          <a:p>
            <a:pPr algn="ctr"/>
          </a:p>
        </p:txBody>
      </p:sp>
      <p:sp>
        <p:nvSpPr>
          <p:cNvPr id="18" name="TextBox 17"/>
          <p:cNvSpPr txBox="1"/>
          <p:nvPr/>
        </p:nvSpPr>
        <p:spPr>
          <a:xfrm>
            <a:off x="731520" y="5323840"/>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Front office and reception</a:t>
            </a:r>
          </a:p>
        </p:txBody>
      </p:sp>
      <p:sp>
        <p:nvSpPr>
          <p:cNvPr id="19" name="TextBox 18"/>
          <p:cNvSpPr txBox="1"/>
          <p:nvPr/>
        </p:nvSpPr>
        <p:spPr>
          <a:xfrm>
            <a:off x="731520" y="5497576"/>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Greeting and telephone aid, waiting-time wording, escalation flowchart</a:t>
            </a:r>
          </a:p>
        </p:txBody>
      </p:sp>
      <p:sp>
        <p:nvSpPr>
          <p:cNvPr id="20" name="TextBox 19"/>
          <p:cNvSpPr txBox="1"/>
          <p:nvPr/>
        </p:nvSpPr>
        <p:spPr>
          <a:xfrm>
            <a:off x="3468547" y="5323840"/>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Patient relations</a:t>
            </a:r>
          </a:p>
        </p:txBody>
      </p:sp>
      <p:sp>
        <p:nvSpPr>
          <p:cNvPr id="21" name="TextBox 20"/>
          <p:cNvSpPr txBox="1"/>
          <p:nvPr/>
        </p:nvSpPr>
        <p:spPr>
          <a:xfrm>
            <a:off x="3468547" y="5497576"/>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Service-recovery card, complaint and closure log, rounding question set</a:t>
            </a:r>
          </a:p>
        </p:txBody>
      </p:sp>
      <p:sp>
        <p:nvSpPr>
          <p:cNvPr id="22" name="TextBox 21"/>
          <p:cNvSpPr txBox="1"/>
          <p:nvPr/>
        </p:nvSpPr>
        <p:spPr>
          <a:xfrm>
            <a:off x="6205575" y="5323840"/>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Billing and administration</a:t>
            </a:r>
          </a:p>
        </p:txBody>
      </p:sp>
      <p:sp>
        <p:nvSpPr>
          <p:cNvPr id="23" name="TextBox 22"/>
          <p:cNvSpPr txBox="1"/>
          <p:nvPr/>
        </p:nvSpPr>
        <p:spPr>
          <a:xfrm>
            <a:off x="6205575" y="5497576"/>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Billing-explanation framework, estimate checklist, de-escalation steps</a:t>
            </a:r>
          </a:p>
        </p:txBody>
      </p:sp>
      <p:sp>
        <p:nvSpPr>
          <p:cNvPr id="24" name="TextBox 23"/>
          <p:cNvSpPr txBox="1"/>
          <p:nvPr/>
        </p:nvSpPr>
        <p:spPr>
          <a:xfrm>
            <a:off x="8942603" y="5323840"/>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Nursing and clinical support</a:t>
            </a:r>
          </a:p>
        </p:txBody>
      </p:sp>
      <p:sp>
        <p:nvSpPr>
          <p:cNvPr id="25" name="TextBox 24"/>
          <p:cNvSpPr txBox="1"/>
          <p:nvPr/>
        </p:nvSpPr>
        <p:spPr>
          <a:xfrm>
            <a:off x="8942603" y="5497576"/>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Bedside card, dignity and privacy checklist, handover aid</a:t>
            </a:r>
          </a:p>
        </p:txBody>
      </p:sp>
      <p:sp>
        <p:nvSpPr>
          <p:cNvPr id="26" name="TextBox 25"/>
          <p:cNvSpPr txBox="1"/>
          <p:nvPr/>
        </p:nvSpPr>
        <p:spPr>
          <a:xfrm>
            <a:off x="731520" y="5830316"/>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Housekeeping and facility</a:t>
            </a:r>
          </a:p>
        </p:txBody>
      </p:sp>
      <p:sp>
        <p:nvSpPr>
          <p:cNvPr id="27" name="TextBox 26"/>
          <p:cNvSpPr txBox="1"/>
          <p:nvPr/>
        </p:nvSpPr>
        <p:spPr>
          <a:xfrm>
            <a:off x="731520" y="6004052"/>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In-room conduct card, request-and-escalate wording, confidentiality card</a:t>
            </a:r>
          </a:p>
        </p:txBody>
      </p:sp>
      <p:sp>
        <p:nvSpPr>
          <p:cNvPr id="28" name="TextBox 27"/>
          <p:cNvSpPr txBox="1"/>
          <p:nvPr/>
        </p:nvSpPr>
        <p:spPr>
          <a:xfrm>
            <a:off x="3468547" y="5830316"/>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Security</a:t>
            </a:r>
          </a:p>
        </p:txBody>
      </p:sp>
      <p:sp>
        <p:nvSpPr>
          <p:cNvPr id="29" name="TextBox 28"/>
          <p:cNvSpPr txBox="1"/>
          <p:nvPr/>
        </p:nvSpPr>
        <p:spPr>
          <a:xfrm>
            <a:off x="3468547" y="6004052"/>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De-escalation ladder, gate-side entry wording, incident escalation aid</a:t>
            </a:r>
          </a:p>
        </p:txBody>
      </p:sp>
      <p:sp>
        <p:nvSpPr>
          <p:cNvPr id="30" name="TextBox 29"/>
          <p:cNvSpPr txBox="1"/>
          <p:nvPr/>
        </p:nvSpPr>
        <p:spPr>
          <a:xfrm>
            <a:off x="6205575" y="5830316"/>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Supervisors and department heads</a:t>
            </a:r>
          </a:p>
        </p:txBody>
      </p:sp>
      <p:sp>
        <p:nvSpPr>
          <p:cNvPr id="31" name="TextBox 30"/>
          <p:cNvSpPr txBox="1"/>
          <p:nvPr/>
        </p:nvSpPr>
        <p:spPr>
          <a:xfrm>
            <a:off x="6205575" y="6004052"/>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Huddle template, observation checklists, feedback structure, coaching questions</a:t>
            </a:r>
          </a:p>
        </p:txBody>
      </p:sp>
      <p:sp>
        <p:nvSpPr>
          <p:cNvPr id="32" name="TextBox 31"/>
          <p:cNvSpPr txBox="1"/>
          <p:nvPr/>
        </p:nvSpPr>
        <p:spPr>
          <a:xfrm>
            <a:off x="8942603" y="5830316"/>
            <a:ext cx="2517571" cy="137160"/>
          </a:xfrm>
          <a:prstGeom prst="rect">
            <a:avLst/>
          </a:prstGeom>
          <a:noFill/>
        </p:spPr>
        <p:txBody>
          <a:bodyPr wrap="square" lIns="0" rIns="0" tIns="0" bIns="0" anchor="t">
            <a:spAutoFit/>
          </a:bodyPr>
          <a:lstStyle/>
          <a:p>
            <a:pPr algn="l">
              <a:lnSpc>
                <a:spcPct val="96721"/>
              </a:lnSpc>
              <a:spcBef>
                <a:spcPts val="0"/>
              </a:spcBef>
              <a:spcAft>
                <a:spcPts val="0"/>
              </a:spcAft>
            </a:pPr>
            <a:r>
              <a:rPr sz="660" b="1" i="0">
                <a:solidFill>
                  <a:srgbClr val="201C15"/>
                </a:solidFill>
                <a:latin typeface="Inter"/>
              </a:rPr>
              <a:t>Managers and leadership</a:t>
            </a:r>
          </a:p>
        </p:txBody>
      </p:sp>
      <p:sp>
        <p:nvSpPr>
          <p:cNvPr id="33" name="TextBox 32"/>
          <p:cNvSpPr txBox="1"/>
          <p:nvPr/>
        </p:nvSpPr>
        <p:spPr>
          <a:xfrm>
            <a:off x="8942603" y="6004052"/>
            <a:ext cx="2517571" cy="223012"/>
          </a:xfrm>
          <a:prstGeom prst="rect">
            <a:avLst/>
          </a:prstGeom>
          <a:noFill/>
        </p:spPr>
        <p:txBody>
          <a:bodyPr wrap="square" lIns="0" rIns="0" tIns="0" bIns="0" anchor="t">
            <a:spAutoFit/>
          </a:bodyPr>
          <a:lstStyle/>
          <a:p>
            <a:pPr algn="l">
              <a:lnSpc>
                <a:spcPct val="106557"/>
              </a:lnSpc>
              <a:spcBef>
                <a:spcPts val="0"/>
              </a:spcBef>
              <a:spcAft>
                <a:spcPts val="0"/>
              </a:spcAft>
            </a:pPr>
            <a:r>
              <a:rPr sz="620" b="0" i="0">
                <a:solidFill>
                  <a:srgbClr val="555149"/>
                </a:solidFill>
                <a:latin typeface="Inter"/>
              </a:rPr>
              <a:t>Effectiveness dashboard, monthly review pack, gap-to-action framework</a:t>
            </a:r>
          </a:p>
        </p:txBody>
      </p:sp>
      <p:sp>
        <p:nvSpPr>
          <p:cNvPr id="34" name="TextBox 33"/>
          <p:cNvSpPr txBox="1"/>
          <p:nvPr/>
        </p:nvSpPr>
        <p:spPr>
          <a:xfrm>
            <a:off x="566928" y="2330500"/>
            <a:ext cx="11057839"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THE FIVE STAGES</a:t>
            </a:r>
          </a:p>
        </p:txBody>
      </p:sp>
      <p:sp>
        <p:nvSpPr>
          <p:cNvPr id="35" name="Rectangle 34"/>
          <p:cNvSpPr/>
          <p:nvPr/>
        </p:nvSpPr>
        <p:spPr>
          <a:xfrm>
            <a:off x="566928" y="2504236"/>
            <a:ext cx="11057839" cy="6858"/>
          </a:xfrm>
          <a:prstGeom prst="rect">
            <a:avLst/>
          </a:prstGeom>
          <a:solidFill>
            <a:srgbClr val="DDD7C8"/>
          </a:solidFill>
          <a:ln>
            <a:noFill/>
          </a:ln>
          <a:effectLst/>
        </p:spPr>
        <p:txBody>
          <a:bodyPr rtlCol="0" anchor="ctr"/>
          <a:lstStyle/>
          <a:p>
            <a:pPr algn="ctr"/>
          </a:p>
        </p:txBody>
      </p:sp>
      <p:sp>
        <p:nvSpPr>
          <p:cNvPr id="36" name="TextBox 35"/>
          <p:cNvSpPr txBox="1"/>
          <p:nvPr/>
        </p:nvSpPr>
        <p:spPr>
          <a:xfrm>
            <a:off x="566928" y="2577388"/>
            <a:ext cx="310896" cy="219456"/>
          </a:xfrm>
          <a:prstGeom prst="rect">
            <a:avLst/>
          </a:prstGeom>
          <a:noFill/>
        </p:spPr>
        <p:txBody>
          <a:bodyPr wrap="square" lIns="0" rIns="0" tIns="0" bIns="0" anchor="t">
            <a:spAutoFit/>
          </a:bodyPr>
          <a:lstStyle/>
          <a:p>
            <a:pPr algn="l">
              <a:lnSpc>
                <a:spcPct val="77037"/>
              </a:lnSpc>
              <a:spcBef>
                <a:spcPts val="0"/>
              </a:spcBef>
              <a:spcAft>
                <a:spcPts val="0"/>
              </a:spcAft>
            </a:pPr>
            <a:r>
              <a:rPr sz="1100" b="1" i="0">
                <a:solidFill>
                  <a:srgbClr val="B08930"/>
                </a:solidFill>
                <a:latin typeface="Playfair Display"/>
              </a:rPr>
              <a:t>01</a:t>
            </a:r>
          </a:p>
        </p:txBody>
      </p:sp>
      <p:sp>
        <p:nvSpPr>
          <p:cNvPr id="37" name="TextBox 36"/>
          <p:cNvSpPr txBox="1"/>
          <p:nvPr/>
        </p:nvSpPr>
        <p:spPr>
          <a:xfrm>
            <a:off x="896112" y="2604820"/>
            <a:ext cx="1692188" cy="155448"/>
          </a:xfrm>
          <a:prstGeom prst="rect">
            <a:avLst/>
          </a:prstGeom>
          <a:noFill/>
        </p:spPr>
        <p:txBody>
          <a:bodyPr wrap="square" lIns="0" rIns="0" tIns="0" bIns="0" anchor="t">
            <a:spAutoFit/>
          </a:bodyPr>
          <a:lstStyle/>
          <a:p>
            <a:pPr algn="l">
              <a:lnSpc>
                <a:spcPct val="96721"/>
              </a:lnSpc>
              <a:spcBef>
                <a:spcPts val="0"/>
              </a:spcBef>
              <a:spcAft>
                <a:spcPts val="0"/>
              </a:spcAft>
            </a:pPr>
            <a:r>
              <a:rPr sz="670" b="1" i="0" spc="140">
                <a:solidFill>
                  <a:srgbClr val="201C15"/>
                </a:solidFill>
                <a:latin typeface="Inter"/>
              </a:rPr>
              <a:t>DIAGNOSE</a:t>
            </a:r>
          </a:p>
        </p:txBody>
      </p:sp>
      <p:sp>
        <p:nvSpPr>
          <p:cNvPr id="38" name="TextBox 37"/>
          <p:cNvSpPr txBox="1"/>
          <p:nvPr/>
        </p:nvSpPr>
        <p:spPr>
          <a:xfrm>
            <a:off x="566928" y="2805988"/>
            <a:ext cx="2021372" cy="358901"/>
          </a:xfrm>
          <a:prstGeom prst="rect">
            <a:avLst/>
          </a:prstGeom>
          <a:noFill/>
        </p:spPr>
        <p:txBody>
          <a:bodyPr wrap="square" lIns="0" rIns="0" tIns="0" bIns="0" anchor="t">
            <a:spAutoFit/>
          </a:bodyPr>
          <a:lstStyle/>
          <a:p>
            <a:pPr algn="l">
              <a:lnSpc>
                <a:spcPct val="106557"/>
              </a:lnSpc>
              <a:spcBef>
                <a:spcPts val="0"/>
              </a:spcBef>
              <a:spcAft>
                <a:spcPts val="0"/>
              </a:spcAft>
            </a:pPr>
            <a:r>
              <a:rPr sz="660" b="0" i="0">
                <a:solidFill>
                  <a:srgbClr val="555149"/>
                </a:solidFill>
                <a:latin typeface="Inter"/>
              </a:rPr>
              <a:t>Management discussions, departmental inputs, employee observation, and review of anonymised feedback and complaints.</a:t>
            </a:r>
          </a:p>
        </p:txBody>
      </p:sp>
      <p:sp>
        <p:nvSpPr>
          <p:cNvPr id="39" name="Rectangle 38"/>
          <p:cNvSpPr/>
          <p:nvPr/>
        </p:nvSpPr>
        <p:spPr>
          <a:xfrm>
            <a:off x="2707172" y="2604820"/>
            <a:ext cx="6858" cy="541782"/>
          </a:xfrm>
          <a:prstGeom prst="rect">
            <a:avLst/>
          </a:prstGeom>
          <a:solidFill>
            <a:srgbClr val="DDD7C8"/>
          </a:solidFill>
          <a:ln>
            <a:noFill/>
          </a:ln>
          <a:effectLst/>
        </p:spPr>
        <p:txBody>
          <a:bodyPr rtlCol="0" anchor="ctr"/>
          <a:lstStyle/>
          <a:p>
            <a:pPr algn="ctr"/>
          </a:p>
        </p:txBody>
      </p:sp>
      <p:sp>
        <p:nvSpPr>
          <p:cNvPr id="40" name="TextBox 39"/>
          <p:cNvSpPr txBox="1"/>
          <p:nvPr/>
        </p:nvSpPr>
        <p:spPr>
          <a:xfrm>
            <a:off x="2826044" y="2577388"/>
            <a:ext cx="310896" cy="219456"/>
          </a:xfrm>
          <a:prstGeom prst="rect">
            <a:avLst/>
          </a:prstGeom>
          <a:noFill/>
        </p:spPr>
        <p:txBody>
          <a:bodyPr wrap="square" lIns="0" rIns="0" tIns="0" bIns="0" anchor="t">
            <a:spAutoFit/>
          </a:bodyPr>
          <a:lstStyle/>
          <a:p>
            <a:pPr algn="l">
              <a:lnSpc>
                <a:spcPct val="77037"/>
              </a:lnSpc>
              <a:spcBef>
                <a:spcPts val="0"/>
              </a:spcBef>
              <a:spcAft>
                <a:spcPts val="0"/>
              </a:spcAft>
            </a:pPr>
            <a:r>
              <a:rPr sz="1100" b="1" i="0">
                <a:solidFill>
                  <a:srgbClr val="B08930"/>
                </a:solidFill>
                <a:latin typeface="Playfair Display"/>
              </a:rPr>
              <a:t>02</a:t>
            </a:r>
          </a:p>
        </p:txBody>
      </p:sp>
      <p:sp>
        <p:nvSpPr>
          <p:cNvPr id="41" name="TextBox 40"/>
          <p:cNvSpPr txBox="1"/>
          <p:nvPr/>
        </p:nvSpPr>
        <p:spPr>
          <a:xfrm>
            <a:off x="3155228" y="2604820"/>
            <a:ext cx="1692188" cy="155448"/>
          </a:xfrm>
          <a:prstGeom prst="rect">
            <a:avLst/>
          </a:prstGeom>
          <a:noFill/>
        </p:spPr>
        <p:txBody>
          <a:bodyPr wrap="square" lIns="0" rIns="0" tIns="0" bIns="0" anchor="t">
            <a:spAutoFit/>
          </a:bodyPr>
          <a:lstStyle/>
          <a:p>
            <a:pPr algn="l">
              <a:lnSpc>
                <a:spcPct val="96721"/>
              </a:lnSpc>
              <a:spcBef>
                <a:spcPts val="0"/>
              </a:spcBef>
              <a:spcAft>
                <a:spcPts val="0"/>
              </a:spcAft>
            </a:pPr>
            <a:r>
              <a:rPr sz="670" b="1" i="0" spc="140">
                <a:solidFill>
                  <a:srgbClr val="201C15"/>
                </a:solidFill>
                <a:latin typeface="Inter"/>
              </a:rPr>
              <a:t>DESIGN</a:t>
            </a:r>
          </a:p>
        </p:txBody>
      </p:sp>
      <p:sp>
        <p:nvSpPr>
          <p:cNvPr id="42" name="TextBox 41"/>
          <p:cNvSpPr txBox="1"/>
          <p:nvPr/>
        </p:nvSpPr>
        <p:spPr>
          <a:xfrm>
            <a:off x="2826044" y="2805988"/>
            <a:ext cx="2021372" cy="358901"/>
          </a:xfrm>
          <a:prstGeom prst="rect">
            <a:avLst/>
          </a:prstGeom>
          <a:noFill/>
        </p:spPr>
        <p:txBody>
          <a:bodyPr wrap="square" lIns="0" rIns="0" tIns="0" bIns="0" anchor="t">
            <a:spAutoFit/>
          </a:bodyPr>
          <a:lstStyle/>
          <a:p>
            <a:pPr algn="l">
              <a:lnSpc>
                <a:spcPct val="106557"/>
              </a:lnSpc>
              <a:spcBef>
                <a:spcPts val="0"/>
              </a:spcBef>
              <a:spcAft>
                <a:spcPts val="0"/>
              </a:spcAft>
            </a:pPr>
            <a:r>
              <a:rPr sz="660" b="0" i="0">
                <a:solidFill>
                  <a:srgbClr val="555149"/>
                </a:solidFill>
                <a:latin typeface="Inter"/>
              </a:rPr>
              <a:t>Every module customised against the hospital's own policies, SOPs and service standards. Induction is built here.</a:t>
            </a:r>
          </a:p>
        </p:txBody>
      </p:sp>
      <p:sp>
        <p:nvSpPr>
          <p:cNvPr id="43" name="Rectangle 42"/>
          <p:cNvSpPr/>
          <p:nvPr/>
        </p:nvSpPr>
        <p:spPr>
          <a:xfrm>
            <a:off x="4966289" y="2604820"/>
            <a:ext cx="6858" cy="541782"/>
          </a:xfrm>
          <a:prstGeom prst="rect">
            <a:avLst/>
          </a:prstGeom>
          <a:solidFill>
            <a:srgbClr val="DDD7C8"/>
          </a:solidFill>
          <a:ln>
            <a:noFill/>
          </a:ln>
          <a:effectLst/>
        </p:spPr>
        <p:txBody>
          <a:bodyPr rtlCol="0" anchor="ctr"/>
          <a:lstStyle/>
          <a:p>
            <a:pPr algn="ctr"/>
          </a:p>
        </p:txBody>
      </p:sp>
      <p:sp>
        <p:nvSpPr>
          <p:cNvPr id="44" name="TextBox 43"/>
          <p:cNvSpPr txBox="1"/>
          <p:nvPr/>
        </p:nvSpPr>
        <p:spPr>
          <a:xfrm>
            <a:off x="5085161" y="2577388"/>
            <a:ext cx="310896" cy="219456"/>
          </a:xfrm>
          <a:prstGeom prst="rect">
            <a:avLst/>
          </a:prstGeom>
          <a:noFill/>
        </p:spPr>
        <p:txBody>
          <a:bodyPr wrap="square" lIns="0" rIns="0" tIns="0" bIns="0" anchor="t">
            <a:spAutoFit/>
          </a:bodyPr>
          <a:lstStyle/>
          <a:p>
            <a:pPr algn="l">
              <a:lnSpc>
                <a:spcPct val="77037"/>
              </a:lnSpc>
              <a:spcBef>
                <a:spcPts val="0"/>
              </a:spcBef>
              <a:spcAft>
                <a:spcPts val="0"/>
              </a:spcAft>
            </a:pPr>
            <a:r>
              <a:rPr sz="1100" b="1" i="0">
                <a:solidFill>
                  <a:srgbClr val="B08930"/>
                </a:solidFill>
                <a:latin typeface="Playfair Display"/>
              </a:rPr>
              <a:t>03</a:t>
            </a:r>
          </a:p>
        </p:txBody>
      </p:sp>
      <p:sp>
        <p:nvSpPr>
          <p:cNvPr id="45" name="TextBox 44"/>
          <p:cNvSpPr txBox="1"/>
          <p:nvPr/>
        </p:nvSpPr>
        <p:spPr>
          <a:xfrm>
            <a:off x="5414345" y="2604820"/>
            <a:ext cx="1692188" cy="155448"/>
          </a:xfrm>
          <a:prstGeom prst="rect">
            <a:avLst/>
          </a:prstGeom>
          <a:noFill/>
        </p:spPr>
        <p:txBody>
          <a:bodyPr wrap="square" lIns="0" rIns="0" tIns="0" bIns="0" anchor="t">
            <a:spAutoFit/>
          </a:bodyPr>
          <a:lstStyle/>
          <a:p>
            <a:pPr algn="l">
              <a:lnSpc>
                <a:spcPct val="96721"/>
              </a:lnSpc>
              <a:spcBef>
                <a:spcPts val="0"/>
              </a:spcBef>
              <a:spcAft>
                <a:spcPts val="0"/>
              </a:spcAft>
            </a:pPr>
            <a:r>
              <a:rPr sz="670" b="1" i="0" spc="140">
                <a:solidFill>
                  <a:srgbClr val="201C15"/>
                </a:solidFill>
                <a:latin typeface="Inter"/>
              </a:rPr>
              <a:t>DELIVER</a:t>
            </a:r>
          </a:p>
        </p:txBody>
      </p:sp>
      <p:sp>
        <p:nvSpPr>
          <p:cNvPr id="46" name="TextBox 45"/>
          <p:cNvSpPr txBox="1"/>
          <p:nvPr/>
        </p:nvSpPr>
        <p:spPr>
          <a:xfrm>
            <a:off x="5085161" y="2805988"/>
            <a:ext cx="2021372" cy="358901"/>
          </a:xfrm>
          <a:prstGeom prst="rect">
            <a:avLst/>
          </a:prstGeom>
          <a:noFill/>
        </p:spPr>
        <p:txBody>
          <a:bodyPr wrap="square" lIns="0" rIns="0" tIns="0" bIns="0" anchor="t">
            <a:spAutoFit/>
          </a:bodyPr>
          <a:lstStyle/>
          <a:p>
            <a:pPr algn="l">
              <a:lnSpc>
                <a:spcPct val="106557"/>
              </a:lnSpc>
              <a:spcBef>
                <a:spcPts val="0"/>
              </a:spcBef>
              <a:spcAft>
                <a:spcPts val="0"/>
              </a:spcAft>
            </a:pPr>
            <a:r>
              <a:rPr sz="660" b="0" i="0">
                <a:solidFill>
                  <a:srgbClr val="555149"/>
                </a:solidFill>
                <a:latin typeface="Inter"/>
              </a:rPr>
              <a:t>Facilitated four-hour sessions: concept, demonstration, practice and feedback, three days a week.</a:t>
            </a:r>
          </a:p>
        </p:txBody>
      </p:sp>
      <p:sp>
        <p:nvSpPr>
          <p:cNvPr id="47" name="Rectangle 46"/>
          <p:cNvSpPr/>
          <p:nvPr/>
        </p:nvSpPr>
        <p:spPr>
          <a:xfrm>
            <a:off x="7225405" y="2604820"/>
            <a:ext cx="6858" cy="541782"/>
          </a:xfrm>
          <a:prstGeom prst="rect">
            <a:avLst/>
          </a:prstGeom>
          <a:solidFill>
            <a:srgbClr val="DDD7C8"/>
          </a:solidFill>
          <a:ln>
            <a:noFill/>
          </a:ln>
          <a:effectLst/>
        </p:spPr>
        <p:txBody>
          <a:bodyPr rtlCol="0" anchor="ctr"/>
          <a:lstStyle/>
          <a:p>
            <a:pPr algn="ctr"/>
          </a:p>
        </p:txBody>
      </p:sp>
      <p:sp>
        <p:nvSpPr>
          <p:cNvPr id="48" name="TextBox 47"/>
          <p:cNvSpPr txBox="1"/>
          <p:nvPr/>
        </p:nvSpPr>
        <p:spPr>
          <a:xfrm>
            <a:off x="7344277" y="2577388"/>
            <a:ext cx="310896" cy="219456"/>
          </a:xfrm>
          <a:prstGeom prst="rect">
            <a:avLst/>
          </a:prstGeom>
          <a:noFill/>
        </p:spPr>
        <p:txBody>
          <a:bodyPr wrap="square" lIns="0" rIns="0" tIns="0" bIns="0" anchor="t">
            <a:spAutoFit/>
          </a:bodyPr>
          <a:lstStyle/>
          <a:p>
            <a:pPr algn="l">
              <a:lnSpc>
                <a:spcPct val="77037"/>
              </a:lnSpc>
              <a:spcBef>
                <a:spcPts val="0"/>
              </a:spcBef>
              <a:spcAft>
                <a:spcPts val="0"/>
              </a:spcAft>
            </a:pPr>
            <a:r>
              <a:rPr sz="1100" b="1" i="0">
                <a:solidFill>
                  <a:srgbClr val="B08930"/>
                </a:solidFill>
                <a:latin typeface="Playfair Display"/>
              </a:rPr>
              <a:t>04</a:t>
            </a:r>
          </a:p>
        </p:txBody>
      </p:sp>
      <p:sp>
        <p:nvSpPr>
          <p:cNvPr id="49" name="TextBox 48"/>
          <p:cNvSpPr txBox="1"/>
          <p:nvPr/>
        </p:nvSpPr>
        <p:spPr>
          <a:xfrm>
            <a:off x="7673461" y="2604820"/>
            <a:ext cx="1692188" cy="155448"/>
          </a:xfrm>
          <a:prstGeom prst="rect">
            <a:avLst/>
          </a:prstGeom>
          <a:noFill/>
        </p:spPr>
        <p:txBody>
          <a:bodyPr wrap="square" lIns="0" rIns="0" tIns="0" bIns="0" anchor="t">
            <a:spAutoFit/>
          </a:bodyPr>
          <a:lstStyle/>
          <a:p>
            <a:pPr algn="l">
              <a:lnSpc>
                <a:spcPct val="96721"/>
              </a:lnSpc>
              <a:spcBef>
                <a:spcPts val="0"/>
              </a:spcBef>
              <a:spcAft>
                <a:spcPts val="0"/>
              </a:spcAft>
            </a:pPr>
            <a:r>
              <a:rPr sz="670" b="1" i="0" spc="140">
                <a:solidFill>
                  <a:srgbClr val="201C15"/>
                </a:solidFill>
                <a:latin typeface="Inter"/>
              </a:rPr>
              <a:t>REINFORCE</a:t>
            </a:r>
          </a:p>
        </p:txBody>
      </p:sp>
      <p:sp>
        <p:nvSpPr>
          <p:cNvPr id="50" name="TextBox 49"/>
          <p:cNvSpPr txBox="1"/>
          <p:nvPr/>
        </p:nvSpPr>
        <p:spPr>
          <a:xfrm>
            <a:off x="7344277" y="2805988"/>
            <a:ext cx="2021372" cy="358901"/>
          </a:xfrm>
          <a:prstGeom prst="rect">
            <a:avLst/>
          </a:prstGeom>
          <a:noFill/>
        </p:spPr>
        <p:txBody>
          <a:bodyPr wrap="square" lIns="0" rIns="0" tIns="0" bIns="0" anchor="t">
            <a:spAutoFit/>
          </a:bodyPr>
          <a:lstStyle/>
          <a:p>
            <a:pPr algn="l">
              <a:lnSpc>
                <a:spcPct val="106557"/>
              </a:lnSpc>
              <a:spcBef>
                <a:spcPts val="0"/>
              </a:spcBef>
              <a:spcAft>
                <a:spcPts val="0"/>
              </a:spcAft>
            </a:pPr>
            <a:r>
              <a:rPr sz="660" b="0" i="0">
                <a:solidFill>
                  <a:srgbClr val="555149"/>
                </a:solidFill>
                <a:latin typeface="Inter"/>
              </a:rPr>
              <a:t>Job aids carried to the point of work, supervisor coaching, and short observation visits during live shifts.</a:t>
            </a:r>
          </a:p>
        </p:txBody>
      </p:sp>
      <p:sp>
        <p:nvSpPr>
          <p:cNvPr id="51" name="Rectangle 50"/>
          <p:cNvSpPr/>
          <p:nvPr/>
        </p:nvSpPr>
        <p:spPr>
          <a:xfrm>
            <a:off x="9484522" y="2604820"/>
            <a:ext cx="6858" cy="541782"/>
          </a:xfrm>
          <a:prstGeom prst="rect">
            <a:avLst/>
          </a:prstGeom>
          <a:solidFill>
            <a:srgbClr val="DDD7C8"/>
          </a:solidFill>
          <a:ln>
            <a:noFill/>
          </a:ln>
          <a:effectLst/>
        </p:spPr>
        <p:txBody>
          <a:bodyPr rtlCol="0" anchor="ctr"/>
          <a:lstStyle/>
          <a:p>
            <a:pPr algn="ctr"/>
          </a:p>
        </p:txBody>
      </p:sp>
      <p:sp>
        <p:nvSpPr>
          <p:cNvPr id="52" name="TextBox 51"/>
          <p:cNvSpPr txBox="1"/>
          <p:nvPr/>
        </p:nvSpPr>
        <p:spPr>
          <a:xfrm>
            <a:off x="9603394" y="2577388"/>
            <a:ext cx="310896" cy="219456"/>
          </a:xfrm>
          <a:prstGeom prst="rect">
            <a:avLst/>
          </a:prstGeom>
          <a:noFill/>
        </p:spPr>
        <p:txBody>
          <a:bodyPr wrap="square" lIns="0" rIns="0" tIns="0" bIns="0" anchor="t">
            <a:spAutoFit/>
          </a:bodyPr>
          <a:lstStyle/>
          <a:p>
            <a:pPr algn="l">
              <a:lnSpc>
                <a:spcPct val="77037"/>
              </a:lnSpc>
              <a:spcBef>
                <a:spcPts val="0"/>
              </a:spcBef>
              <a:spcAft>
                <a:spcPts val="0"/>
              </a:spcAft>
            </a:pPr>
            <a:r>
              <a:rPr sz="1100" b="1" i="0">
                <a:solidFill>
                  <a:srgbClr val="B08930"/>
                </a:solidFill>
                <a:latin typeface="Playfair Display"/>
              </a:rPr>
              <a:t>05</a:t>
            </a:r>
          </a:p>
        </p:txBody>
      </p:sp>
      <p:sp>
        <p:nvSpPr>
          <p:cNvPr id="53" name="TextBox 52"/>
          <p:cNvSpPr txBox="1"/>
          <p:nvPr/>
        </p:nvSpPr>
        <p:spPr>
          <a:xfrm>
            <a:off x="9932578" y="2604820"/>
            <a:ext cx="1692188" cy="155448"/>
          </a:xfrm>
          <a:prstGeom prst="rect">
            <a:avLst/>
          </a:prstGeom>
          <a:noFill/>
        </p:spPr>
        <p:txBody>
          <a:bodyPr wrap="square" lIns="0" rIns="0" tIns="0" bIns="0" anchor="t">
            <a:spAutoFit/>
          </a:bodyPr>
          <a:lstStyle/>
          <a:p>
            <a:pPr algn="l">
              <a:lnSpc>
                <a:spcPct val="96721"/>
              </a:lnSpc>
              <a:spcBef>
                <a:spcPts val="0"/>
              </a:spcBef>
              <a:spcAft>
                <a:spcPts val="0"/>
              </a:spcAft>
            </a:pPr>
            <a:r>
              <a:rPr sz="670" b="1" i="0" spc="140">
                <a:solidFill>
                  <a:srgbClr val="201C15"/>
                </a:solidFill>
                <a:latin typeface="Inter"/>
              </a:rPr>
              <a:t>MEASURE</a:t>
            </a:r>
          </a:p>
        </p:txBody>
      </p:sp>
      <p:sp>
        <p:nvSpPr>
          <p:cNvPr id="54" name="TextBox 53"/>
          <p:cNvSpPr txBox="1"/>
          <p:nvPr/>
        </p:nvSpPr>
        <p:spPr>
          <a:xfrm>
            <a:off x="9603394" y="2805988"/>
            <a:ext cx="2021372" cy="358901"/>
          </a:xfrm>
          <a:prstGeom prst="rect">
            <a:avLst/>
          </a:prstGeom>
          <a:noFill/>
        </p:spPr>
        <p:txBody>
          <a:bodyPr wrap="square" lIns="0" rIns="0" tIns="0" bIns="0" anchor="t">
            <a:spAutoFit/>
          </a:bodyPr>
          <a:lstStyle/>
          <a:p>
            <a:pPr algn="l">
              <a:lnSpc>
                <a:spcPct val="106557"/>
              </a:lnSpc>
              <a:spcBef>
                <a:spcPts val="0"/>
              </a:spcBef>
              <a:spcAft>
                <a:spcPts val="0"/>
              </a:spcAft>
            </a:pPr>
            <a:r>
              <a:rPr sz="660" b="0" i="0">
                <a:solidFill>
                  <a:srgbClr val="555149"/>
                </a:solidFill>
                <a:latin typeface="Inter"/>
              </a:rPr>
              <a:t>Assessment before and after, on-the-job observation, and monthly reporting to management.</a:t>
            </a:r>
          </a:p>
        </p:txBody>
      </p:sp>
      <p:sp>
        <p:nvSpPr>
          <p:cNvPr id="55" name="TextBox 54"/>
          <p:cNvSpPr txBox="1"/>
          <p:nvPr/>
        </p:nvSpPr>
        <p:spPr>
          <a:xfrm>
            <a:off x="566928" y="3402634"/>
            <a:ext cx="5327751"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WHAT THE HOSPITAL RECEIVES</a:t>
            </a:r>
          </a:p>
        </p:txBody>
      </p:sp>
      <p:sp>
        <p:nvSpPr>
          <p:cNvPr id="56" name="Rectangle 55"/>
          <p:cNvSpPr/>
          <p:nvPr/>
        </p:nvSpPr>
        <p:spPr>
          <a:xfrm>
            <a:off x="566928" y="3576370"/>
            <a:ext cx="5327751" cy="6858"/>
          </a:xfrm>
          <a:prstGeom prst="rect">
            <a:avLst/>
          </a:prstGeom>
          <a:solidFill>
            <a:srgbClr val="DDD7C8"/>
          </a:solidFill>
          <a:ln>
            <a:noFill/>
          </a:ln>
          <a:effectLst/>
        </p:spPr>
        <p:txBody>
          <a:bodyPr rtlCol="0" anchor="ctr"/>
          <a:lstStyle/>
          <a:p>
            <a:pPr algn="ctr"/>
          </a:p>
        </p:txBody>
      </p:sp>
      <p:sp>
        <p:nvSpPr>
          <p:cNvPr id="57" name="TextBox 56"/>
          <p:cNvSpPr txBox="1"/>
          <p:nvPr/>
        </p:nvSpPr>
        <p:spPr>
          <a:xfrm>
            <a:off x="566928" y="3676954"/>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660" b="1" i="0">
                <a:solidFill>
                  <a:srgbClr val="B08930"/>
                </a:solidFill>
                <a:latin typeface="Inter"/>
              </a:rPr>
              <a:t>–</a:t>
            </a:r>
          </a:p>
        </p:txBody>
      </p:sp>
      <p:sp>
        <p:nvSpPr>
          <p:cNvPr id="58" name="TextBox 57"/>
          <p:cNvSpPr txBox="1"/>
          <p:nvPr/>
        </p:nvSpPr>
        <p:spPr>
          <a:xfrm>
            <a:off x="722376" y="3676954"/>
            <a:ext cx="5172303" cy="246278"/>
          </a:xfrm>
          <a:prstGeom prst="rect">
            <a:avLst/>
          </a:prstGeom>
          <a:noFill/>
        </p:spPr>
        <p:txBody>
          <a:bodyPr wrap="square" lIns="0" rIns="0" tIns="0" bIns="0" anchor="t">
            <a:spAutoFit/>
          </a:bodyPr>
          <a:lstStyle/>
          <a:p>
            <a:pPr algn="l">
              <a:lnSpc>
                <a:spcPct val="111475"/>
              </a:lnSpc>
              <a:spcBef>
                <a:spcPts val="0"/>
              </a:spcBef>
              <a:spcAft>
                <a:spcPts val="0"/>
              </a:spcAft>
            </a:pPr>
            <a:r>
              <a:rPr sz="660" b="0" i="0">
                <a:solidFill>
                  <a:srgbClr val="555149"/>
                </a:solidFill>
                <a:latin typeface="Inter"/>
              </a:rPr>
              <a:t>Training Needs Analysis report by end of Week 2, competency and skill-gap framework in Week 3, and a training calendar the hospital can extend quarterly</a:t>
            </a:r>
          </a:p>
        </p:txBody>
      </p:sp>
      <p:sp>
        <p:nvSpPr>
          <p:cNvPr id="59" name="TextBox 58"/>
          <p:cNvSpPr txBox="1"/>
          <p:nvPr/>
        </p:nvSpPr>
        <p:spPr>
          <a:xfrm>
            <a:off x="566928" y="3961726"/>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660" b="1" i="0">
                <a:solidFill>
                  <a:srgbClr val="B08930"/>
                </a:solidFill>
                <a:latin typeface="Inter"/>
              </a:rPr>
              <a:t>–</a:t>
            </a:r>
          </a:p>
        </p:txBody>
      </p:sp>
      <p:sp>
        <p:nvSpPr>
          <p:cNvPr id="60" name="TextBox 59"/>
          <p:cNvSpPr txBox="1"/>
          <p:nvPr/>
        </p:nvSpPr>
        <p:spPr>
          <a:xfrm>
            <a:off x="722376" y="3961726"/>
            <a:ext cx="5172303" cy="246278"/>
          </a:xfrm>
          <a:prstGeom prst="rect">
            <a:avLst/>
          </a:prstGeom>
          <a:noFill/>
        </p:spPr>
        <p:txBody>
          <a:bodyPr wrap="square" lIns="0" rIns="0" tIns="0" bIns="0" anchor="t">
            <a:spAutoFit/>
          </a:bodyPr>
          <a:lstStyle/>
          <a:p>
            <a:pPr algn="l">
              <a:lnSpc>
                <a:spcPct val="111475"/>
              </a:lnSpc>
              <a:spcBef>
                <a:spcPts val="0"/>
              </a:spcBef>
              <a:spcAft>
                <a:spcPts val="0"/>
              </a:spcAft>
            </a:pPr>
            <a:r>
              <a:rPr sz="660" b="0" i="0">
                <a:solidFill>
                  <a:srgbClr val="555149"/>
                </a:solidFill>
                <a:latin typeface="Inter"/>
              </a:rPr>
              <a:t>The induction programme and all twelve customised modules, with facilitator guides, participant materials and role-specific job aids</a:t>
            </a:r>
          </a:p>
        </p:txBody>
      </p:sp>
      <p:sp>
        <p:nvSpPr>
          <p:cNvPr id="61" name="TextBox 60"/>
          <p:cNvSpPr txBox="1"/>
          <p:nvPr/>
        </p:nvSpPr>
        <p:spPr>
          <a:xfrm>
            <a:off x="566928" y="4246499"/>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660" b="1" i="0">
                <a:solidFill>
                  <a:srgbClr val="B08930"/>
                </a:solidFill>
                <a:latin typeface="Inter"/>
              </a:rPr>
              <a:t>–</a:t>
            </a:r>
          </a:p>
        </p:txBody>
      </p:sp>
      <p:sp>
        <p:nvSpPr>
          <p:cNvPr id="62" name="TextBox 61"/>
          <p:cNvSpPr txBox="1"/>
          <p:nvPr/>
        </p:nvSpPr>
        <p:spPr>
          <a:xfrm>
            <a:off x="722376" y="4246499"/>
            <a:ext cx="5172303" cy="132283"/>
          </a:xfrm>
          <a:prstGeom prst="rect">
            <a:avLst/>
          </a:prstGeom>
          <a:noFill/>
        </p:spPr>
        <p:txBody>
          <a:bodyPr wrap="square" lIns="0" rIns="0" tIns="0" bIns="0" anchor="t">
            <a:spAutoFit/>
          </a:bodyPr>
          <a:lstStyle/>
          <a:p>
            <a:pPr algn="l">
              <a:lnSpc>
                <a:spcPct val="111475"/>
              </a:lnSpc>
              <a:spcBef>
                <a:spcPts val="0"/>
              </a:spcBef>
              <a:spcAft>
                <a:spcPts val="0"/>
              </a:spcAft>
            </a:pPr>
            <a:r>
              <a:rPr sz="660" b="0" i="0">
                <a:solidFill>
                  <a:srgbClr val="555149"/>
                </a:solidFill>
                <a:latin typeface="Inter"/>
              </a:rPr>
              <a:t>Assessment and observation instruments in use from Week 1, consolidated in Week 3</a:t>
            </a:r>
          </a:p>
        </p:txBody>
      </p:sp>
      <p:sp>
        <p:nvSpPr>
          <p:cNvPr id="63" name="TextBox 62"/>
          <p:cNvSpPr txBox="1"/>
          <p:nvPr/>
        </p:nvSpPr>
        <p:spPr>
          <a:xfrm>
            <a:off x="566928" y="4417275"/>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660" b="1" i="0">
                <a:solidFill>
                  <a:srgbClr val="B08930"/>
                </a:solidFill>
                <a:latin typeface="Inter"/>
              </a:rPr>
              <a:t>–</a:t>
            </a:r>
          </a:p>
        </p:txBody>
      </p:sp>
      <p:sp>
        <p:nvSpPr>
          <p:cNvPr id="64" name="TextBox 63"/>
          <p:cNvSpPr txBox="1"/>
          <p:nvPr/>
        </p:nvSpPr>
        <p:spPr>
          <a:xfrm>
            <a:off x="722376" y="4417275"/>
            <a:ext cx="5172303" cy="132283"/>
          </a:xfrm>
          <a:prstGeom prst="rect">
            <a:avLst/>
          </a:prstGeom>
          <a:noFill/>
        </p:spPr>
        <p:txBody>
          <a:bodyPr wrap="square" lIns="0" rIns="0" tIns="0" bIns="0" anchor="t">
            <a:spAutoFit/>
          </a:bodyPr>
          <a:lstStyle/>
          <a:p>
            <a:pPr algn="l">
              <a:lnSpc>
                <a:spcPct val="111475"/>
              </a:lnSpc>
              <a:spcBef>
                <a:spcPts val="0"/>
              </a:spcBef>
              <a:spcAft>
                <a:spcPts val="0"/>
              </a:spcAft>
            </a:pPr>
            <a:r>
              <a:rPr sz="660" b="0" i="0">
                <a:solidFill>
                  <a:srgbClr val="555149"/>
                </a:solidFill>
                <a:latin typeface="Inter"/>
              </a:rPr>
              <a:t>Attendance records, feedback analysis, monthly training reports, and corrective plans where a standard is not holding</a:t>
            </a:r>
          </a:p>
        </p:txBody>
      </p:sp>
      <p:sp>
        <p:nvSpPr>
          <p:cNvPr id="65" name="TextBox 64"/>
          <p:cNvSpPr txBox="1"/>
          <p:nvPr/>
        </p:nvSpPr>
        <p:spPr>
          <a:xfrm>
            <a:off x="566928" y="4588052"/>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660" b="1" i="0">
                <a:solidFill>
                  <a:srgbClr val="B08930"/>
                </a:solidFill>
                <a:latin typeface="Inter"/>
              </a:rPr>
              <a:t>–</a:t>
            </a:r>
          </a:p>
        </p:txBody>
      </p:sp>
      <p:sp>
        <p:nvSpPr>
          <p:cNvPr id="66" name="TextBox 65"/>
          <p:cNvSpPr txBox="1"/>
          <p:nvPr/>
        </p:nvSpPr>
        <p:spPr>
          <a:xfrm>
            <a:off x="722376" y="4588052"/>
            <a:ext cx="5172303" cy="132283"/>
          </a:xfrm>
          <a:prstGeom prst="rect">
            <a:avLst/>
          </a:prstGeom>
          <a:noFill/>
        </p:spPr>
        <p:txBody>
          <a:bodyPr wrap="square" lIns="0" rIns="0" tIns="0" bIns="0" anchor="t">
            <a:spAutoFit/>
          </a:bodyPr>
          <a:lstStyle/>
          <a:p>
            <a:pPr algn="l">
              <a:lnSpc>
                <a:spcPct val="111475"/>
              </a:lnSpc>
              <a:spcBef>
                <a:spcPts val="0"/>
              </a:spcBef>
              <a:spcAft>
                <a:spcPts val="0"/>
              </a:spcAft>
            </a:pPr>
            <a:r>
              <a:rPr sz="660" b="0" i="0">
                <a:solidFill>
                  <a:srgbClr val="555149"/>
                </a:solidFill>
                <a:latin typeface="Inter"/>
              </a:rPr>
              <a:t>Management review presentations and a training effectiveness dashboard</a:t>
            </a:r>
          </a:p>
        </p:txBody>
      </p:sp>
      <p:sp>
        <p:nvSpPr>
          <p:cNvPr id="67" name="TextBox 66"/>
          <p:cNvSpPr txBox="1"/>
          <p:nvPr/>
        </p:nvSpPr>
        <p:spPr>
          <a:xfrm>
            <a:off x="6297015" y="3402634"/>
            <a:ext cx="5327751"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HOW EFFECTIVENESS IS REPORTED</a:t>
            </a:r>
          </a:p>
        </p:txBody>
      </p:sp>
      <p:sp>
        <p:nvSpPr>
          <p:cNvPr id="68" name="Rectangle 67"/>
          <p:cNvSpPr/>
          <p:nvPr/>
        </p:nvSpPr>
        <p:spPr>
          <a:xfrm>
            <a:off x="6297015" y="3576370"/>
            <a:ext cx="5327751" cy="6858"/>
          </a:xfrm>
          <a:prstGeom prst="rect">
            <a:avLst/>
          </a:prstGeom>
          <a:solidFill>
            <a:srgbClr val="DDD7C8"/>
          </a:solidFill>
          <a:ln>
            <a:noFill/>
          </a:ln>
          <a:effectLst/>
        </p:spPr>
        <p:txBody>
          <a:bodyPr rtlCol="0" anchor="ctr"/>
          <a:lstStyle/>
          <a:p>
            <a:pPr algn="ctr"/>
          </a:p>
        </p:txBody>
      </p:sp>
      <p:sp>
        <p:nvSpPr>
          <p:cNvPr id="69" name="TextBox 68"/>
          <p:cNvSpPr txBox="1"/>
          <p:nvPr/>
        </p:nvSpPr>
        <p:spPr>
          <a:xfrm>
            <a:off x="6297015" y="3658666"/>
            <a:ext cx="292608" cy="201168"/>
          </a:xfrm>
          <a:prstGeom prst="rect">
            <a:avLst/>
          </a:prstGeom>
          <a:noFill/>
        </p:spPr>
        <p:txBody>
          <a:bodyPr wrap="square" lIns="0" rIns="0" tIns="0" bIns="0" anchor="t">
            <a:spAutoFit/>
          </a:bodyPr>
          <a:lstStyle/>
          <a:p>
            <a:pPr algn="l">
              <a:lnSpc>
                <a:spcPct val="77037"/>
              </a:lnSpc>
              <a:spcBef>
                <a:spcPts val="0"/>
              </a:spcBef>
              <a:spcAft>
                <a:spcPts val="0"/>
              </a:spcAft>
            </a:pPr>
            <a:r>
              <a:rPr sz="1000" b="1" i="0">
                <a:solidFill>
                  <a:srgbClr val="B08930"/>
                </a:solidFill>
                <a:latin typeface="Playfair Display"/>
              </a:rPr>
              <a:t>01</a:t>
            </a:r>
          </a:p>
        </p:txBody>
      </p:sp>
      <p:sp>
        <p:nvSpPr>
          <p:cNvPr id="70" name="TextBox 69"/>
          <p:cNvSpPr txBox="1"/>
          <p:nvPr/>
        </p:nvSpPr>
        <p:spPr>
          <a:xfrm>
            <a:off x="6607911" y="3676954"/>
            <a:ext cx="5016855" cy="137160"/>
          </a:xfrm>
          <a:prstGeom prst="rect">
            <a:avLst/>
          </a:prstGeom>
          <a:noFill/>
        </p:spPr>
        <p:txBody>
          <a:bodyPr wrap="square" lIns="0" rIns="0" tIns="0" bIns="0" anchor="t">
            <a:spAutoFit/>
          </a:bodyPr>
          <a:lstStyle/>
          <a:p>
            <a:pPr algn="l">
              <a:lnSpc>
                <a:spcPct val="106557"/>
              </a:lnSpc>
              <a:spcBef>
                <a:spcPts val="0"/>
              </a:spcBef>
              <a:spcAft>
                <a:spcPts val="0"/>
              </a:spcAft>
            </a:pPr>
            <a:r>
              <a:rPr sz="660" b="1" i="0" spc="130">
                <a:solidFill>
                  <a:srgbClr val="201C15"/>
                </a:solidFill>
                <a:latin typeface="Inter"/>
              </a:rPr>
              <a:t>PARTICIPATION AND REACTION   </a:t>
            </a:r>
            <a:r>
              <a:rPr sz="700" b="0" i="0">
                <a:solidFill>
                  <a:srgbClr val="555149"/>
                </a:solidFill>
                <a:latin typeface="Inter"/>
              </a:rPr>
              <a:t>Attendance, completion and participant feedback by batch and by module.</a:t>
            </a:r>
          </a:p>
        </p:txBody>
      </p:sp>
      <p:sp>
        <p:nvSpPr>
          <p:cNvPr id="71" name="TextBox 70"/>
          <p:cNvSpPr txBox="1"/>
          <p:nvPr/>
        </p:nvSpPr>
        <p:spPr>
          <a:xfrm>
            <a:off x="6297015" y="3855377"/>
            <a:ext cx="292608" cy="201168"/>
          </a:xfrm>
          <a:prstGeom prst="rect">
            <a:avLst/>
          </a:prstGeom>
          <a:noFill/>
        </p:spPr>
        <p:txBody>
          <a:bodyPr wrap="square" lIns="0" rIns="0" tIns="0" bIns="0" anchor="t">
            <a:spAutoFit/>
          </a:bodyPr>
          <a:lstStyle/>
          <a:p>
            <a:pPr algn="l">
              <a:lnSpc>
                <a:spcPct val="77037"/>
              </a:lnSpc>
              <a:spcBef>
                <a:spcPts val="0"/>
              </a:spcBef>
              <a:spcAft>
                <a:spcPts val="0"/>
              </a:spcAft>
            </a:pPr>
            <a:r>
              <a:rPr sz="1000" b="1" i="0">
                <a:solidFill>
                  <a:srgbClr val="B08930"/>
                </a:solidFill>
                <a:latin typeface="Playfair Display"/>
              </a:rPr>
              <a:t>02</a:t>
            </a:r>
          </a:p>
        </p:txBody>
      </p:sp>
      <p:sp>
        <p:nvSpPr>
          <p:cNvPr id="72" name="TextBox 71"/>
          <p:cNvSpPr txBox="1"/>
          <p:nvPr/>
        </p:nvSpPr>
        <p:spPr>
          <a:xfrm>
            <a:off x="6607911" y="3873665"/>
            <a:ext cx="5016855" cy="137160"/>
          </a:xfrm>
          <a:prstGeom prst="rect">
            <a:avLst/>
          </a:prstGeom>
          <a:noFill/>
        </p:spPr>
        <p:txBody>
          <a:bodyPr wrap="square" lIns="0" rIns="0" tIns="0" bIns="0" anchor="t">
            <a:spAutoFit/>
          </a:bodyPr>
          <a:lstStyle/>
          <a:p>
            <a:pPr algn="l">
              <a:lnSpc>
                <a:spcPct val="106557"/>
              </a:lnSpc>
              <a:spcBef>
                <a:spcPts val="0"/>
              </a:spcBef>
              <a:spcAft>
                <a:spcPts val="0"/>
              </a:spcAft>
            </a:pPr>
            <a:r>
              <a:rPr sz="660" b="1" i="0" spc="130">
                <a:solidFill>
                  <a:srgbClr val="201C15"/>
                </a:solidFill>
                <a:latin typeface="Inter"/>
              </a:rPr>
              <a:t>KNOWLEDGE GAIN   </a:t>
            </a:r>
            <a:r>
              <a:rPr sz="700" b="0" i="0">
                <a:solidFill>
                  <a:srgbClr val="555149"/>
                </a:solidFill>
                <a:latin typeface="Inter"/>
              </a:rPr>
              <a:t>Assessment before and after each module, scored and reported by cohort.</a:t>
            </a:r>
          </a:p>
        </p:txBody>
      </p:sp>
      <p:sp>
        <p:nvSpPr>
          <p:cNvPr id="73" name="TextBox 72"/>
          <p:cNvSpPr txBox="1"/>
          <p:nvPr/>
        </p:nvSpPr>
        <p:spPr>
          <a:xfrm>
            <a:off x="6297015" y="4052087"/>
            <a:ext cx="292608" cy="201168"/>
          </a:xfrm>
          <a:prstGeom prst="rect">
            <a:avLst/>
          </a:prstGeom>
          <a:noFill/>
        </p:spPr>
        <p:txBody>
          <a:bodyPr wrap="square" lIns="0" rIns="0" tIns="0" bIns="0" anchor="t">
            <a:spAutoFit/>
          </a:bodyPr>
          <a:lstStyle/>
          <a:p>
            <a:pPr algn="l">
              <a:lnSpc>
                <a:spcPct val="77037"/>
              </a:lnSpc>
              <a:spcBef>
                <a:spcPts val="0"/>
              </a:spcBef>
              <a:spcAft>
                <a:spcPts val="0"/>
              </a:spcAft>
            </a:pPr>
            <a:r>
              <a:rPr sz="1000" b="1" i="0">
                <a:solidFill>
                  <a:srgbClr val="B08930"/>
                </a:solidFill>
                <a:latin typeface="Playfair Display"/>
              </a:rPr>
              <a:t>03</a:t>
            </a:r>
          </a:p>
        </p:txBody>
      </p:sp>
      <p:sp>
        <p:nvSpPr>
          <p:cNvPr id="74" name="TextBox 73"/>
          <p:cNvSpPr txBox="1"/>
          <p:nvPr/>
        </p:nvSpPr>
        <p:spPr>
          <a:xfrm>
            <a:off x="6607911" y="4070375"/>
            <a:ext cx="5016855" cy="137160"/>
          </a:xfrm>
          <a:prstGeom prst="rect">
            <a:avLst/>
          </a:prstGeom>
          <a:noFill/>
        </p:spPr>
        <p:txBody>
          <a:bodyPr wrap="square" lIns="0" rIns="0" tIns="0" bIns="0" anchor="t">
            <a:spAutoFit/>
          </a:bodyPr>
          <a:lstStyle/>
          <a:p>
            <a:pPr algn="l">
              <a:lnSpc>
                <a:spcPct val="106557"/>
              </a:lnSpc>
              <a:spcBef>
                <a:spcPts val="0"/>
              </a:spcBef>
              <a:spcAft>
                <a:spcPts val="0"/>
              </a:spcAft>
            </a:pPr>
            <a:r>
              <a:rPr sz="660" b="1" i="0" spc="130">
                <a:solidFill>
                  <a:srgbClr val="201C15"/>
                </a:solidFill>
                <a:latin typeface="Inter"/>
              </a:rPr>
              <a:t>BEHAVIOURAL CHANGE   </a:t>
            </a:r>
            <a:r>
              <a:rPr sz="700" b="0" i="0">
                <a:solidFill>
                  <a:srgbClr val="555149"/>
                </a:solidFill>
                <a:latin typeface="Inter"/>
              </a:rPr>
              <a:t>On-the-job observation against the same checklists supervisors use on the floor.</a:t>
            </a:r>
          </a:p>
        </p:txBody>
      </p:sp>
      <p:sp>
        <p:nvSpPr>
          <p:cNvPr id="75" name="TextBox 74"/>
          <p:cNvSpPr txBox="1"/>
          <p:nvPr/>
        </p:nvSpPr>
        <p:spPr>
          <a:xfrm>
            <a:off x="6297015" y="4248797"/>
            <a:ext cx="292608" cy="201168"/>
          </a:xfrm>
          <a:prstGeom prst="rect">
            <a:avLst/>
          </a:prstGeom>
          <a:noFill/>
        </p:spPr>
        <p:txBody>
          <a:bodyPr wrap="square" lIns="0" rIns="0" tIns="0" bIns="0" anchor="t">
            <a:spAutoFit/>
          </a:bodyPr>
          <a:lstStyle/>
          <a:p>
            <a:pPr algn="l">
              <a:lnSpc>
                <a:spcPct val="77037"/>
              </a:lnSpc>
              <a:spcBef>
                <a:spcPts val="0"/>
              </a:spcBef>
              <a:spcAft>
                <a:spcPts val="0"/>
              </a:spcAft>
            </a:pPr>
            <a:r>
              <a:rPr sz="1000" b="1" i="0">
                <a:solidFill>
                  <a:srgbClr val="B08930"/>
                </a:solidFill>
                <a:latin typeface="Playfair Display"/>
              </a:rPr>
              <a:t>04</a:t>
            </a:r>
          </a:p>
        </p:txBody>
      </p:sp>
      <p:sp>
        <p:nvSpPr>
          <p:cNvPr id="76" name="TextBox 75"/>
          <p:cNvSpPr txBox="1"/>
          <p:nvPr/>
        </p:nvSpPr>
        <p:spPr>
          <a:xfrm>
            <a:off x="6607911" y="4267085"/>
            <a:ext cx="5016855" cy="137160"/>
          </a:xfrm>
          <a:prstGeom prst="rect">
            <a:avLst/>
          </a:prstGeom>
          <a:noFill/>
        </p:spPr>
        <p:txBody>
          <a:bodyPr wrap="square" lIns="0" rIns="0" tIns="0" bIns="0" anchor="t">
            <a:spAutoFit/>
          </a:bodyPr>
          <a:lstStyle/>
          <a:p>
            <a:pPr algn="l">
              <a:lnSpc>
                <a:spcPct val="106557"/>
              </a:lnSpc>
              <a:spcBef>
                <a:spcPts val="0"/>
              </a:spcBef>
              <a:spcAft>
                <a:spcPts val="0"/>
              </a:spcAft>
            </a:pPr>
            <a:r>
              <a:rPr sz="660" b="1" i="0" spc="130">
                <a:solidFill>
                  <a:srgbClr val="201C15"/>
                </a:solidFill>
                <a:latin typeface="Inter"/>
              </a:rPr>
              <a:t>ORGANISATIONAL INDICATORS   </a:t>
            </a:r>
            <a:r>
              <a:rPr sz="700" b="0" i="0">
                <a:solidFill>
                  <a:srgbClr val="555149"/>
                </a:solidFill>
                <a:latin typeface="Inter"/>
              </a:rPr>
              <a:t>Complaint and feedback themes read alongside capability gaps.</a:t>
            </a:r>
          </a:p>
        </p:txBody>
      </p:sp>
      <p:sp>
        <p:nvSpPr>
          <p:cNvPr id="77" name="Rectangle 76"/>
          <p:cNvSpPr/>
          <p:nvPr/>
        </p:nvSpPr>
        <p:spPr>
          <a:xfrm>
            <a:off x="6297015" y="4463796"/>
            <a:ext cx="23774" cy="256540"/>
          </a:xfrm>
          <a:prstGeom prst="rect">
            <a:avLst/>
          </a:prstGeom>
          <a:solidFill>
            <a:srgbClr val="937425"/>
          </a:solidFill>
          <a:ln>
            <a:noFill/>
          </a:ln>
          <a:effectLst/>
        </p:spPr>
        <p:txBody>
          <a:bodyPr rtlCol="0" anchor="ctr"/>
          <a:lstStyle/>
          <a:p>
            <a:pPr algn="ctr"/>
          </a:p>
        </p:txBody>
      </p:sp>
      <p:sp>
        <p:nvSpPr>
          <p:cNvPr id="78" name="TextBox 77"/>
          <p:cNvSpPr txBox="1"/>
          <p:nvPr/>
        </p:nvSpPr>
        <p:spPr>
          <a:xfrm>
            <a:off x="6461607" y="4463796"/>
            <a:ext cx="5144871" cy="256540"/>
          </a:xfrm>
          <a:prstGeom prst="rect">
            <a:avLst/>
          </a:prstGeom>
          <a:noFill/>
        </p:spPr>
        <p:txBody>
          <a:bodyPr wrap="square" lIns="0" rIns="0" tIns="0" bIns="0" anchor="t">
            <a:spAutoFit/>
          </a:bodyPr>
          <a:lstStyle/>
          <a:p>
            <a:pPr algn="l">
              <a:lnSpc>
                <a:spcPct val="106557"/>
              </a:lnSpc>
              <a:spcBef>
                <a:spcPts val="0"/>
              </a:spcBef>
              <a:spcAft>
                <a:spcPts val="0"/>
              </a:spcAft>
            </a:pPr>
            <a:r>
              <a:rPr sz="680" b="0" i="1">
                <a:solidFill>
                  <a:srgbClr val="4A4233"/>
                </a:solidFill>
                <a:latin typeface="Inter"/>
              </a:rPr>
              <a:t>The fourth level depends on hospital-held complaint and feedback data, so improvement there cannot be attributed to training alone. We report movement rather than guarantee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txBody>
          <a:bodyPr rtlCol="0" anchor="ctr"/>
          <a:lstStyle/>
          <a:p>
            <a:pPr algn="ctr"/>
          </a:p>
        </p:txBody>
      </p:sp>
      <p:sp>
        <p:nvSpPr>
          <p:cNvPr id="3" name="TextBox 2"/>
          <p:cNvSpPr txBox="1"/>
          <p:nvPr/>
        </p:nvSpPr>
        <p:spPr>
          <a:xfrm>
            <a:off x="566928" y="402336"/>
            <a:ext cx="8771839" cy="201168"/>
          </a:xfrm>
          <a:prstGeom prst="rect">
            <a:avLst/>
          </a:prstGeom>
          <a:noFill/>
        </p:spPr>
        <p:txBody>
          <a:bodyPr wrap="square" lIns="0" rIns="0" tIns="0" bIns="0" anchor="t">
            <a:spAutoFit/>
          </a:bodyPr>
          <a:lstStyle/>
          <a:p>
            <a:pPr algn="l">
              <a:lnSpc>
                <a:spcPct val="96721"/>
              </a:lnSpc>
              <a:spcBef>
                <a:spcPts val="0"/>
              </a:spcBef>
              <a:spcAft>
                <a:spcPts val="0"/>
              </a:spcAft>
            </a:pPr>
            <a:r>
              <a:rPr sz="900" b="1" i="0">
                <a:solidFill>
                  <a:srgbClr val="B08930"/>
                </a:solidFill>
                <a:latin typeface="Playfair Display"/>
              </a:rPr>
              <a:t>04   </a:t>
            </a:r>
            <a:r>
              <a:rPr sz="720" b="1" i="0" spc="230">
                <a:solidFill>
                  <a:srgbClr val="937425"/>
                </a:solidFill>
                <a:latin typeface="Inter"/>
              </a:rPr>
              <a:t>COMMERCIAL TERMS</a:t>
            </a:r>
          </a:p>
        </p:txBody>
      </p:sp>
      <p:sp>
        <p:nvSpPr>
          <p:cNvPr id="4" name="TextBox 3"/>
          <p:cNvSpPr txBox="1"/>
          <p:nvPr/>
        </p:nvSpPr>
        <p:spPr>
          <a:xfrm>
            <a:off x="566928" y="603504"/>
            <a:ext cx="8680399" cy="438912"/>
          </a:xfrm>
          <a:prstGeom prst="rect">
            <a:avLst/>
          </a:prstGeom>
          <a:noFill/>
        </p:spPr>
        <p:txBody>
          <a:bodyPr wrap="square" lIns="0" rIns="0" tIns="0" bIns="0" anchor="t">
            <a:spAutoFit/>
          </a:bodyPr>
          <a:lstStyle/>
          <a:p>
            <a:pPr algn="l">
              <a:lnSpc>
                <a:spcPct val="77037"/>
              </a:lnSpc>
              <a:spcBef>
                <a:spcPts val="0"/>
              </a:spcBef>
              <a:spcAft>
                <a:spcPts val="0"/>
              </a:spcAft>
            </a:pPr>
            <a:r>
              <a:rPr sz="2500" b="1" i="0">
                <a:solidFill>
                  <a:srgbClr val="201C15"/>
                </a:solidFill>
                <a:latin typeface="Playfair Display"/>
              </a:rPr>
              <a:t>Rs 2,00,000 per month, for ninety days</a:t>
            </a:r>
          </a:p>
        </p:txBody>
      </p:sp>
      <p:sp>
        <p:nvSpPr>
          <p:cNvPr id="5" name="Rectangle 4"/>
          <p:cNvSpPr/>
          <p:nvPr/>
        </p:nvSpPr>
        <p:spPr>
          <a:xfrm>
            <a:off x="566928" y="1115568"/>
            <a:ext cx="11057839" cy="10058"/>
          </a:xfrm>
          <a:prstGeom prst="rect">
            <a:avLst/>
          </a:prstGeom>
          <a:solidFill>
            <a:srgbClr val="937425"/>
          </a:solidFill>
          <a:ln>
            <a:noFill/>
          </a:ln>
          <a:effectLst/>
        </p:spPr>
        <p:txBody>
          <a:bodyPr rtlCol="0" anchor="ctr"/>
          <a:lstStyle/>
          <a:p>
            <a:pPr algn="ctr"/>
          </a:p>
        </p:txBody>
      </p:sp>
      <p:pic>
        <p:nvPicPr>
          <p:cNvPr id="6" name="Picture 5" descr="owl_refined.png"/>
          <p:cNvPicPr>
            <a:picLocks noChangeAspect="1"/>
          </p:cNvPicPr>
          <p:nvPr/>
        </p:nvPicPr>
        <p:blipFill>
          <a:blip r:embed="rId2"/>
          <a:stretch>
            <a:fillRect/>
          </a:stretch>
        </p:blipFill>
        <p:spPr>
          <a:xfrm>
            <a:off x="9741103" y="384048"/>
            <a:ext cx="420624" cy="292430"/>
          </a:xfrm>
          <a:prstGeom prst="rect">
            <a:avLst/>
          </a:prstGeom>
        </p:spPr>
      </p:pic>
      <p:sp>
        <p:nvSpPr>
          <p:cNvPr id="7" name="TextBox 6"/>
          <p:cNvSpPr txBox="1"/>
          <p:nvPr/>
        </p:nvSpPr>
        <p:spPr>
          <a:xfrm>
            <a:off x="10253167" y="402336"/>
            <a:ext cx="1463040" cy="365760"/>
          </a:xfrm>
          <a:prstGeom prst="rect">
            <a:avLst/>
          </a:prstGeom>
          <a:noFill/>
        </p:spPr>
        <p:txBody>
          <a:bodyPr wrap="square" lIns="0" rIns="0" tIns="0" bIns="0" anchor="t">
            <a:spAutoFit/>
          </a:bodyPr>
          <a:lstStyle/>
          <a:p>
            <a:pPr algn="l">
              <a:lnSpc>
                <a:spcPct val="74074"/>
              </a:lnSpc>
              <a:spcBef>
                <a:spcPts val="0"/>
              </a:spcBef>
              <a:spcAft>
                <a:spcPts val="0"/>
              </a:spcAft>
            </a:pPr>
            <a:r>
              <a:rPr sz="1050" b="1" i="0" spc="150">
                <a:solidFill>
                  <a:srgbClr val="201C15"/>
                </a:solidFill>
                <a:latin typeface="Playfair Display"/>
              </a:rPr>
              <a:t>LEVITATTE</a:t>
            </a:r>
          </a:p>
          <a:p>
            <a:pPr algn="l">
              <a:lnSpc>
                <a:spcPct val="96721"/>
              </a:lnSpc>
              <a:spcBef>
                <a:spcPts val="0"/>
              </a:spcBef>
              <a:spcAft>
                <a:spcPts val="0"/>
              </a:spcAft>
            </a:pPr>
            <a:r>
              <a:rPr sz="459" b="1" i="0" spc="105">
                <a:solidFill>
                  <a:srgbClr val="937425"/>
                </a:solidFill>
                <a:latin typeface="Inter"/>
              </a:rPr>
              <a:t>LEARNING &amp; DEVELOPMENT</a:t>
            </a:r>
          </a:p>
        </p:txBody>
      </p:sp>
      <p:sp>
        <p:nvSpPr>
          <p:cNvPr id="8" name="Rectangle 7"/>
          <p:cNvSpPr/>
          <p:nvPr/>
        </p:nvSpPr>
        <p:spPr>
          <a:xfrm>
            <a:off x="566928" y="6428232"/>
            <a:ext cx="11057839" cy="6858"/>
          </a:xfrm>
          <a:prstGeom prst="rect">
            <a:avLst/>
          </a:prstGeom>
          <a:solidFill>
            <a:srgbClr val="DDD7C8"/>
          </a:solidFill>
          <a:ln>
            <a:noFill/>
          </a:ln>
          <a:effectLst/>
        </p:spPr>
        <p:txBody>
          <a:bodyPr rtlCol="0" anchor="ctr"/>
          <a:lstStyle/>
          <a:p>
            <a:pPr algn="ctr"/>
          </a:p>
        </p:txBody>
      </p:sp>
      <p:sp>
        <p:nvSpPr>
          <p:cNvPr id="9" name="TextBox 8"/>
          <p:cNvSpPr txBox="1"/>
          <p:nvPr/>
        </p:nvSpPr>
        <p:spPr>
          <a:xfrm>
            <a:off x="566928" y="6528816"/>
            <a:ext cx="10509199" cy="164592"/>
          </a:xfrm>
          <a:prstGeom prst="rect">
            <a:avLst/>
          </a:prstGeom>
          <a:noFill/>
        </p:spPr>
        <p:txBody>
          <a:bodyPr wrap="square" lIns="0" rIns="0" tIns="0" bIns="0" anchor="t">
            <a:spAutoFit/>
          </a:bodyPr>
          <a:lstStyle/>
          <a:p>
            <a:pPr algn="l">
              <a:lnSpc>
                <a:spcPct val="96721"/>
              </a:lnSpc>
              <a:spcBef>
                <a:spcPts val="0"/>
              </a:spcBef>
              <a:spcAft>
                <a:spcPts val="0"/>
              </a:spcAft>
            </a:pPr>
            <a:r>
              <a:rPr sz="620" b="0" i="0" spc="60">
                <a:solidFill>
                  <a:srgbClr val="8A867C"/>
                </a:solidFill>
                <a:latin typeface="Inter"/>
              </a:rPr>
              <a:t>LEVITATTE LEARNING &amp; DEVELOPMENT     ·     PROPOSAL FOR DR. RELA INSTITUTE &amp; MEDICAL CENTRE</a:t>
            </a:r>
          </a:p>
        </p:txBody>
      </p:sp>
      <p:sp>
        <p:nvSpPr>
          <p:cNvPr id="10" name="TextBox 9"/>
          <p:cNvSpPr txBox="1"/>
          <p:nvPr/>
        </p:nvSpPr>
        <p:spPr>
          <a:xfrm>
            <a:off x="11076127" y="6528816"/>
            <a:ext cx="548640" cy="164592"/>
          </a:xfrm>
          <a:prstGeom prst="rect">
            <a:avLst/>
          </a:prstGeom>
          <a:noFill/>
        </p:spPr>
        <p:txBody>
          <a:bodyPr wrap="square" lIns="0" rIns="0" tIns="0" bIns="0" anchor="t">
            <a:spAutoFit/>
          </a:bodyPr>
          <a:lstStyle/>
          <a:p>
            <a:pPr algn="r">
              <a:lnSpc>
                <a:spcPct val="96721"/>
              </a:lnSpc>
              <a:spcBef>
                <a:spcPts val="0"/>
              </a:spcBef>
              <a:spcAft>
                <a:spcPts val="0"/>
              </a:spcAft>
            </a:pPr>
            <a:r>
              <a:rPr sz="620" b="1" i="0">
                <a:solidFill>
                  <a:srgbClr val="8A867C"/>
                </a:solidFill>
                <a:latin typeface="Inter"/>
              </a:rPr>
              <a:t>5</a:t>
            </a:r>
          </a:p>
        </p:txBody>
      </p:sp>
      <p:sp>
        <p:nvSpPr>
          <p:cNvPr id="11" name="Rectangle 10"/>
          <p:cNvSpPr/>
          <p:nvPr/>
        </p:nvSpPr>
        <p:spPr>
          <a:xfrm>
            <a:off x="566928" y="1298448"/>
            <a:ext cx="3478682" cy="1107694"/>
          </a:xfrm>
          <a:prstGeom prst="rect">
            <a:avLst/>
          </a:prstGeom>
          <a:solidFill>
            <a:srgbClr val="201C15"/>
          </a:solidFill>
          <a:ln>
            <a:noFill/>
          </a:ln>
          <a:effectLst/>
        </p:spPr>
        <p:txBody>
          <a:bodyPr rtlCol="0" anchor="ctr"/>
          <a:lstStyle/>
          <a:p>
            <a:pPr algn="ctr"/>
          </a:p>
        </p:txBody>
      </p:sp>
      <p:sp>
        <p:nvSpPr>
          <p:cNvPr id="12" name="TextBox 11"/>
          <p:cNvSpPr txBox="1"/>
          <p:nvPr/>
        </p:nvSpPr>
        <p:spPr>
          <a:xfrm>
            <a:off x="749808" y="1435607"/>
            <a:ext cx="3112922" cy="420624"/>
          </a:xfrm>
          <a:prstGeom prst="rect">
            <a:avLst/>
          </a:prstGeom>
          <a:noFill/>
        </p:spPr>
        <p:txBody>
          <a:bodyPr wrap="square" lIns="0" rIns="0" tIns="0" bIns="0" anchor="t">
            <a:spAutoFit/>
          </a:bodyPr>
          <a:lstStyle/>
          <a:p>
            <a:pPr algn="l">
              <a:lnSpc>
                <a:spcPct val="77037"/>
              </a:lnSpc>
              <a:spcBef>
                <a:spcPts val="0"/>
              </a:spcBef>
              <a:spcAft>
                <a:spcPts val="0"/>
              </a:spcAft>
            </a:pPr>
            <a:r>
              <a:rPr sz="2700" b="1" i="0">
                <a:solidFill>
                  <a:srgbClr val="ECE7DA"/>
                </a:solidFill>
                <a:latin typeface="Playfair Display"/>
              </a:rPr>
              <a:t>Rs 2,00,000</a:t>
            </a:r>
          </a:p>
        </p:txBody>
      </p:sp>
      <p:sp>
        <p:nvSpPr>
          <p:cNvPr id="13" name="TextBox 12"/>
          <p:cNvSpPr txBox="1"/>
          <p:nvPr/>
        </p:nvSpPr>
        <p:spPr>
          <a:xfrm>
            <a:off x="749808" y="1874519"/>
            <a:ext cx="3112922" cy="147574"/>
          </a:xfrm>
          <a:prstGeom prst="rect">
            <a:avLst/>
          </a:prstGeom>
          <a:noFill/>
        </p:spPr>
        <p:txBody>
          <a:bodyPr wrap="square" lIns="0" rIns="0" tIns="0" bIns="0" anchor="t">
            <a:spAutoFit/>
          </a:bodyPr>
          <a:lstStyle/>
          <a:p>
            <a:pPr algn="l">
              <a:lnSpc>
                <a:spcPct val="106557"/>
              </a:lnSpc>
              <a:spcBef>
                <a:spcPts val="0"/>
              </a:spcBef>
              <a:spcAft>
                <a:spcPts val="0"/>
              </a:spcAft>
            </a:pPr>
            <a:r>
              <a:rPr sz="700" b="0" i="0">
                <a:solidFill>
                  <a:srgbClr val="A9A292"/>
                </a:solidFill>
                <a:latin typeface="Inter"/>
              </a:rPr>
              <a:t>per month, fixed. GST as applicable.</a:t>
            </a:r>
          </a:p>
        </p:txBody>
      </p:sp>
      <p:sp>
        <p:nvSpPr>
          <p:cNvPr id="14" name="TextBox 13"/>
          <p:cNvSpPr txBox="1"/>
          <p:nvPr/>
        </p:nvSpPr>
        <p:spPr>
          <a:xfrm>
            <a:off x="749808" y="2086101"/>
            <a:ext cx="3112922" cy="182880"/>
          </a:xfrm>
          <a:prstGeom prst="rect">
            <a:avLst/>
          </a:prstGeom>
          <a:noFill/>
        </p:spPr>
        <p:txBody>
          <a:bodyPr wrap="square" lIns="0" rIns="0" tIns="0" bIns="0" anchor="t">
            <a:spAutoFit/>
          </a:bodyPr>
          <a:lstStyle/>
          <a:p>
            <a:pPr algn="l">
              <a:lnSpc>
                <a:spcPct val="106557"/>
              </a:lnSpc>
              <a:spcBef>
                <a:spcPts val="0"/>
              </a:spcBef>
              <a:spcAft>
                <a:spcPts val="0"/>
              </a:spcAft>
            </a:pPr>
            <a:r>
              <a:rPr sz="700" b="1" i="0">
                <a:solidFill>
                  <a:srgbClr val="B08930"/>
                </a:solidFill>
                <a:latin typeface="Inter"/>
              </a:rPr>
              <a:t>Rs 6,00,000 for the 90-day engagement</a:t>
            </a:r>
          </a:p>
        </p:txBody>
      </p:sp>
      <p:sp>
        <p:nvSpPr>
          <p:cNvPr id="15" name="TextBox 14"/>
          <p:cNvSpPr txBox="1"/>
          <p:nvPr/>
        </p:nvSpPr>
        <p:spPr>
          <a:xfrm>
            <a:off x="566928" y="2643886"/>
            <a:ext cx="3478682"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THE ENGAGEMENT AT A GLANCE</a:t>
            </a:r>
          </a:p>
        </p:txBody>
      </p:sp>
      <p:sp>
        <p:nvSpPr>
          <p:cNvPr id="16" name="Rectangle 15"/>
          <p:cNvSpPr/>
          <p:nvPr/>
        </p:nvSpPr>
        <p:spPr>
          <a:xfrm>
            <a:off x="566928" y="2817622"/>
            <a:ext cx="3478682" cy="6858"/>
          </a:xfrm>
          <a:prstGeom prst="rect">
            <a:avLst/>
          </a:prstGeom>
          <a:solidFill>
            <a:srgbClr val="DDD7C8"/>
          </a:solidFill>
          <a:ln>
            <a:noFill/>
          </a:ln>
          <a:effectLst/>
        </p:spPr>
        <p:txBody>
          <a:bodyPr rtlCol="0" anchor="ctr"/>
          <a:lstStyle/>
          <a:p>
            <a:pPr algn="ctr"/>
          </a:p>
        </p:txBody>
      </p:sp>
      <p:sp>
        <p:nvSpPr>
          <p:cNvPr id="17" name="TextBox 16"/>
          <p:cNvSpPr txBox="1"/>
          <p:nvPr/>
        </p:nvSpPr>
        <p:spPr>
          <a:xfrm>
            <a:off x="566928" y="2918205"/>
            <a:ext cx="1280160" cy="292608"/>
          </a:xfrm>
          <a:prstGeom prst="rect">
            <a:avLst/>
          </a:prstGeom>
          <a:noFill/>
        </p:spPr>
        <p:txBody>
          <a:bodyPr wrap="square" lIns="0" rIns="0" tIns="0" bIns="0" anchor="ctr">
            <a:spAutoFit/>
          </a:bodyPr>
          <a:lstStyle/>
          <a:p>
            <a:pPr algn="l">
              <a:lnSpc>
                <a:spcPct val="96721"/>
              </a:lnSpc>
              <a:spcBef>
                <a:spcPts val="0"/>
              </a:spcBef>
              <a:spcAft>
                <a:spcPts val="0"/>
              </a:spcAft>
            </a:pPr>
            <a:r>
              <a:rPr sz="590" b="1" i="0" spc="140">
                <a:solidFill>
                  <a:srgbClr val="937425"/>
                </a:solidFill>
                <a:latin typeface="Inter"/>
              </a:rPr>
              <a:t>ENGAGEMENT DURATION</a:t>
            </a:r>
          </a:p>
        </p:txBody>
      </p:sp>
      <p:sp>
        <p:nvSpPr>
          <p:cNvPr id="18" name="TextBox 17"/>
          <p:cNvSpPr txBox="1"/>
          <p:nvPr/>
        </p:nvSpPr>
        <p:spPr>
          <a:xfrm>
            <a:off x="1956816" y="2918205"/>
            <a:ext cx="2088794" cy="292608"/>
          </a:xfrm>
          <a:prstGeom prst="rect">
            <a:avLst/>
          </a:prstGeom>
          <a:noFill/>
        </p:spPr>
        <p:txBody>
          <a:bodyPr wrap="square" lIns="0" rIns="0" tIns="0" bIns="0" anchor="ctr">
            <a:spAutoFit/>
          </a:bodyPr>
          <a:lstStyle/>
          <a:p>
            <a:pPr algn="l">
              <a:lnSpc>
                <a:spcPct val="93443"/>
              </a:lnSpc>
              <a:spcBef>
                <a:spcPts val="0"/>
              </a:spcBef>
              <a:spcAft>
                <a:spcPts val="0"/>
              </a:spcAft>
            </a:pPr>
            <a:r>
              <a:rPr sz="710" b="0" i="0">
                <a:solidFill>
                  <a:srgbClr val="201C15"/>
                </a:solidFill>
                <a:latin typeface="Inter"/>
              </a:rPr>
              <a:t>90 days (approximately 13 weeks)</a:t>
            </a:r>
          </a:p>
        </p:txBody>
      </p:sp>
      <p:sp>
        <p:nvSpPr>
          <p:cNvPr id="19" name="Rectangle 18"/>
          <p:cNvSpPr/>
          <p:nvPr/>
        </p:nvSpPr>
        <p:spPr>
          <a:xfrm>
            <a:off x="566928" y="3210813"/>
            <a:ext cx="3478682" cy="5486"/>
          </a:xfrm>
          <a:prstGeom prst="rect">
            <a:avLst/>
          </a:prstGeom>
          <a:solidFill>
            <a:srgbClr val="DDD7C8"/>
          </a:solidFill>
          <a:ln>
            <a:noFill/>
          </a:ln>
          <a:effectLst/>
        </p:spPr>
        <p:txBody>
          <a:bodyPr rtlCol="0" anchor="ctr"/>
          <a:lstStyle/>
          <a:p>
            <a:pPr algn="ctr"/>
          </a:p>
        </p:txBody>
      </p:sp>
      <p:sp>
        <p:nvSpPr>
          <p:cNvPr id="20" name="TextBox 19"/>
          <p:cNvSpPr txBox="1"/>
          <p:nvPr/>
        </p:nvSpPr>
        <p:spPr>
          <a:xfrm>
            <a:off x="566928" y="3210813"/>
            <a:ext cx="1280160" cy="292608"/>
          </a:xfrm>
          <a:prstGeom prst="rect">
            <a:avLst/>
          </a:prstGeom>
          <a:noFill/>
        </p:spPr>
        <p:txBody>
          <a:bodyPr wrap="square" lIns="0" rIns="0" tIns="0" bIns="0" anchor="ctr">
            <a:spAutoFit/>
          </a:bodyPr>
          <a:lstStyle/>
          <a:p>
            <a:pPr algn="l">
              <a:lnSpc>
                <a:spcPct val="96721"/>
              </a:lnSpc>
              <a:spcBef>
                <a:spcPts val="0"/>
              </a:spcBef>
              <a:spcAft>
                <a:spcPts val="0"/>
              </a:spcAft>
            </a:pPr>
            <a:r>
              <a:rPr sz="590" b="1" i="0" spc="140">
                <a:solidFill>
                  <a:srgbClr val="937425"/>
                </a:solidFill>
                <a:latin typeface="Inter"/>
              </a:rPr>
              <a:t>TRAINING DAYS</a:t>
            </a:r>
          </a:p>
        </p:txBody>
      </p:sp>
      <p:sp>
        <p:nvSpPr>
          <p:cNvPr id="21" name="TextBox 20"/>
          <p:cNvSpPr txBox="1"/>
          <p:nvPr/>
        </p:nvSpPr>
        <p:spPr>
          <a:xfrm>
            <a:off x="1956816" y="3210813"/>
            <a:ext cx="2088794" cy="292608"/>
          </a:xfrm>
          <a:prstGeom prst="rect">
            <a:avLst/>
          </a:prstGeom>
          <a:noFill/>
        </p:spPr>
        <p:txBody>
          <a:bodyPr wrap="square" lIns="0" rIns="0" tIns="0" bIns="0" anchor="ctr">
            <a:spAutoFit/>
          </a:bodyPr>
          <a:lstStyle/>
          <a:p>
            <a:pPr algn="l">
              <a:lnSpc>
                <a:spcPct val="93443"/>
              </a:lnSpc>
              <a:spcBef>
                <a:spcPts val="0"/>
              </a:spcBef>
              <a:spcAft>
                <a:spcPts val="0"/>
              </a:spcAft>
            </a:pPr>
            <a:r>
              <a:rPr sz="710" b="0" i="0">
                <a:solidFill>
                  <a:srgbClr val="201C15"/>
                </a:solidFill>
                <a:latin typeface="Inter"/>
              </a:rPr>
              <a:t>Every Wednesday, Thursday and Friday</a:t>
            </a:r>
          </a:p>
        </p:txBody>
      </p:sp>
      <p:sp>
        <p:nvSpPr>
          <p:cNvPr id="22" name="Rectangle 21"/>
          <p:cNvSpPr/>
          <p:nvPr/>
        </p:nvSpPr>
        <p:spPr>
          <a:xfrm>
            <a:off x="566928" y="3503421"/>
            <a:ext cx="3478682" cy="5486"/>
          </a:xfrm>
          <a:prstGeom prst="rect">
            <a:avLst/>
          </a:prstGeom>
          <a:solidFill>
            <a:srgbClr val="DDD7C8"/>
          </a:solidFill>
          <a:ln>
            <a:noFill/>
          </a:ln>
          <a:effectLst/>
        </p:spPr>
        <p:txBody>
          <a:bodyPr rtlCol="0" anchor="ctr"/>
          <a:lstStyle/>
          <a:p>
            <a:pPr algn="ctr"/>
          </a:p>
        </p:txBody>
      </p:sp>
      <p:sp>
        <p:nvSpPr>
          <p:cNvPr id="23" name="TextBox 22"/>
          <p:cNvSpPr txBox="1"/>
          <p:nvPr/>
        </p:nvSpPr>
        <p:spPr>
          <a:xfrm>
            <a:off x="566928" y="3503421"/>
            <a:ext cx="1280160" cy="292608"/>
          </a:xfrm>
          <a:prstGeom prst="rect">
            <a:avLst/>
          </a:prstGeom>
          <a:noFill/>
        </p:spPr>
        <p:txBody>
          <a:bodyPr wrap="square" lIns="0" rIns="0" tIns="0" bIns="0" anchor="ctr">
            <a:spAutoFit/>
          </a:bodyPr>
          <a:lstStyle/>
          <a:p>
            <a:pPr algn="l">
              <a:lnSpc>
                <a:spcPct val="96721"/>
              </a:lnSpc>
              <a:spcBef>
                <a:spcPts val="0"/>
              </a:spcBef>
              <a:spcAft>
                <a:spcPts val="0"/>
              </a:spcAft>
            </a:pPr>
            <a:r>
              <a:rPr sz="590" b="1" i="0" spc="140">
                <a:solidFill>
                  <a:srgbClr val="937425"/>
                </a:solidFill>
                <a:latin typeface="Inter"/>
              </a:rPr>
              <a:t>SESSION DURATION</a:t>
            </a:r>
          </a:p>
        </p:txBody>
      </p:sp>
      <p:sp>
        <p:nvSpPr>
          <p:cNvPr id="24" name="TextBox 23"/>
          <p:cNvSpPr txBox="1"/>
          <p:nvPr/>
        </p:nvSpPr>
        <p:spPr>
          <a:xfrm>
            <a:off x="1956816" y="3503421"/>
            <a:ext cx="2088794" cy="292608"/>
          </a:xfrm>
          <a:prstGeom prst="rect">
            <a:avLst/>
          </a:prstGeom>
          <a:noFill/>
        </p:spPr>
        <p:txBody>
          <a:bodyPr wrap="square" lIns="0" rIns="0" tIns="0" bIns="0" anchor="ctr">
            <a:spAutoFit/>
          </a:bodyPr>
          <a:lstStyle/>
          <a:p>
            <a:pPr algn="l">
              <a:lnSpc>
                <a:spcPct val="93443"/>
              </a:lnSpc>
              <a:spcBef>
                <a:spcPts val="0"/>
              </a:spcBef>
              <a:spcAft>
                <a:spcPts val="0"/>
              </a:spcAft>
            </a:pPr>
            <a:r>
              <a:rPr sz="710" b="0" i="0">
                <a:solidFill>
                  <a:srgbClr val="201C15"/>
                </a:solidFill>
                <a:latin typeface="Inter"/>
              </a:rPr>
              <a:t>4 hours per session</a:t>
            </a:r>
          </a:p>
        </p:txBody>
      </p:sp>
      <p:sp>
        <p:nvSpPr>
          <p:cNvPr id="25" name="Rectangle 24"/>
          <p:cNvSpPr/>
          <p:nvPr/>
        </p:nvSpPr>
        <p:spPr>
          <a:xfrm>
            <a:off x="566928" y="3796029"/>
            <a:ext cx="3478682" cy="5486"/>
          </a:xfrm>
          <a:prstGeom prst="rect">
            <a:avLst/>
          </a:prstGeom>
          <a:solidFill>
            <a:srgbClr val="DDD7C8"/>
          </a:solidFill>
          <a:ln>
            <a:noFill/>
          </a:ln>
          <a:effectLst/>
        </p:spPr>
        <p:txBody>
          <a:bodyPr rtlCol="0" anchor="ctr"/>
          <a:lstStyle/>
          <a:p>
            <a:pPr algn="ctr"/>
          </a:p>
        </p:txBody>
      </p:sp>
      <p:sp>
        <p:nvSpPr>
          <p:cNvPr id="26" name="TextBox 25"/>
          <p:cNvSpPr txBox="1"/>
          <p:nvPr/>
        </p:nvSpPr>
        <p:spPr>
          <a:xfrm>
            <a:off x="566928" y="3796029"/>
            <a:ext cx="1280160" cy="292608"/>
          </a:xfrm>
          <a:prstGeom prst="rect">
            <a:avLst/>
          </a:prstGeom>
          <a:noFill/>
        </p:spPr>
        <p:txBody>
          <a:bodyPr wrap="square" lIns="0" rIns="0" tIns="0" bIns="0" anchor="ctr">
            <a:spAutoFit/>
          </a:bodyPr>
          <a:lstStyle/>
          <a:p>
            <a:pPr algn="l">
              <a:lnSpc>
                <a:spcPct val="96721"/>
              </a:lnSpc>
              <a:spcBef>
                <a:spcPts val="0"/>
              </a:spcBef>
              <a:spcAft>
                <a:spcPts val="0"/>
              </a:spcAft>
            </a:pPr>
            <a:r>
              <a:rPr sz="590" b="1" i="0" spc="140">
                <a:solidFill>
                  <a:srgbClr val="937425"/>
                </a:solidFill>
                <a:latin typeface="Inter"/>
              </a:rPr>
              <a:t>BATCH SIZE</a:t>
            </a:r>
          </a:p>
        </p:txBody>
      </p:sp>
      <p:sp>
        <p:nvSpPr>
          <p:cNvPr id="27" name="TextBox 26"/>
          <p:cNvSpPr txBox="1"/>
          <p:nvPr/>
        </p:nvSpPr>
        <p:spPr>
          <a:xfrm>
            <a:off x="1956816" y="3796029"/>
            <a:ext cx="2088794" cy="292608"/>
          </a:xfrm>
          <a:prstGeom prst="rect">
            <a:avLst/>
          </a:prstGeom>
          <a:noFill/>
        </p:spPr>
        <p:txBody>
          <a:bodyPr wrap="square" lIns="0" rIns="0" tIns="0" bIns="0" anchor="ctr">
            <a:spAutoFit/>
          </a:bodyPr>
          <a:lstStyle/>
          <a:p>
            <a:pPr algn="l">
              <a:lnSpc>
                <a:spcPct val="93443"/>
              </a:lnSpc>
              <a:spcBef>
                <a:spcPts val="0"/>
              </a:spcBef>
              <a:spcAft>
                <a:spcPts val="0"/>
              </a:spcAft>
            </a:pPr>
            <a:r>
              <a:rPr sz="710" b="0" i="0">
                <a:solidFill>
                  <a:srgbClr val="201C15"/>
                </a:solidFill>
                <a:latin typeface="Inter"/>
              </a:rPr>
              <a:t>Up to 30 participants per batch</a:t>
            </a:r>
          </a:p>
        </p:txBody>
      </p:sp>
      <p:sp>
        <p:nvSpPr>
          <p:cNvPr id="28" name="Rectangle 27"/>
          <p:cNvSpPr/>
          <p:nvPr/>
        </p:nvSpPr>
        <p:spPr>
          <a:xfrm>
            <a:off x="566928" y="4088638"/>
            <a:ext cx="3478682" cy="5486"/>
          </a:xfrm>
          <a:prstGeom prst="rect">
            <a:avLst/>
          </a:prstGeom>
          <a:solidFill>
            <a:srgbClr val="DDD7C8"/>
          </a:solidFill>
          <a:ln>
            <a:noFill/>
          </a:ln>
          <a:effectLst/>
        </p:spPr>
        <p:txBody>
          <a:bodyPr rtlCol="0" anchor="ctr"/>
          <a:lstStyle/>
          <a:p>
            <a:pPr algn="ctr"/>
          </a:p>
        </p:txBody>
      </p:sp>
      <p:sp>
        <p:nvSpPr>
          <p:cNvPr id="29" name="TextBox 28"/>
          <p:cNvSpPr txBox="1"/>
          <p:nvPr/>
        </p:nvSpPr>
        <p:spPr>
          <a:xfrm>
            <a:off x="566928" y="4088638"/>
            <a:ext cx="1280160" cy="315315"/>
          </a:xfrm>
          <a:prstGeom prst="rect">
            <a:avLst/>
          </a:prstGeom>
          <a:noFill/>
        </p:spPr>
        <p:txBody>
          <a:bodyPr wrap="square" lIns="0" rIns="0" tIns="0" bIns="0" anchor="ctr">
            <a:spAutoFit/>
          </a:bodyPr>
          <a:lstStyle/>
          <a:p>
            <a:pPr algn="l">
              <a:lnSpc>
                <a:spcPct val="96721"/>
              </a:lnSpc>
              <a:spcBef>
                <a:spcPts val="0"/>
              </a:spcBef>
              <a:spcAft>
                <a:spcPts val="0"/>
              </a:spcAft>
            </a:pPr>
            <a:r>
              <a:rPr sz="590" b="1" i="0" spc="140">
                <a:solidFill>
                  <a:srgbClr val="937425"/>
                </a:solidFill>
                <a:latin typeface="Inter"/>
              </a:rPr>
              <a:t>SESSIONS IN THE ENGAGEMENT</a:t>
            </a:r>
          </a:p>
        </p:txBody>
      </p:sp>
      <p:sp>
        <p:nvSpPr>
          <p:cNvPr id="30" name="TextBox 29"/>
          <p:cNvSpPr txBox="1"/>
          <p:nvPr/>
        </p:nvSpPr>
        <p:spPr>
          <a:xfrm>
            <a:off x="1956816" y="4088638"/>
            <a:ext cx="2088794" cy="315315"/>
          </a:xfrm>
          <a:prstGeom prst="rect">
            <a:avLst/>
          </a:prstGeom>
          <a:noFill/>
        </p:spPr>
        <p:txBody>
          <a:bodyPr wrap="square" lIns="0" rIns="0" tIns="0" bIns="0" anchor="ctr">
            <a:spAutoFit/>
          </a:bodyPr>
          <a:lstStyle/>
          <a:p>
            <a:pPr algn="l">
              <a:lnSpc>
                <a:spcPct val="93443"/>
              </a:lnSpc>
              <a:spcBef>
                <a:spcPts val="0"/>
              </a:spcBef>
              <a:spcAft>
                <a:spcPts val="0"/>
              </a:spcAft>
            </a:pPr>
            <a:r>
              <a:rPr sz="710" b="0" i="0">
                <a:solidFill>
                  <a:srgbClr val="201C15"/>
                </a:solidFill>
                <a:latin typeface="Inter"/>
              </a:rPr>
              <a:t>Up to 39 (36 to 39 subject to start date and hospital holidays)</a:t>
            </a:r>
          </a:p>
        </p:txBody>
      </p:sp>
      <p:sp>
        <p:nvSpPr>
          <p:cNvPr id="31" name="Rectangle 30"/>
          <p:cNvSpPr/>
          <p:nvPr/>
        </p:nvSpPr>
        <p:spPr>
          <a:xfrm>
            <a:off x="566928" y="4403953"/>
            <a:ext cx="3478682" cy="5486"/>
          </a:xfrm>
          <a:prstGeom prst="rect">
            <a:avLst/>
          </a:prstGeom>
          <a:solidFill>
            <a:srgbClr val="DDD7C8"/>
          </a:solidFill>
          <a:ln>
            <a:noFill/>
          </a:ln>
          <a:effectLst/>
        </p:spPr>
        <p:txBody>
          <a:bodyPr rtlCol="0" anchor="ctr"/>
          <a:lstStyle/>
          <a:p>
            <a:pPr algn="ctr"/>
          </a:p>
        </p:txBody>
      </p:sp>
      <p:sp>
        <p:nvSpPr>
          <p:cNvPr id="32" name="TextBox 31"/>
          <p:cNvSpPr txBox="1"/>
          <p:nvPr/>
        </p:nvSpPr>
        <p:spPr>
          <a:xfrm>
            <a:off x="566928" y="4403953"/>
            <a:ext cx="1280160" cy="292608"/>
          </a:xfrm>
          <a:prstGeom prst="rect">
            <a:avLst/>
          </a:prstGeom>
          <a:noFill/>
        </p:spPr>
        <p:txBody>
          <a:bodyPr wrap="square" lIns="0" rIns="0" tIns="0" bIns="0" anchor="ctr">
            <a:spAutoFit/>
          </a:bodyPr>
          <a:lstStyle/>
          <a:p>
            <a:pPr algn="l">
              <a:lnSpc>
                <a:spcPct val="96721"/>
              </a:lnSpc>
              <a:spcBef>
                <a:spcPts val="0"/>
              </a:spcBef>
              <a:spcAft>
                <a:spcPts val="0"/>
              </a:spcAft>
            </a:pPr>
            <a:r>
              <a:rPr sz="590" b="1" i="0" spc="140">
                <a:solidFill>
                  <a:srgbClr val="937425"/>
                </a:solidFill>
                <a:latin typeface="Inter"/>
              </a:rPr>
              <a:t>FACILITATOR-LED HOURS</a:t>
            </a:r>
          </a:p>
        </p:txBody>
      </p:sp>
      <p:sp>
        <p:nvSpPr>
          <p:cNvPr id="33" name="TextBox 32"/>
          <p:cNvSpPr txBox="1"/>
          <p:nvPr/>
        </p:nvSpPr>
        <p:spPr>
          <a:xfrm>
            <a:off x="1956816" y="4403953"/>
            <a:ext cx="2088794" cy="292608"/>
          </a:xfrm>
          <a:prstGeom prst="rect">
            <a:avLst/>
          </a:prstGeom>
          <a:noFill/>
        </p:spPr>
        <p:txBody>
          <a:bodyPr wrap="square" lIns="0" rIns="0" tIns="0" bIns="0" anchor="ctr">
            <a:spAutoFit/>
          </a:bodyPr>
          <a:lstStyle/>
          <a:p>
            <a:pPr algn="l">
              <a:lnSpc>
                <a:spcPct val="93443"/>
              </a:lnSpc>
              <a:spcBef>
                <a:spcPts val="0"/>
              </a:spcBef>
              <a:spcAft>
                <a:spcPts val="0"/>
              </a:spcAft>
            </a:pPr>
            <a:r>
              <a:rPr sz="710" b="0" i="0">
                <a:solidFill>
                  <a:srgbClr val="201C15"/>
                </a:solidFill>
                <a:latin typeface="Inter"/>
              </a:rPr>
              <a:t>Up to 156 hours (144 to 156)</a:t>
            </a:r>
          </a:p>
        </p:txBody>
      </p:sp>
      <p:sp>
        <p:nvSpPr>
          <p:cNvPr id="34" name="TextBox 33"/>
          <p:cNvSpPr txBox="1"/>
          <p:nvPr/>
        </p:nvSpPr>
        <p:spPr>
          <a:xfrm>
            <a:off x="4356506" y="1298448"/>
            <a:ext cx="3478682"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WHAT THE FEE COVERS</a:t>
            </a:r>
          </a:p>
        </p:txBody>
      </p:sp>
      <p:sp>
        <p:nvSpPr>
          <p:cNvPr id="35" name="Rectangle 34"/>
          <p:cNvSpPr/>
          <p:nvPr/>
        </p:nvSpPr>
        <p:spPr>
          <a:xfrm>
            <a:off x="4356506" y="1472184"/>
            <a:ext cx="3478682" cy="6858"/>
          </a:xfrm>
          <a:prstGeom prst="rect">
            <a:avLst/>
          </a:prstGeom>
          <a:solidFill>
            <a:srgbClr val="DDD7C8"/>
          </a:solidFill>
          <a:ln>
            <a:noFill/>
          </a:ln>
          <a:effectLst/>
        </p:spPr>
        <p:txBody>
          <a:bodyPr rtlCol="0" anchor="ctr"/>
          <a:lstStyle/>
          <a:p>
            <a:pPr algn="ctr"/>
          </a:p>
        </p:txBody>
      </p:sp>
      <p:sp>
        <p:nvSpPr>
          <p:cNvPr id="36" name="Rectangle 35"/>
          <p:cNvSpPr/>
          <p:nvPr/>
        </p:nvSpPr>
        <p:spPr>
          <a:xfrm>
            <a:off x="4356506" y="1572768"/>
            <a:ext cx="3478682" cy="701040"/>
          </a:xfrm>
          <a:prstGeom prst="rect">
            <a:avLst/>
          </a:prstGeom>
          <a:solidFill>
            <a:srgbClr val="FCF8EF"/>
          </a:solidFill>
          <a:ln w="6350">
            <a:solidFill>
              <a:srgbClr val="DDD7C8"/>
            </a:solidFill>
          </a:ln>
          <a:effectLst/>
        </p:spPr>
        <p:txBody>
          <a:bodyPr rtlCol="0" anchor="ctr"/>
          <a:lstStyle/>
          <a:p>
            <a:pPr algn="ctr"/>
          </a:p>
        </p:txBody>
      </p:sp>
      <p:sp>
        <p:nvSpPr>
          <p:cNvPr id="37" name="Rectangle 36"/>
          <p:cNvSpPr/>
          <p:nvPr/>
        </p:nvSpPr>
        <p:spPr>
          <a:xfrm>
            <a:off x="4356506" y="1572768"/>
            <a:ext cx="25603" cy="701040"/>
          </a:xfrm>
          <a:prstGeom prst="rect">
            <a:avLst/>
          </a:prstGeom>
          <a:solidFill>
            <a:srgbClr val="937425"/>
          </a:solidFill>
          <a:ln>
            <a:noFill/>
          </a:ln>
          <a:effectLst/>
        </p:spPr>
        <p:txBody>
          <a:bodyPr rtlCol="0" anchor="ctr"/>
          <a:lstStyle/>
          <a:p>
            <a:pPr algn="ctr"/>
          </a:p>
        </p:txBody>
      </p:sp>
      <p:sp>
        <p:nvSpPr>
          <p:cNvPr id="38" name="TextBox 37"/>
          <p:cNvSpPr txBox="1"/>
          <p:nvPr/>
        </p:nvSpPr>
        <p:spPr>
          <a:xfrm>
            <a:off x="4539386" y="1572768"/>
            <a:ext cx="3112922" cy="701040"/>
          </a:xfrm>
          <a:prstGeom prst="rect">
            <a:avLst/>
          </a:prstGeom>
          <a:noFill/>
        </p:spPr>
        <p:txBody>
          <a:bodyPr wrap="square" lIns="0" rIns="0" tIns="0" bIns="0" anchor="ctr">
            <a:spAutoFit/>
          </a:bodyPr>
          <a:lstStyle/>
          <a:p>
            <a:pPr algn="l">
              <a:lnSpc>
                <a:spcPct val="106557"/>
              </a:lnSpc>
              <a:spcBef>
                <a:spcPts val="0"/>
              </a:spcBef>
              <a:spcAft>
                <a:spcPts val="0"/>
              </a:spcAft>
            </a:pPr>
            <a:r>
              <a:rPr sz="760" b="0" i="1">
                <a:solidFill>
                  <a:srgbClr val="4A4233"/>
                </a:solidFill>
                <a:latin typeface="Inter"/>
              </a:rPr>
              <a:t>One fixed monthly fee of Rs 2,00,000, GST as applicable, for the full ninety days. Nothing in the programme is charged per session, per module or per participant.</a:t>
            </a:r>
          </a:p>
        </p:txBody>
      </p:sp>
      <p:sp>
        <p:nvSpPr>
          <p:cNvPr id="39" name="TextBox 38"/>
          <p:cNvSpPr txBox="1"/>
          <p:nvPr/>
        </p:nvSpPr>
        <p:spPr>
          <a:xfrm>
            <a:off x="4356506" y="2438400"/>
            <a:ext cx="3478682" cy="798880"/>
          </a:xfrm>
          <a:prstGeom prst="rect">
            <a:avLst/>
          </a:prstGeom>
          <a:noFill/>
        </p:spPr>
        <p:txBody>
          <a:bodyPr wrap="square" lIns="0" rIns="0" tIns="0" bIns="0" anchor="t">
            <a:spAutoFit/>
          </a:bodyPr>
          <a:lstStyle/>
          <a:p>
            <a:pPr algn="just">
              <a:lnSpc>
                <a:spcPct val="111475"/>
              </a:lnSpc>
              <a:spcBef>
                <a:spcPts val="0"/>
              </a:spcBef>
              <a:spcAft>
                <a:spcPts val="0"/>
              </a:spcAft>
            </a:pPr>
            <a:r>
              <a:rPr sz="740" b="0" i="0">
                <a:solidFill>
                  <a:srgbClr val="555149"/>
                </a:solidFill>
                <a:latin typeface="Inter"/>
              </a:rPr>
              <a:t>The fee is one fixed monthly charge, not a per-session or per-participant rate, so the cost is known at the outset and does not rise as more people are nominated. It covers the diagnose stage, design and customisation of all twelve modules and the induction programme, facilitation, guides, materials and job aids, assessments, observation, records, monthly reporting and management reviews.</a:t>
            </a:r>
          </a:p>
        </p:txBody>
      </p:sp>
      <p:sp>
        <p:nvSpPr>
          <p:cNvPr id="40" name="TextBox 39"/>
          <p:cNvSpPr txBox="1"/>
          <p:nvPr/>
        </p:nvSpPr>
        <p:spPr>
          <a:xfrm>
            <a:off x="4356506" y="3456736"/>
            <a:ext cx="3478682"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TERMS</a:t>
            </a:r>
          </a:p>
        </p:txBody>
      </p:sp>
      <p:sp>
        <p:nvSpPr>
          <p:cNvPr id="41" name="Rectangle 40"/>
          <p:cNvSpPr/>
          <p:nvPr/>
        </p:nvSpPr>
        <p:spPr>
          <a:xfrm>
            <a:off x="4356506" y="3630472"/>
            <a:ext cx="3478682" cy="6858"/>
          </a:xfrm>
          <a:prstGeom prst="rect">
            <a:avLst/>
          </a:prstGeom>
          <a:solidFill>
            <a:srgbClr val="DDD7C8"/>
          </a:solidFill>
          <a:ln>
            <a:noFill/>
          </a:ln>
          <a:effectLst/>
        </p:spPr>
        <p:txBody>
          <a:bodyPr rtlCol="0" anchor="ctr"/>
          <a:lstStyle/>
          <a:p>
            <a:pPr algn="ctr"/>
          </a:p>
        </p:txBody>
      </p:sp>
      <p:sp>
        <p:nvSpPr>
          <p:cNvPr id="42" name="TextBox 41"/>
          <p:cNvSpPr txBox="1"/>
          <p:nvPr/>
        </p:nvSpPr>
        <p:spPr>
          <a:xfrm>
            <a:off x="4356506" y="3731056"/>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43" name="TextBox 42"/>
          <p:cNvSpPr txBox="1"/>
          <p:nvPr/>
        </p:nvSpPr>
        <p:spPr>
          <a:xfrm>
            <a:off x="4511954" y="3731056"/>
            <a:ext cx="3323234" cy="146100"/>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Invoices are raised monthly in arrears. GST as applicable.</a:t>
            </a:r>
          </a:p>
        </p:txBody>
      </p:sp>
      <p:sp>
        <p:nvSpPr>
          <p:cNvPr id="44" name="TextBox 43"/>
          <p:cNvSpPr txBox="1"/>
          <p:nvPr/>
        </p:nvSpPr>
        <p:spPr>
          <a:xfrm>
            <a:off x="4356506" y="3996029"/>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45" name="TextBox 44"/>
          <p:cNvSpPr txBox="1"/>
          <p:nvPr/>
        </p:nvSpPr>
        <p:spPr>
          <a:xfrm>
            <a:off x="4511954" y="3996029"/>
            <a:ext cx="3323234" cy="401726"/>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The calendar is confirmed jointly before commencement, and sessions missed for hospital reasons are rescheduled within the engagement window where possible.</a:t>
            </a:r>
          </a:p>
        </p:txBody>
      </p:sp>
      <p:sp>
        <p:nvSpPr>
          <p:cNvPr id="46" name="TextBox 45"/>
          <p:cNvSpPr txBox="1"/>
          <p:nvPr/>
        </p:nvSpPr>
        <p:spPr>
          <a:xfrm>
            <a:off x="4356506" y="4516628"/>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47" name="TextBox 46"/>
          <p:cNvSpPr txBox="1"/>
          <p:nvPr/>
        </p:nvSpPr>
        <p:spPr>
          <a:xfrm>
            <a:off x="4511954" y="4516628"/>
            <a:ext cx="3323234" cy="146100"/>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Hospital data is treated as confidential.</a:t>
            </a:r>
          </a:p>
        </p:txBody>
      </p:sp>
      <p:sp>
        <p:nvSpPr>
          <p:cNvPr id="48" name="TextBox 47"/>
          <p:cNvSpPr txBox="1"/>
          <p:nvPr/>
        </p:nvSpPr>
        <p:spPr>
          <a:xfrm>
            <a:off x="8146084" y="1298448"/>
            <a:ext cx="3478682" cy="155448"/>
          </a:xfrm>
          <a:prstGeom prst="rect">
            <a:avLst/>
          </a:prstGeom>
          <a:noFill/>
        </p:spPr>
        <p:txBody>
          <a:bodyPr wrap="square" lIns="0" rIns="0" tIns="0" bIns="0" anchor="t">
            <a:spAutoFit/>
          </a:bodyPr>
          <a:lstStyle/>
          <a:p>
            <a:pPr algn="l">
              <a:lnSpc>
                <a:spcPct val="96721"/>
              </a:lnSpc>
              <a:spcBef>
                <a:spcPts val="0"/>
              </a:spcBef>
              <a:spcAft>
                <a:spcPts val="0"/>
              </a:spcAft>
            </a:pPr>
            <a:r>
              <a:rPr sz="660" b="1" i="0" spc="210">
                <a:solidFill>
                  <a:srgbClr val="937425"/>
                </a:solidFill>
                <a:latin typeface="Inter"/>
              </a:rPr>
              <a:t>WHAT WE WOULD NEED FROM THE HOSPITAL</a:t>
            </a:r>
          </a:p>
        </p:txBody>
      </p:sp>
      <p:sp>
        <p:nvSpPr>
          <p:cNvPr id="49" name="Rectangle 48"/>
          <p:cNvSpPr/>
          <p:nvPr/>
        </p:nvSpPr>
        <p:spPr>
          <a:xfrm>
            <a:off x="8146084" y="1472184"/>
            <a:ext cx="3478682" cy="6858"/>
          </a:xfrm>
          <a:prstGeom prst="rect">
            <a:avLst/>
          </a:prstGeom>
          <a:solidFill>
            <a:srgbClr val="DDD7C8"/>
          </a:solidFill>
          <a:ln>
            <a:noFill/>
          </a:ln>
          <a:effectLst/>
        </p:spPr>
        <p:txBody>
          <a:bodyPr rtlCol="0" anchor="ctr"/>
          <a:lstStyle/>
          <a:p>
            <a:pPr algn="ctr"/>
          </a:p>
        </p:txBody>
      </p:sp>
      <p:sp>
        <p:nvSpPr>
          <p:cNvPr id="50" name="TextBox 49"/>
          <p:cNvSpPr txBox="1"/>
          <p:nvPr/>
        </p:nvSpPr>
        <p:spPr>
          <a:xfrm>
            <a:off x="8146084" y="1572768"/>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51" name="TextBox 50"/>
          <p:cNvSpPr txBox="1"/>
          <p:nvPr/>
        </p:nvSpPr>
        <p:spPr>
          <a:xfrm>
            <a:off x="8301532" y="1572768"/>
            <a:ext cx="3323234" cy="273913"/>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A single point of contact from HR or L&amp;D, and confirmed batch nominations ahead of each module block</a:t>
            </a:r>
          </a:p>
        </p:txBody>
      </p:sp>
      <p:sp>
        <p:nvSpPr>
          <p:cNvPr id="52" name="TextBox 51"/>
          <p:cNvSpPr txBox="1"/>
          <p:nvPr/>
        </p:nvSpPr>
        <p:spPr>
          <a:xfrm>
            <a:off x="8146084" y="1974697"/>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53" name="TextBox 52"/>
          <p:cNvSpPr txBox="1"/>
          <p:nvPr/>
        </p:nvSpPr>
        <p:spPr>
          <a:xfrm>
            <a:off x="8301532" y="1974697"/>
            <a:ext cx="3323234" cy="273913"/>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Participants released for the full four hours, and a training room with projection for up to 30</a:t>
            </a:r>
          </a:p>
        </p:txBody>
      </p:sp>
      <p:sp>
        <p:nvSpPr>
          <p:cNvPr id="54" name="TextBox 53"/>
          <p:cNvSpPr txBox="1"/>
          <p:nvPr/>
        </p:nvSpPr>
        <p:spPr>
          <a:xfrm>
            <a:off x="8146084" y="2376627"/>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55" name="TextBox 54"/>
          <p:cNvSpPr txBox="1"/>
          <p:nvPr/>
        </p:nvSpPr>
        <p:spPr>
          <a:xfrm>
            <a:off x="8301532" y="2376627"/>
            <a:ext cx="3323234" cy="273913"/>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Access to anonymised patient-feedback and complaint themes for case studies, and permission for on-the-job observation</a:t>
            </a:r>
          </a:p>
        </p:txBody>
      </p:sp>
      <p:sp>
        <p:nvSpPr>
          <p:cNvPr id="56" name="TextBox 55"/>
          <p:cNvSpPr txBox="1"/>
          <p:nvPr/>
        </p:nvSpPr>
        <p:spPr>
          <a:xfrm>
            <a:off x="8146084" y="2778556"/>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57" name="TextBox 56"/>
          <p:cNvSpPr txBox="1"/>
          <p:nvPr/>
        </p:nvSpPr>
        <p:spPr>
          <a:xfrm>
            <a:off x="8301532" y="2778556"/>
            <a:ext cx="3323234" cy="273913"/>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Nominated subject-matter experts for clinical, statutory and policy content, plus the hospital's own SOPs and service standards</a:t>
            </a:r>
          </a:p>
        </p:txBody>
      </p:sp>
      <p:sp>
        <p:nvSpPr>
          <p:cNvPr id="58" name="TextBox 57"/>
          <p:cNvSpPr txBox="1"/>
          <p:nvPr/>
        </p:nvSpPr>
        <p:spPr>
          <a:xfrm>
            <a:off x="8146084" y="3180486"/>
            <a:ext cx="146304" cy="182880"/>
          </a:xfrm>
          <a:prstGeom prst="rect">
            <a:avLst/>
          </a:prstGeom>
          <a:noFill/>
        </p:spPr>
        <p:txBody>
          <a:bodyPr wrap="square" lIns="0" rIns="0" tIns="0" bIns="0" anchor="t">
            <a:spAutoFit/>
          </a:bodyPr>
          <a:lstStyle/>
          <a:p>
            <a:pPr algn="l">
              <a:lnSpc>
                <a:spcPct val="111475"/>
              </a:lnSpc>
              <a:spcBef>
                <a:spcPts val="0"/>
              </a:spcBef>
              <a:spcAft>
                <a:spcPts val="0"/>
              </a:spcAft>
            </a:pPr>
            <a:r>
              <a:rPr sz="740" b="1" i="0">
                <a:solidFill>
                  <a:srgbClr val="B08930"/>
                </a:solidFill>
                <a:latin typeface="Inter"/>
              </a:rPr>
              <a:t>–</a:t>
            </a:r>
          </a:p>
        </p:txBody>
      </p:sp>
      <p:sp>
        <p:nvSpPr>
          <p:cNvPr id="59" name="TextBox 58"/>
          <p:cNvSpPr txBox="1"/>
          <p:nvPr/>
        </p:nvSpPr>
        <p:spPr>
          <a:xfrm>
            <a:off x="8301532" y="3180486"/>
            <a:ext cx="3323234" cy="146100"/>
          </a:xfrm>
          <a:prstGeom prst="rect">
            <a:avLst/>
          </a:prstGeom>
          <a:noFill/>
        </p:spPr>
        <p:txBody>
          <a:bodyPr wrap="square" lIns="0" rIns="0" tIns="0" bIns="0" anchor="t">
            <a:spAutoFit/>
          </a:bodyPr>
          <a:lstStyle/>
          <a:p>
            <a:pPr algn="l">
              <a:lnSpc>
                <a:spcPct val="111475"/>
              </a:lnSpc>
              <a:spcBef>
                <a:spcPts val="0"/>
              </a:spcBef>
              <a:spcAft>
                <a:spcPts val="0"/>
              </a:spcAft>
            </a:pPr>
            <a:r>
              <a:rPr sz="740" b="0" i="0">
                <a:solidFill>
                  <a:srgbClr val="555149"/>
                </a:solidFill>
                <a:latin typeface="Inter"/>
              </a:rPr>
              <a:t>The legal entity name and billing details for invoicing</a:t>
            </a:r>
          </a:p>
        </p:txBody>
      </p:sp>
      <p:sp>
        <p:nvSpPr>
          <p:cNvPr id="60" name="Rectangle 59"/>
          <p:cNvSpPr/>
          <p:nvPr/>
        </p:nvSpPr>
        <p:spPr>
          <a:xfrm>
            <a:off x="8146084" y="3564331"/>
            <a:ext cx="3478682" cy="624840"/>
          </a:xfrm>
          <a:prstGeom prst="rect">
            <a:avLst/>
          </a:prstGeom>
          <a:solidFill>
            <a:srgbClr val="FCF8EF"/>
          </a:solidFill>
          <a:ln w="6350">
            <a:solidFill>
              <a:srgbClr val="DDD7C8"/>
            </a:solidFill>
          </a:ln>
          <a:effectLst/>
        </p:spPr>
        <p:txBody>
          <a:bodyPr rtlCol="0" anchor="ctr"/>
          <a:lstStyle/>
          <a:p>
            <a:pPr algn="ctr"/>
          </a:p>
        </p:txBody>
      </p:sp>
      <p:sp>
        <p:nvSpPr>
          <p:cNvPr id="61" name="TextBox 60"/>
          <p:cNvSpPr txBox="1"/>
          <p:nvPr/>
        </p:nvSpPr>
        <p:spPr>
          <a:xfrm>
            <a:off x="8292388" y="3692347"/>
            <a:ext cx="3186074" cy="368808"/>
          </a:xfrm>
          <a:prstGeom prst="rect">
            <a:avLst/>
          </a:prstGeom>
          <a:noFill/>
        </p:spPr>
        <p:txBody>
          <a:bodyPr wrap="square" lIns="0" rIns="0" tIns="0" bIns="0" anchor="t">
            <a:spAutoFit/>
          </a:bodyPr>
          <a:lstStyle/>
          <a:p>
            <a:pPr algn="l">
              <a:lnSpc>
                <a:spcPct val="106557"/>
              </a:lnSpc>
              <a:spcBef>
                <a:spcPts val="0"/>
              </a:spcBef>
              <a:spcAft>
                <a:spcPts val="0"/>
              </a:spcAft>
            </a:pPr>
            <a:r>
              <a:rPr sz="620" b="1" i="0" spc="160">
                <a:solidFill>
                  <a:srgbClr val="937425"/>
                </a:solidFill>
                <a:latin typeface="Inter"/>
              </a:rPr>
              <a:t>NOTE   </a:t>
            </a:r>
            <a:r>
              <a:rPr sz="680" b="0" i="1">
                <a:solidFill>
                  <a:srgbClr val="555149"/>
                </a:solidFill>
                <a:latin typeface="Inter"/>
              </a:rPr>
              <a:t>Clinical, statutory and policy-specific training content will be developed or delivered in coordination with authorised hospital representatives and subject-matter experts.</a:t>
            </a:r>
          </a:p>
        </p:txBody>
      </p:sp>
      <p:sp>
        <p:nvSpPr>
          <p:cNvPr id="62" name="Rectangle 61"/>
          <p:cNvSpPr/>
          <p:nvPr/>
        </p:nvSpPr>
        <p:spPr>
          <a:xfrm>
            <a:off x="566928" y="4970881"/>
            <a:ext cx="11057839" cy="1329334"/>
          </a:xfrm>
          <a:prstGeom prst="rect">
            <a:avLst/>
          </a:prstGeom>
          <a:solidFill>
            <a:srgbClr val="201C15"/>
          </a:solidFill>
          <a:ln>
            <a:noFill/>
          </a:ln>
          <a:effectLst/>
        </p:spPr>
        <p:txBody>
          <a:bodyPr rtlCol="0" anchor="ctr"/>
          <a:lstStyle/>
          <a:p>
            <a:pPr algn="ctr"/>
          </a:p>
        </p:txBody>
      </p:sp>
      <p:sp>
        <p:nvSpPr>
          <p:cNvPr id="63" name="TextBox 62"/>
          <p:cNvSpPr txBox="1"/>
          <p:nvPr/>
        </p:nvSpPr>
        <p:spPr>
          <a:xfrm>
            <a:off x="841247" y="5378056"/>
            <a:ext cx="6766560" cy="274320"/>
          </a:xfrm>
          <a:prstGeom prst="rect">
            <a:avLst/>
          </a:prstGeom>
          <a:noFill/>
        </p:spPr>
        <p:txBody>
          <a:bodyPr wrap="square" lIns="0" rIns="0" tIns="0" bIns="0" anchor="t">
            <a:spAutoFit/>
          </a:bodyPr>
          <a:lstStyle/>
          <a:p>
            <a:pPr algn="l">
              <a:lnSpc>
                <a:spcPct val="88889"/>
              </a:lnSpc>
              <a:spcBef>
                <a:spcPts val="0"/>
              </a:spcBef>
              <a:spcAft>
                <a:spcPts val="0"/>
              </a:spcAft>
            </a:pPr>
            <a:r>
              <a:rPr sz="1300" b="1" i="1">
                <a:solidFill>
                  <a:srgbClr val="B08930"/>
                </a:solidFill>
                <a:latin typeface="Playfair Display"/>
              </a:rPr>
              <a:t>Competent.  Compassionate.  Confident.  Accountable.  Patient-First.</a:t>
            </a:r>
          </a:p>
        </p:txBody>
      </p:sp>
      <p:sp>
        <p:nvSpPr>
          <p:cNvPr id="64" name="TextBox 63"/>
          <p:cNvSpPr txBox="1"/>
          <p:nvPr/>
        </p:nvSpPr>
        <p:spPr>
          <a:xfrm>
            <a:off x="841247" y="5743816"/>
            <a:ext cx="6766560" cy="149225"/>
          </a:xfrm>
          <a:prstGeom prst="rect">
            <a:avLst/>
          </a:prstGeom>
          <a:noFill/>
        </p:spPr>
        <p:txBody>
          <a:bodyPr wrap="square" lIns="0" rIns="0" tIns="0" bIns="0" anchor="t">
            <a:spAutoFit/>
          </a:bodyPr>
          <a:lstStyle/>
          <a:p>
            <a:pPr algn="l">
              <a:lnSpc>
                <a:spcPct val="106557"/>
              </a:lnSpc>
              <a:spcBef>
                <a:spcPts val="0"/>
              </a:spcBef>
              <a:spcAft>
                <a:spcPts val="0"/>
              </a:spcAft>
            </a:pPr>
            <a:r>
              <a:rPr sz="710" b="0" i="1">
                <a:solidFill>
                  <a:srgbClr val="A9A292"/>
                </a:solidFill>
                <a:latin typeface="Inter"/>
              </a:rPr>
              <a:t>We would welcome the chance to walk your team through this in person and to adjust the design in light of what you know about your own floors.</a:t>
            </a:r>
          </a:p>
        </p:txBody>
      </p:sp>
      <p:sp>
        <p:nvSpPr>
          <p:cNvPr id="65" name="TextBox 64"/>
          <p:cNvSpPr txBox="1"/>
          <p:nvPr/>
        </p:nvSpPr>
        <p:spPr>
          <a:xfrm>
            <a:off x="7882127" y="4970881"/>
            <a:ext cx="3468319" cy="1329334"/>
          </a:xfrm>
          <a:prstGeom prst="rect">
            <a:avLst/>
          </a:prstGeom>
          <a:noFill/>
        </p:spPr>
        <p:txBody>
          <a:bodyPr wrap="square" lIns="0" rIns="0" tIns="0" bIns="0" anchor="ctr">
            <a:spAutoFit/>
          </a:bodyPr>
          <a:lstStyle/>
          <a:p>
            <a:pPr algn="r">
              <a:lnSpc>
                <a:spcPct val="81481"/>
              </a:lnSpc>
              <a:spcBef>
                <a:spcPts val="0"/>
              </a:spcBef>
              <a:spcAft>
                <a:spcPts val="0"/>
              </a:spcAft>
            </a:pPr>
            <a:r>
              <a:rPr sz="1300" b="1" i="0">
                <a:solidFill>
                  <a:srgbClr val="ECE7DA"/>
                </a:solidFill>
                <a:latin typeface="Playfair Display"/>
              </a:rPr>
              <a:t>Kavitha Pillai</a:t>
            </a:r>
          </a:p>
          <a:p>
            <a:pPr algn="r">
              <a:lnSpc>
                <a:spcPct val="96721"/>
              </a:lnSpc>
              <a:spcBef>
                <a:spcPts val="0"/>
              </a:spcBef>
              <a:spcAft>
                <a:spcPts val="0"/>
              </a:spcAft>
            </a:pPr>
            <a:r>
              <a:rPr sz="660" b="1" i="0" spc="120">
                <a:solidFill>
                  <a:srgbClr val="B08930"/>
                </a:solidFill>
                <a:latin typeface="Inter"/>
              </a:rPr>
              <a:t>Managing Director &amp; Head of Training</a:t>
            </a:r>
          </a:p>
          <a:p>
            <a:pPr algn="r">
              <a:lnSpc>
                <a:spcPct val="106557"/>
              </a:lnSpc>
              <a:spcBef>
                <a:spcPts val="400"/>
              </a:spcBef>
              <a:spcAft>
                <a:spcPts val="0"/>
              </a:spcAft>
            </a:pPr>
            <a:r>
              <a:rPr sz="620" b="0" i="0" spc="40">
                <a:solidFill>
                  <a:srgbClr val="A9A292"/>
                </a:solidFill>
                <a:latin typeface="Inter"/>
              </a:rPr>
              <a:t>+91 7411 099 183   ·   KAVITHA.PILLAI@LEVITATTE.COM</a:t>
            </a:r>
          </a:p>
          <a:p>
            <a:pPr algn="r">
              <a:lnSpc>
                <a:spcPct val="106557"/>
              </a:lnSpc>
              <a:spcBef>
                <a:spcPts val="0"/>
              </a:spcBef>
              <a:spcAft>
                <a:spcPts val="0"/>
              </a:spcAft>
            </a:pPr>
            <a:r>
              <a:rPr sz="620" b="0" i="0" spc="40">
                <a:solidFill>
                  <a:srgbClr val="A9A292"/>
                </a:solidFill>
                <a:latin typeface="Inter"/>
              </a:rPr>
              <a:t>WWW.LEVITATTE.COM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