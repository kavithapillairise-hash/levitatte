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47" y="786384"/>
            <a:ext cx="2286000" cy="15597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71216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 spc="800">
                <a:solidFill>
                  <a:srgbClr val="201C15"/>
                </a:solidFill>
                <a:latin typeface="Inter"/>
              </a:rPr>
              <a:t>LEVITATTE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550">
                <a:solidFill>
                  <a:srgbClr val="937425"/>
                </a:solidFill>
                <a:latin typeface="Inter"/>
              </a:rPr>
              <a:t>LEARNING &amp;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047" y="4224528"/>
            <a:ext cx="137160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7083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1">
                <a:solidFill>
                  <a:srgbClr val="4A4233"/>
                </a:solidFill>
                <a:latin typeface="Playfair Display"/>
              </a:rPr>
              <a:t>Empowering Individuals. Transforming Organizations.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555149"/>
                </a:solidFill>
                <a:latin typeface="Inter"/>
              </a:rPr>
              <a:t>Patients judge what they can feel, not what they can't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 i="0" spc="300">
                <a:solidFill>
                  <a:srgbClr val="937425"/>
                </a:solidFill>
                <a:latin typeface="Inter"/>
              </a:rPr>
              <a:t>www.levitatte.com</a:t>
            </a:r>
            <a:r>
              <a:rPr sz="1000" b="0" i="0" spc="300">
                <a:solidFill>
                  <a:srgbClr val="B1ACA1"/>
                </a:solidFill>
                <a:latin typeface="Inter"/>
              </a:rPr>
              <a:t>      BENGALURU,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320040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449324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3716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MOMENT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9960559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201C15"/>
                </a:solidFill>
                <a:latin typeface="Playfair Display"/>
              </a:rPr>
              <a:t>No one arrives at a hospital on their best day. How you meet them is what they remember.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343400"/>
            <a:ext cx="100584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53712"/>
            <a:ext cx="7491679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55149"/>
                </a:solidFill>
                <a:latin typeface="Inter"/>
              </a:rPr>
              <a:t>Patients cannot see your clinical excellence — they feel it in every welcome, every wait explained with care, every worried family made to feel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02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GAP PATIENTS 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They can't see the medicine. They feel the manner.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Clinical work happens where patients rarely see it. What they judge is the welcome, the waiting, the words — and the warmth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937425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1C15"/>
                </a:solidFill>
                <a:latin typeface="Inter"/>
              </a:rPr>
              <a:t>The first impression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149"/>
                </a:solidFill>
                <a:latin typeface="Inter"/>
              </a:rPr>
              <a:t>Reception, admissions and the ER set the tone in seconds — often while a patient is frightened and unsure.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712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973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937425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973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1C15"/>
                </a:solidFill>
                <a:latin typeface="Inter"/>
              </a:rPr>
              <a:t>Anxiety, grief and waiting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973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149"/>
                </a:solidFill>
                <a:latin typeface="Inter"/>
              </a:rPr>
              <a:t>Delays, bills and hard news land harder on people already afraid — empathy, or its absence, is remembered.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937425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1C15"/>
                </a:solidFill>
                <a:latin typeface="Inter"/>
              </a:rPr>
              <a:t>Warmth worn thin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149"/>
                </a:solidFill>
                <a:latin typeface="Inter"/>
              </a:rPr>
              <a:t>Stress and burnout quietly drain the kindness even skilled, caring staff want to give every patient.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88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149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937425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149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1C15"/>
                </a:solidFill>
                <a:latin typeface="Inter"/>
              </a:rPr>
              <a:t>What the world hears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149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149"/>
                </a:solidFill>
                <a:latin typeface="Inter"/>
              </a:rPr>
              <a:t>One difficult experience can outlast great care — in a lingering review, a lost referral, a family's trust shaken.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03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A kindness rivals can't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Equipment and talent can be matched. The feeling of being truly cared for is far harder to copy — and patients never forget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677160"/>
            <a:ext cx="3167786" cy="12801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B08930"/>
                </a:solidFill>
                <a:latin typeface="Playfair Display Medium"/>
              </a:rPr>
              <a:t>Trust and loyalty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When people feel safe and seen, they return, they refer, and they speak of you with warmth.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1954" y="2677160"/>
            <a:ext cx="3167786" cy="12801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954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B08930"/>
                </a:solidFill>
                <a:latin typeface="Playfair Display Medium"/>
              </a:rPr>
              <a:t>Calmer floors, fewer flare-ups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954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Confident, empathetic teams de-escalate early, easing complaints and the strain they place on everyone.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2660" y="2677160"/>
            <a:ext cx="3167786" cy="12801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B08930"/>
                </a:solidFill>
                <a:latin typeface="Playfair Display Medium"/>
              </a:rPr>
              <a:t>A reputation to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For patients who can choose their hospital, how they are treated is often what decides — and what they remember.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04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809244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7315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ABOUT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01C15"/>
                </a:solidFill>
                <a:latin typeface="Playfair Display Medium"/>
              </a:rPr>
              <a:t>Luxury service, brought to the bedside.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33599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43912"/>
            <a:ext cx="5532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Levitatte is a Bengaluru-based luxury training company that shapes how people are treated. We bring the standards of the world's finest service brands to healthcare — reframed for the tenderness care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960120"/>
            <a:ext cx="444672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978408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600" b="0" i="0">
                <a:solidFill>
                  <a:srgbClr val="937425"/>
                </a:solidFill>
                <a:latin typeface="Playfair Display Bol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636776"/>
            <a:ext cx="378835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1C15"/>
                </a:solidFill>
                <a:latin typeface="Playfair Display"/>
              </a:rPr>
              <a:t>To empower individuals and organizations for exceptional client management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587752"/>
            <a:ext cx="37883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300">
                <a:solidFill>
                  <a:srgbClr val="937425"/>
                </a:solidFill>
                <a:latin typeface="Inter"/>
              </a:rPr>
              <a:t>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300">
                <a:solidFill>
                  <a:srgbClr val="937425"/>
                </a:solidFill>
                <a:latin typeface="Inter"/>
              </a:rPr>
              <a:t>WHAT WE STAND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97680"/>
            <a:ext cx="45720" cy="1536192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Genuine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55149"/>
                </a:solidFill>
                <a:latin typeface="Inter"/>
              </a:rPr>
              <a:t>We build trust through respect and sincere communication — the heart of how patients want to be 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297680"/>
            <a:ext cx="45720" cy="1536192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7911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Continuous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7911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55149"/>
                </a:solidFill>
                <a:latin typeface="Inter"/>
              </a:rPr>
              <a:t>Curiosity and innovation keep teams learning, so care stays warm long after the workshop 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05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under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3108960" cy="3108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1083564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058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35024"/>
            <a:ext cx="659556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0" i="0">
                <a:solidFill>
                  <a:srgbClr val="201C15"/>
                </a:solidFill>
                <a:latin typeface="Playfair Display Medium"/>
              </a:rPr>
              <a:t>Kavitha Pillai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75104"/>
            <a:ext cx="659556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40">
                <a:solidFill>
                  <a:srgbClr val="937425"/>
                </a:solidFill>
                <a:latin typeface="Inter"/>
              </a:rPr>
              <a:t>FOUNDER · MANAGING DIRECTOR &amp; HEAD OF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95728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578608"/>
            <a:ext cx="659556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555149"/>
                </a:solidFill>
                <a:latin typeface="Inter"/>
              </a:rPr>
              <a:t>Kavitha Pillai has spent 25+ years perfecting the art of luxury service, public relations and personality development — training people to make others feel valued. She founded Levitatte to bring that craft to the places it matters most.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555149"/>
                </a:solidFill>
                <a:latin typeface="Inter"/>
              </a:rPr>
              <a:t>A Master in NLP and Organizational Behavioral Psychology, her expertise spans grooming, communication, client-relationship management and luxury brand management. In healthcare, she turns that depth into warmth patients can feel.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029200"/>
            <a:ext cx="2602485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047488"/>
            <a:ext cx="2602485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B08930"/>
                </a:solidFill>
                <a:latin typeface="Inter"/>
              </a:rPr>
              <a:t>25+ YEARS IN LUXURY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1957" y="5029200"/>
            <a:ext cx="149779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1957" y="5047488"/>
            <a:ext cx="149779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B08930"/>
                </a:solidFill>
                <a:latin typeface="Inter"/>
              </a:rPr>
              <a:t>MASTER IN NLP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5559552"/>
            <a:ext cx="2661808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577840"/>
            <a:ext cx="266180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B08930"/>
                </a:solidFill>
                <a:latin typeface="Inter"/>
              </a:rPr>
              <a:t>ORG. BEHAVIORAL PSYCHOLOGY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1280" y="5559552"/>
            <a:ext cx="280971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1280" y="5577840"/>
            <a:ext cx="280971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B08930"/>
                </a:solidFill>
                <a:latin typeface="Inter"/>
              </a:rPr>
              <a:t>PR &amp; PERSONALITY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06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SIGNATURE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Eight programs, reframed for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Eight signature Levitatte programs — every one focused on human interaction, presence and communication, never clinical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Grooming &amp; Personality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A calm, confident, well-presented presence that reassures patients and families on 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2555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2011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011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Professional Etiquettes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2011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The courtesies of care — respectful greetings, warm handoffs and dignity at every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Understanding Client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Reading what patients and families truly need — spoken and unspoken — and responding with care.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1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627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627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Effective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627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Explaining waits, costs and hard news clearly and kindly — within scope, always with empathy.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Handling Difficult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Meeting anger, grief and grievances with composure — de-escalating and restoring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2555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2011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2011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Business Etiquettes &amp; Networking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2011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Poise with referring doctors, insurers and partners — the professional face of your hospital.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863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319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Cultural Sensitivity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3319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Respecting every language, faith and background so each patient feels understood.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1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627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37425"/>
                </a:solidFill>
                <a:latin typeface="Playfair Display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627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201C15"/>
                </a:solidFill>
                <a:latin typeface="Inter"/>
              </a:rPr>
              <a:t>Nurturing Long-Term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627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55149"/>
                </a:solidFill>
                <a:latin typeface="Inter"/>
              </a:rPr>
              <a:t>Turning one good experience into lasting trust, loyalty and heartfelt word of mouth.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07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LEVITATTE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How the warmth takes 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Interactive workshops and NLP techniques, grounded in real hospital scenarios your teams face every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937425"/>
                </a:solidFill>
                <a:latin typeface="Playfair Display Medium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" y="3408680"/>
            <a:ext cx="50292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201C15"/>
                </a:solidFill>
                <a:latin typeface="Inter"/>
              </a:rPr>
              <a:t>Immerse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555149"/>
                </a:solidFill>
                <a:latin typeface="Inter"/>
              </a:rPr>
              <a:t>We learn your floors, patients and pressures — from the ER desk to discharge and billing.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712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144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937425"/>
                </a:solidFill>
                <a:latin typeface="Playfair Display Medium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9735" y="3408680"/>
            <a:ext cx="50292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144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201C15"/>
                </a:solidFill>
                <a:latin typeface="Inter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144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555149"/>
                </a:solidFill>
                <a:latin typeface="Inter"/>
              </a:rPr>
              <a:t>Teams rehearse real moments — a frightened patient, an angry relative, a hard delay — through role-play.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937425"/>
                </a:solidFill>
                <a:latin typeface="Playfair Display Medium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5615" y="3408680"/>
            <a:ext cx="50292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201C15"/>
                </a:solidFill>
                <a:latin typeface="Inter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555149"/>
                </a:solidFill>
                <a:latin typeface="Inter"/>
              </a:rPr>
              <a:t>Guided feedback and case studies turn each rehearsal into insight staff can use tomorrow.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88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320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937425"/>
                </a:solidFill>
                <a:latin typeface="Playfair Display Medium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1495" y="3408680"/>
            <a:ext cx="50292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320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201C15"/>
                </a:solidFill>
                <a:latin typeface="Inter"/>
              </a:rPr>
              <a:t>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555149"/>
                </a:solidFill>
                <a:latin typeface="Inter"/>
              </a:rPr>
              <a:t>Habits and shared language make warmth the everyday standard — long after we leave.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08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WHY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Not customer service. Human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A luxury-service pedigree, reframed for the tenderness of care — and delivered by people who love this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38248"/>
            <a:ext cx="45720" cy="1417320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A world-class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55149"/>
                </a:solidFill>
                <a:latin typeface="Inter"/>
              </a:rPr>
              <a:t>We've trained teams at Porsche, Accenture and Toyota — reframed for the tenderness of care.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2238248"/>
            <a:ext cx="45720" cy="1417320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A real hospital pedigree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55149"/>
                </a:solidFill>
                <a:latin typeface="Inter"/>
              </a:rPr>
              <a:t>We've trained healthcare teams at Fortis and Cloud9 Hospitals — this is care we already know.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929888"/>
            <a:ext cx="45720" cy="1417320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It complements clinicians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55149"/>
                </a:solidFill>
                <a:latin typeface="Inter"/>
              </a:rPr>
              <a:t>We support your nurses and staff, never critique them — making handoffs to clinicians warmer.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3929888"/>
            <a:ext cx="45720" cy="1417320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7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487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B08930"/>
                </a:solidFill>
                <a:latin typeface="Playfair Display Medium"/>
              </a:rPr>
              <a:t>It cares for caregivers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55149"/>
                </a:solidFill>
                <a:latin typeface="Inter"/>
              </a:rPr>
              <a:t>Equipping teams for grief and grievance eases stress and burnout — and helps good people stay.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09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A standard you can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The same standards we bring to the world's finest brands — reframed for the tenderness of 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937425"/>
                </a:solidFill>
                <a:latin typeface="Playfair Display SemiBold"/>
              </a:rPr>
              <a:t>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555149"/>
                </a:solidFill>
                <a:latin typeface="Inter"/>
              </a:rPr>
              <a:t>Years shaping how people are cared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194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937425"/>
                </a:solidFill>
                <a:latin typeface="Playfair Display SemiBold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555149"/>
                </a:solidFill>
                <a:latin typeface="Inter"/>
              </a:rPr>
              <a:t>Signature programs, made for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937425"/>
                </a:solidFill>
                <a:latin typeface="Playfair Display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140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555149"/>
                </a:solidFill>
                <a:latin typeface="Inter"/>
              </a:rPr>
              <a:t>Hospital groups trained: Fortis &amp; Cloud9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84168"/>
            <a:ext cx="10509199" cy="10972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6704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1" i="0" spc="300">
                <a:solidFill>
                  <a:srgbClr val="937425"/>
                </a:solidFill>
                <a:latin typeface="Inter"/>
              </a:rPr>
              <a:t>TRUSTED BY TEAMS 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Fortis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7983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7983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Cloud9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Porsche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1455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1455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Accenture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Toyota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7983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7983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Jet Airways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9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4719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AEGON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1455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1455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332E25"/>
                </a:solidFill>
                <a:latin typeface="Playfair Display Medium"/>
              </a:rPr>
              <a:t>RELIGARE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10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HOW WE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From pilot to partnership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We start small — often one unit or department — prove the difference, then grow it across your hospital.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4897" y="2860040"/>
            <a:ext cx="7881899" cy="14630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14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14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37425"/>
                </a:solidFill>
                <a:latin typeface="Playfair Display Medium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201C15"/>
                </a:solidFill>
                <a:latin typeface="Inter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5149"/>
                </a:solidFill>
                <a:latin typeface="Inter"/>
              </a:rPr>
              <a:t>We listen to leaders and staff to understand your patients, pressures and goals.</a:t>
            </a:r>
          </a:p>
        </p:txBody>
      </p:sp>
      <p:sp>
        <p:nvSpPr>
          <p:cNvPr id="14" name="Oval 13"/>
          <p:cNvSpPr/>
          <p:nvPr/>
        </p:nvSpPr>
        <p:spPr>
          <a:xfrm>
            <a:off x="44987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7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37425"/>
                </a:solidFill>
                <a:latin typeface="Playfair Display Medium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201C15"/>
                </a:solidFill>
                <a:latin typeface="Inter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5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5149"/>
                </a:solidFill>
                <a:latin typeface="Inter"/>
              </a:rPr>
              <a:t>We tailor the programs and role-play scenarios to your departments and real situations.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1260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60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37425"/>
                </a:solidFill>
                <a:latin typeface="Playfair Display Medium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201C15"/>
                </a:solidFill>
                <a:latin typeface="Inter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5149"/>
                </a:solidFill>
                <a:latin typeface="Inter"/>
              </a:rPr>
              <a:t>We run a focused pilot with one unit or department — hands-on, warm and practical.</a:t>
            </a:r>
          </a:p>
        </p:txBody>
      </p:sp>
      <p:sp>
        <p:nvSpPr>
          <p:cNvPr id="22" name="Oval 21"/>
          <p:cNvSpPr/>
          <p:nvPr/>
        </p:nvSpPr>
        <p:spPr>
          <a:xfrm>
            <a:off x="97533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33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37425"/>
                </a:solidFill>
                <a:latin typeface="Playfair Display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3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201C15"/>
                </a:solidFill>
                <a:latin typeface="Inter"/>
              </a:rPr>
              <a:t>Sustain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1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5149"/>
                </a:solidFill>
                <a:latin typeface="Inter"/>
              </a:rPr>
              <a:t>We track progress through observed behaviors, feedback themes and fewer escalations — then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11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WAYS TO BEGIN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201C15"/>
                </a:solidFill>
                <a:latin typeface="Playfair Display Medium"/>
              </a:rPr>
              <a:t>Choose where to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55149"/>
                </a:solidFill>
                <a:latin typeface="Inter"/>
              </a:rPr>
              <a:t>Three ways to bring hospitality-grade care to your teams — from a single department to your whole hospital.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201C15"/>
                </a:solidFill>
                <a:latin typeface="Playfair Display Medium"/>
              </a:rPr>
              <a:t>The Front-Office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08930"/>
                </a:solidFill>
                <a:latin typeface="Inter"/>
              </a:rPr>
              <a:t>Where first impressions are made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144" y="3838448"/>
            <a:ext cx="2674010" cy="10972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One team or department — reception, ER or OPD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Interactive workshop with live role-play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Focus on presence, empathy and etiquette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" y="5374640"/>
            <a:ext cx="2674010" cy="9144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937425"/>
                </a:solidFill>
                <a:latin typeface="Inter"/>
              </a:rPr>
              <a:t>A FOCUSED START FOR ONE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7946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FCF8EF"/>
          </a:solidFill>
          <a:ln w="17780">
            <a:solidFill>
              <a:srgbClr val="937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8607" y="207365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8607" y="208280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 spc="200">
                <a:solidFill>
                  <a:srgbClr val="14110A"/>
                </a:solidFill>
                <a:latin typeface="Inter"/>
              </a:rPr>
              <a:t>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8842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201C15"/>
                </a:solidFill>
                <a:latin typeface="Playfair Display Medium"/>
              </a:rPr>
              <a:t>The Experience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842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08930"/>
                </a:solidFill>
                <a:latin typeface="Inter"/>
              </a:rPr>
              <a:t>Patient experience, across departments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8842" y="3838448"/>
            <a:ext cx="2674010" cy="10972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8842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Multiple patient-facing departments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8842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All eight programs, tailored to each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8842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Scenarios drawn from your real floors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8842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Progress tracked qualitatively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8842" y="5374640"/>
            <a:ext cx="2674010" cy="9144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842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937425"/>
                </a:solidFill>
                <a:latin typeface="Inter"/>
              </a:rPr>
              <a:t>OUR MOST COMPREHENSIVE PROGRAM.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4644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E2D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5540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201C15"/>
                </a:solidFill>
                <a:latin typeface="Playfair Display Medium"/>
              </a:rPr>
              <a:t>The Hospital Partnership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540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08930"/>
                </a:solidFill>
                <a:latin typeface="Inter"/>
              </a:rPr>
              <a:t>A culture of care, hospital-wide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5540" y="3838448"/>
            <a:ext cx="2674010" cy="10972"/>
          </a:xfrm>
          <a:prstGeom prst="rect">
            <a:avLst/>
          </a:prstGeom>
          <a:solidFill>
            <a:srgbClr val="E2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5540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Hospital-wide patient-experience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5540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Train-the-trainer for lasting habits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5540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Ongoing coaching and refreshers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5540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37425"/>
                </a:solidFill>
                <a:latin typeface="Inter"/>
              </a:rPr>
              <a:t>—  </a:t>
            </a:r>
            <a:r>
              <a:rPr sz="1000" b="0" i="0">
                <a:solidFill>
                  <a:srgbClr val="555149"/>
                </a:solidFill>
                <a:latin typeface="Inter"/>
              </a:rPr>
              <a:t>Shared language embedded across teams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5540" y="5374640"/>
            <a:ext cx="2674010" cy="9144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5540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937425"/>
                </a:solidFill>
                <a:latin typeface="Inter"/>
              </a:rPr>
              <a:t>BESPOKE; PRICING ON REQUEST.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12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36576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312164"/>
            <a:ext cx="310896" cy="20116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2344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937425"/>
                </a:solidFill>
                <a:latin typeface="Inter"/>
              </a:rPr>
              <a:t>BEGIN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913759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201C15"/>
                </a:solidFill>
                <a:latin typeface="Playfair Display"/>
              </a:rPr>
              <a:t>Great care deserves to be felt.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66687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555149"/>
                </a:solidFill>
                <a:latin typeface="Inter"/>
              </a:rPr>
              <a:t>Let's bring hospitality-grade warmth to every patient you serve. Start with one conversation — and one department — and feel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937425"/>
                </a:solidFill>
                <a:latin typeface="Playfair Display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C15"/>
                </a:solidFill>
                <a:latin typeface="Inter"/>
              </a:rPr>
              <a:t>Book a discovery conversation with Kavitha.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6714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937425"/>
                </a:solidFill>
                <a:latin typeface="Playfair Display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2434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C15"/>
                </a:solidFill>
                <a:latin typeface="Inter"/>
              </a:rPr>
              <a:t>Choose one department to begin — reception, ER or a 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2180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937425"/>
                </a:solidFill>
                <a:latin typeface="Playfair Display Medium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7900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C15"/>
                </a:solidFill>
                <a:latin typeface="Inter"/>
              </a:rPr>
              <a:t>Run a focused pilot, and feel the difference.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A867C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B1ACA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37425"/>
                </a:solidFill>
                <a:latin typeface="Playfair Display"/>
              </a:rPr>
              <a:t>13</a:t>
            </a:r>
            <a:r>
              <a:rPr sz="800" b="0" i="0">
                <a:solidFill>
                  <a:srgbClr val="B1ACA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658368"/>
            <a:ext cx="1371600" cy="935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4519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350">
                <a:solidFill>
                  <a:srgbClr val="937425"/>
                </a:solidFill>
                <a:latin typeface="Inter"/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800" b="0" i="0">
                <a:solidFill>
                  <a:srgbClr val="201C15"/>
                </a:solidFill>
                <a:latin typeface="Playfair Display"/>
              </a:rPr>
              <a:t>Let's elevate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5767" y="3200400"/>
            <a:ext cx="1280160" cy="18288"/>
          </a:xfrm>
          <a:prstGeom prst="rect">
            <a:avLst/>
          </a:prstGeom>
          <a:solidFill>
            <a:srgbClr val="937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36499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600" b="0" i="1">
                <a:solidFill>
                  <a:srgbClr val="4A4233"/>
                </a:solidFill>
                <a:latin typeface="Playfair Display"/>
              </a:rPr>
              <a:t>We would be honoured to help your patients feel truly cared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937425"/>
                </a:solidFill>
                <a:latin typeface="Inter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201C15"/>
                </a:solidFill>
                <a:latin typeface="Inter"/>
              </a:rPr>
              <a:t>kavitha.pillai@levitatte.com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85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937425"/>
                </a:solidFill>
                <a:latin typeface="Inter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201C15"/>
                </a:solidFill>
                <a:latin typeface="Inter"/>
              </a:rPr>
              <a:t>+91 7411 099 183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937425"/>
                </a:solidFill>
                <a:latin typeface="Inter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201C15"/>
                </a:solidFill>
                <a:latin typeface="Inter"/>
              </a:rPr>
              <a:t>www.levitatte.com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1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937425"/>
                </a:solidFill>
                <a:latin typeface="Inter"/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1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201C15"/>
                </a:solidFill>
                <a:latin typeface="Inter"/>
              </a:rPr>
              <a:t>Bengaluru, Karnataka,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0" i="1">
                <a:solidFill>
                  <a:srgbClr val="B08930"/>
                </a:solidFill>
                <a:latin typeface="Playfair Display"/>
              </a:rPr>
              <a:t>Empowering Individuals. Transforming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