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47" y="786384"/>
            <a:ext cx="2286000" cy="15597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871216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600" b="1" i="0" spc="800">
                <a:solidFill>
                  <a:srgbClr val="F6F5F1"/>
                </a:solidFill>
                <a:latin typeface="Inter"/>
              </a:rPr>
              <a:t>LEVITATTE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0332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550">
                <a:solidFill>
                  <a:srgbClr val="D2D0CA"/>
                </a:solidFill>
                <a:latin typeface="Inter"/>
              </a:rPr>
              <a:t>LEARNING &amp;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047" y="4224528"/>
            <a:ext cx="137160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370832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1">
                <a:solidFill>
                  <a:srgbClr val="E8E4DA"/>
                </a:solidFill>
                <a:latin typeface="Playfair Display"/>
              </a:rPr>
              <a:t>Empowering Individuals. Transforming Organizations.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B9B6AE"/>
                </a:solidFill>
                <a:latin typeface="Inter"/>
              </a:rPr>
              <a:t>Patients judge what they can feel, not what they can't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199632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 i="0" spc="300">
                <a:solidFill>
                  <a:srgbClr val="D2D0CA"/>
                </a:solidFill>
                <a:latin typeface="Inter"/>
              </a:rPr>
              <a:t>www.levitatte.com</a:t>
            </a:r>
            <a:r>
              <a:rPr sz="1000" b="0" i="0" spc="300">
                <a:solidFill>
                  <a:srgbClr val="6A6761"/>
                </a:solidFill>
                <a:latin typeface="Inter"/>
              </a:rPr>
              <a:t>      BENGALURU,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3200400"/>
            <a:ext cx="4572000" cy="31194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1449324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3716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THE MOMENT THAT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9960559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</a:pPr>
            <a:r>
              <a:rPr sz="4000" b="0" i="0">
                <a:solidFill>
                  <a:srgbClr val="F6F5F1"/>
                </a:solidFill>
                <a:latin typeface="Playfair Display"/>
              </a:rPr>
              <a:t>No one arrives at a hospital on their best day. How you meet them is what they remember.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343400"/>
            <a:ext cx="100584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553712"/>
            <a:ext cx="7491679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B9B6AE"/>
                </a:solidFill>
                <a:latin typeface="Inter"/>
              </a:rPr>
              <a:t>Patients cannot see your clinical excellence — they feel it in every welcome, every wait explained with care, every worried family made to feel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02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THE GAP PATIENTS FEEL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They can't see the medicine. They feel the manner.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Clinical work happens where patients rarely see it. What they judge is the welcome, the waiting, the words — and the warmth behind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D2D0CA"/>
                </a:solidFill>
                <a:latin typeface="Playfai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6F5F1"/>
                </a:solidFill>
                <a:latin typeface="Inter"/>
              </a:rPr>
              <a:t>The first impression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B9B6AE"/>
                </a:solidFill>
                <a:latin typeface="Inter"/>
              </a:rPr>
              <a:t>Reception, admissions and the ER set the tone in seconds — often while a patient is frightened and unsure.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7127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9735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D2D0CA"/>
                </a:solidFill>
                <a:latin typeface="Playfair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9735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6F5F1"/>
                </a:solidFill>
                <a:latin typeface="Inter"/>
              </a:rPr>
              <a:t>Anxiety, grief and waiting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9735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B9B6AE"/>
                </a:solidFill>
                <a:latin typeface="Inter"/>
              </a:rPr>
              <a:t>Delays, bills and hard news land harder on people already afraid — empathy, or its absence, is remembered.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D2D0CA"/>
                </a:solidFill>
                <a:latin typeface="Playfair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615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6F5F1"/>
                </a:solidFill>
                <a:latin typeface="Inter"/>
              </a:rPr>
              <a:t>Warmth worn thin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5615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B9B6AE"/>
                </a:solidFill>
                <a:latin typeface="Inter"/>
              </a:rPr>
              <a:t>Stress and burnout quietly drain the kindness even skilled, caring staff want to give every patient.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8887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1495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D2D0CA"/>
                </a:solidFill>
                <a:latin typeface="Playfair Display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1495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6F5F1"/>
                </a:solidFill>
                <a:latin typeface="Inter"/>
              </a:rPr>
              <a:t>What the world hears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1495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B9B6AE"/>
                </a:solidFill>
                <a:latin typeface="Inter"/>
              </a:rPr>
              <a:t>One difficult experience can outlast great care — in a lingering review, a lost referral, a family's trust shaken.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03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A kindness rivals can't copy.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Equipment and talent can be matched. The feeling of being truly cared for is far harder to copy — and patients never forget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677160"/>
            <a:ext cx="3167786" cy="12801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33192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EFEDE8"/>
                </a:solidFill>
                <a:latin typeface="Playfair Display Medium"/>
              </a:rPr>
              <a:t>Trust and loyalty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45840"/>
            <a:ext cx="2893466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When people feel safe and seen, they return, they refer, and they speak of you with warmth.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1954" y="2677160"/>
            <a:ext cx="3167786" cy="12801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954" y="2933192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EFEDE8"/>
                </a:solidFill>
                <a:latin typeface="Playfair Display Medium"/>
              </a:rPr>
              <a:t>Calmer floors, fewer flare-ups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954" y="3545840"/>
            <a:ext cx="2893466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Confident, empathetic teams de-escalate early, easing complaints and the strain they place on everyone.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2660" y="2677160"/>
            <a:ext cx="3167786" cy="12801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2660" y="2933192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EFEDE8"/>
                </a:solidFill>
                <a:latin typeface="Playfair Display Medium"/>
              </a:rPr>
              <a:t>A reputation to 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3545840"/>
            <a:ext cx="2893466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For patients who can choose their hospital, how they are treated is often what decides — and what they remember.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04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809244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7315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ABOUT LEVITATTE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97280"/>
            <a:ext cx="56692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F6F5F1"/>
                </a:solidFill>
                <a:latin typeface="Playfair Display Medium"/>
              </a:rPr>
              <a:t>Luxury service, brought to the bedside.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133599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43912"/>
            <a:ext cx="55321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Levitatte is a Bengaluru-based luxury training company that shapes how people are treated. We bring the standards of the world's finest service brands to healthcare — reframed for the tenderness care demands.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960120"/>
            <a:ext cx="4446727" cy="1965960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96328" y="978408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600" b="0" i="0">
                <a:solidFill>
                  <a:srgbClr val="D2D0CA"/>
                </a:solidFill>
                <a:latin typeface="Playfair Display Bold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636776"/>
            <a:ext cx="378835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6F5F1"/>
                </a:solidFill>
                <a:latin typeface="Playfair Display"/>
              </a:rPr>
              <a:t>To empower individuals and organizations for exceptional client management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2587752"/>
            <a:ext cx="37883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300">
                <a:solidFill>
                  <a:srgbClr val="D2D0CA"/>
                </a:solidFill>
                <a:latin typeface="Inter"/>
              </a:rPr>
              <a:t>OUR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40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300">
                <a:solidFill>
                  <a:srgbClr val="D2D0CA"/>
                </a:solidFill>
                <a:latin typeface="Inter"/>
              </a:rPr>
              <a:t>WHAT WE STAND FOR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97680"/>
            <a:ext cx="5071719" cy="1536192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297680"/>
            <a:ext cx="45720" cy="1536192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572000"/>
            <a:ext cx="44316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EFEDE8"/>
                </a:solidFill>
                <a:latin typeface="Playfair Display Medium"/>
              </a:rPr>
              <a:t>Genuine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5084064"/>
            <a:ext cx="4413351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9B6AE"/>
                </a:solidFill>
                <a:latin typeface="Inter"/>
              </a:rPr>
              <a:t>We build trust through respect and sincere communication — the heart of how patients want to be met.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297680"/>
            <a:ext cx="5071719" cy="1536192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297680"/>
            <a:ext cx="45720" cy="1536192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7911" y="4572000"/>
            <a:ext cx="44316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EFEDE8"/>
                </a:solidFill>
                <a:latin typeface="Playfair Display Medium"/>
              </a:rPr>
              <a:t>Continuous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7911" y="5084064"/>
            <a:ext cx="4413351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9B6AE"/>
                </a:solidFill>
                <a:latin typeface="Inter"/>
              </a:rPr>
              <a:t>Curiosity and innovation keep teams learning, so care stays warm long after the workshop ends.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05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po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ounder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3108960" cy="3108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54880" y="1083564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00584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THE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35024"/>
            <a:ext cx="659556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0" i="0">
                <a:solidFill>
                  <a:srgbClr val="F6F5F1"/>
                </a:solidFill>
                <a:latin typeface="Playfair Display Medium"/>
              </a:rPr>
              <a:t>Kavitha Pillai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75104"/>
            <a:ext cx="659556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40">
                <a:solidFill>
                  <a:srgbClr val="D2D0CA"/>
                </a:solidFill>
                <a:latin typeface="Inter"/>
              </a:rPr>
              <a:t>FOUNDER · MANAGING DIRECTOR &amp; HEAD OF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395728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578608"/>
            <a:ext cx="659556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 i="0">
                <a:solidFill>
                  <a:srgbClr val="B9B6AE"/>
                </a:solidFill>
                <a:latin typeface="Inter"/>
              </a:rPr>
              <a:t>Kavitha Pillai has spent 25+ years perfecting the art of luxury service, public relations and personality development — training people to make others feel valued. She founded Levitatte to bring that craft to the places it matters most.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 i="0">
                <a:solidFill>
                  <a:srgbClr val="B9B6AE"/>
                </a:solidFill>
                <a:latin typeface="Inter"/>
              </a:rPr>
              <a:t>A Master in NLP and Organizational Behavioral Psychology, her expertise spans grooming, communication, client-relationship management and luxury brand management. In healthcare, she turns that depth into warmth patients can feel.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029200"/>
            <a:ext cx="2602485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D2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5047488"/>
            <a:ext cx="2602485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EFEDE8"/>
                </a:solidFill>
                <a:latin typeface="Inter"/>
              </a:rPr>
              <a:t>25+ YEARS IN LUXURY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1957" y="5029200"/>
            <a:ext cx="1497794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D2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1957" y="5047488"/>
            <a:ext cx="1497794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EFEDE8"/>
                </a:solidFill>
                <a:latin typeface="Inter"/>
              </a:rPr>
              <a:t>MASTER IN NLP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5559552"/>
            <a:ext cx="2661808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D2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5577840"/>
            <a:ext cx="2661808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EFEDE8"/>
                </a:solidFill>
                <a:latin typeface="Inter"/>
              </a:rPr>
              <a:t>ORG. BEHAVIORAL PSYCHOLOGY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1280" y="5559552"/>
            <a:ext cx="2809714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D2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1280" y="5577840"/>
            <a:ext cx="2809714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EFEDE8"/>
                </a:solidFill>
                <a:latin typeface="Inter"/>
              </a:rPr>
              <a:t>PR &amp; PERSONALITY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06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SIGNATURE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Eight programs, reframed for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Eight signature Levitatte programs — every one focused on human interaction, presence and communication, never clinical skills.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D2D0CA"/>
                </a:solidFill>
                <a:latin typeface="Playfai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Grooming &amp; Personality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A calm, confident, well-presented presence that reassures patients and families on sight.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2555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2011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D2D0CA"/>
                </a:solidFill>
                <a:latin typeface="Playfair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2011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Professional Etiquettes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2011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The courtesies of care — respectful greetings, warm handoffs and dignity at every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D2D0CA"/>
                </a:solidFill>
                <a:latin typeface="Playfair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19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Understanding Client 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Reading what patients and families truly need — spoken and unspoken — and responding with care.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171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627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D2D0CA"/>
                </a:solidFill>
                <a:latin typeface="Playfair Display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627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Effective 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627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Explaining waits, costs and hard news clearly and kindly — within scope, always with empathy.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D2D0CA"/>
                </a:solidFill>
                <a:latin typeface="Playfair Display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Handling Difficult Clients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Meeting anger, grief and grievances with composure — de-escalating and restoring trust.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32555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52011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D2D0CA"/>
                </a:solidFill>
                <a:latin typeface="Playfair Display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2011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Business Etiquettes &amp; Networking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2011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Poise with referring doctors, insurers and partners — the professional face of your hospital.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863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319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D2D0CA"/>
                </a:solidFill>
                <a:latin typeface="Playfair Display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3319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Cultural Sensitivity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3319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Respecting every language, faith and background so each patient feels understood.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171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34627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D2D0CA"/>
                </a:solidFill>
                <a:latin typeface="Playfair Display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627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Nurturing Long-Term Relationships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4627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Turning one good experience into lasting trust, loyalty and heartfelt word of mouth.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07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THE LEVITATTE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How the warmth takes 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Interactive workshops and NLP techniques, grounded in real hospital scenarios your teams face every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D2D0CA"/>
                </a:solidFill>
                <a:latin typeface="Playfair Display Medium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3856" y="3408680"/>
            <a:ext cx="50292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F6F5F1"/>
                </a:solidFill>
                <a:latin typeface="Inter"/>
              </a:rPr>
              <a:t>Immerse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B9B6AE"/>
                </a:solidFill>
                <a:latin typeface="Inter"/>
              </a:rPr>
              <a:t>We learn your floors, patients and pressures — from the ER desk to discharge and billing.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7127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1447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D2D0CA"/>
                </a:solidFill>
                <a:latin typeface="Playfair Display Medium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29735" y="3408680"/>
            <a:ext cx="50292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1447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F6F5F1"/>
                </a:solidFill>
                <a:latin typeface="Inter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1447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B9B6AE"/>
                </a:solidFill>
                <a:latin typeface="Inter"/>
              </a:rPr>
              <a:t>Teams rehearse real moments — a frightened patient, an angry relative, a hard delay — through role-play.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D2D0CA"/>
                </a:solidFill>
                <a:latin typeface="Playfair Display Medium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25615" y="3408680"/>
            <a:ext cx="50292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F6F5F1"/>
                </a:solidFill>
                <a:latin typeface="Inter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B9B6AE"/>
                </a:solidFill>
                <a:latin typeface="Inter"/>
              </a:rPr>
              <a:t>Guided feedback and case studies turn each rehearsal into insight staff can use tomorrow.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8887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3207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D2D0CA"/>
                </a:solidFill>
                <a:latin typeface="Playfair Display Medium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21495" y="3408680"/>
            <a:ext cx="50292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3207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F6F5F1"/>
                </a:solidFill>
                <a:latin typeface="Inter"/>
              </a:rPr>
              <a:t>Embed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3207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B9B6AE"/>
                </a:solidFill>
                <a:latin typeface="Inter"/>
              </a:rPr>
              <a:t>Habits and shared language make warmth the everyday standard — long after we leave.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08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po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WHY LEVITATTE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Not customer service. Human service.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A luxury-service pedigree, reframed for the tenderness of care — and delivered by people who love this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238248"/>
            <a:ext cx="45720" cy="1417320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23824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47599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EFEDE8"/>
                </a:solidFill>
                <a:latin typeface="Playfair Display Medium"/>
              </a:rPr>
              <a:t>A world-class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95148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B9B6AE"/>
                </a:solidFill>
                <a:latin typeface="Inter"/>
              </a:rPr>
              <a:t>We've trained teams at Porsche, Accenture and Toyota — reframed for the tenderness of care.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2238248"/>
            <a:ext cx="45720" cy="1417320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4447" y="223824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4487" y="247599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EFEDE8"/>
                </a:solidFill>
                <a:latin typeface="Playfair Display Medium"/>
              </a:rPr>
              <a:t>A real hospital pedigree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295148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B9B6AE"/>
                </a:solidFill>
                <a:latin typeface="Inter"/>
              </a:rPr>
              <a:t>We've trained healthcare teams at Fortis and Cloud9 Hospitals — this is care we already know.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929888"/>
            <a:ext cx="45720" cy="1417320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392988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16763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EFEDE8"/>
                </a:solidFill>
                <a:latin typeface="Playfair Display Medium"/>
              </a:rPr>
              <a:t>It complements clinicians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64312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B9B6AE"/>
                </a:solidFill>
                <a:latin typeface="Inter"/>
              </a:rPr>
              <a:t>We support your nurses and staff, never critique them — making handoffs to clinicians warmer.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3929888"/>
            <a:ext cx="45720" cy="1417320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4447" y="392988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4487" y="416763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EFEDE8"/>
                </a:solidFill>
                <a:latin typeface="Playfair Display Medium"/>
              </a:rPr>
              <a:t>It cares for caregivers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64312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B9B6AE"/>
                </a:solidFill>
                <a:latin typeface="Inter"/>
              </a:rPr>
              <a:t>Equipping teams for grief and grievance eases stress and burnout — and helps good people stay.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09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A standard you can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The same standards we bring to the world's finest brands — reframed for the tenderness of care.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92528"/>
            <a:ext cx="31373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0" i="0">
                <a:solidFill>
                  <a:srgbClr val="D2D0CA"/>
                </a:solidFill>
                <a:latin typeface="Playfair Display SemiBold"/>
              </a:rPr>
              <a:t>25+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25216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50" b="0" i="0" spc="60">
                <a:solidFill>
                  <a:srgbClr val="B9B6AE"/>
                </a:solidFill>
                <a:latin typeface="Inter"/>
              </a:rPr>
              <a:t>Years shaping how people are cared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194" y="2192528"/>
            <a:ext cx="31373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0" i="0">
                <a:solidFill>
                  <a:srgbClr val="D2D0CA"/>
                </a:solidFill>
                <a:latin typeface="Playfair Display SemiBold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194" y="3125216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50" b="0" i="0" spc="60">
                <a:solidFill>
                  <a:srgbClr val="B9B6AE"/>
                </a:solidFill>
                <a:latin typeface="Inter"/>
              </a:rPr>
              <a:t>Signature programs, made for hospitals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140" y="2192528"/>
            <a:ext cx="31373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0" i="0">
                <a:solidFill>
                  <a:srgbClr val="D2D0CA"/>
                </a:solidFill>
                <a:latin typeface="Playfair Display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3140" y="3125216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50" b="0" i="0" spc="60">
                <a:solidFill>
                  <a:srgbClr val="B9B6AE"/>
                </a:solidFill>
                <a:latin typeface="Inter"/>
              </a:rPr>
              <a:t>Hospital groups trained: Fortis &amp; Cloud9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884168"/>
            <a:ext cx="10509199" cy="10972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6704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1" i="0" spc="300">
                <a:solidFill>
                  <a:srgbClr val="D2D0CA"/>
                </a:solidFill>
                <a:latin typeface="Inter"/>
              </a:rPr>
              <a:t>TRUSTED BY TEAMS 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Fortis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7983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7983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Cloud9 Hospitals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4719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Porsche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1455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1455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Accenture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Toyota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7983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7983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Jet Airways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4719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4719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AEGON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1455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01455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RELIGARE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10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HOW WE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From pilot to partnership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We start small — often one unit or department — prove the difference, then grow it across your hospital.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4897" y="2860040"/>
            <a:ext cx="7881899" cy="14630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714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D2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14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D2D0CA"/>
                </a:solidFill>
                <a:latin typeface="Playfair Display Medium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F6F5F1"/>
                </a:solidFill>
                <a:latin typeface="Inter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B9B6AE"/>
                </a:solidFill>
                <a:latin typeface="Inter"/>
              </a:rPr>
              <a:t>We listen to leaders and staff to understand your patients, pressures and goals.</a:t>
            </a:r>
          </a:p>
        </p:txBody>
      </p:sp>
      <p:sp>
        <p:nvSpPr>
          <p:cNvPr id="14" name="Oval 13"/>
          <p:cNvSpPr/>
          <p:nvPr/>
        </p:nvSpPr>
        <p:spPr>
          <a:xfrm>
            <a:off x="44987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D2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7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D2D0CA"/>
                </a:solidFill>
                <a:latin typeface="Playfair Display Medium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707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F6F5F1"/>
                </a:solidFill>
                <a:latin typeface="Inter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4579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B9B6AE"/>
                </a:solidFill>
                <a:latin typeface="Inter"/>
              </a:rPr>
              <a:t>We tailor the programs and role-play scenarios to your departments and real situations.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71260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D2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60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D2D0CA"/>
                </a:solidFill>
                <a:latin typeface="Playfair Display Medium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F6F5F1"/>
                </a:solidFill>
                <a:latin typeface="Inter"/>
              </a:rPr>
              <a:t>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B9B6AE"/>
                </a:solidFill>
                <a:latin typeface="Inter"/>
              </a:rPr>
              <a:t>We run a focused pilot with one unit or department — hands-on, warm and practical.</a:t>
            </a:r>
          </a:p>
        </p:txBody>
      </p:sp>
      <p:sp>
        <p:nvSpPr>
          <p:cNvPr id="22" name="Oval 21"/>
          <p:cNvSpPr/>
          <p:nvPr/>
        </p:nvSpPr>
        <p:spPr>
          <a:xfrm>
            <a:off x="97533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D2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33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D2D0CA"/>
                </a:solidFill>
                <a:latin typeface="Playfair Display Medium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307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F6F5F1"/>
                </a:solidFill>
                <a:latin typeface="Inter"/>
              </a:rPr>
              <a:t>Sustain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179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B9B6AE"/>
                </a:solidFill>
                <a:latin typeface="Inter"/>
              </a:rPr>
              <a:t>We track progress through observed behaviors, feedback themes and fewer escalations — then scale.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11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WAYS TO BEGIN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Choose where to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Three ways to bring hospitality-grade care to your teams — from a single department to your whole hospital.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29104"/>
            <a:ext cx="3295802" cy="3657600"/>
          </a:xfrm>
          <a:prstGeom prst="roundRect">
            <a:avLst>
              <a:gd name="adj" fmla="val 3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503424"/>
            <a:ext cx="267401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F6F5F1"/>
                </a:solidFill>
                <a:latin typeface="Playfair Display Medium"/>
              </a:rPr>
              <a:t>The Front-Office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253232"/>
            <a:ext cx="267401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FEDE8"/>
                </a:solidFill>
                <a:latin typeface="Inter"/>
              </a:rPr>
              <a:t>Where first impressions are made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2144" y="3838448"/>
            <a:ext cx="2674010" cy="10972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00304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One team or department — reception, ER or OPD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341368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Interactive workshop with live role-play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679696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Focus on presence, empathy and etiquette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2144" y="5374640"/>
            <a:ext cx="2674010" cy="9144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5502656"/>
            <a:ext cx="267401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 spc="120">
                <a:solidFill>
                  <a:srgbClr val="D2D0CA"/>
                </a:solidFill>
                <a:latin typeface="Inter"/>
              </a:rPr>
              <a:t>A FOCUSED START FOR ONE TEAM.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7946" y="2229104"/>
            <a:ext cx="3295802" cy="3657600"/>
          </a:xfrm>
          <a:prstGeom prst="roundRect">
            <a:avLst>
              <a:gd name="adj" fmla="val 3500"/>
            </a:avLst>
          </a:prstGeom>
          <a:solidFill>
            <a:srgbClr val="201F1D"/>
          </a:solidFill>
          <a:ln w="17780">
            <a:solidFill>
              <a:srgbClr val="D2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18607" y="207365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8607" y="208280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1" i="0" spc="200">
                <a:solidFill>
                  <a:srgbClr val="14110A"/>
                </a:solidFill>
                <a:latin typeface="Inter"/>
              </a:rPr>
              <a:t>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8842" y="2503424"/>
            <a:ext cx="267401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F6F5F1"/>
                </a:solidFill>
                <a:latin typeface="Playfair Display Medium"/>
              </a:rPr>
              <a:t>The Experience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8842" y="3253232"/>
            <a:ext cx="267401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FEDE8"/>
                </a:solidFill>
                <a:latin typeface="Inter"/>
              </a:rPr>
              <a:t>Patient experience, across departments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8842" y="3838448"/>
            <a:ext cx="2674010" cy="10972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8842" y="400304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Multiple patient-facing departments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8842" y="4341368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All eight programs, tailored to each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8842" y="4679696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Scenarios drawn from your real floors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8842" y="5018024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Progress tracked qualitatively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8842" y="5374640"/>
            <a:ext cx="2674010" cy="9144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842" y="5502656"/>
            <a:ext cx="267401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 spc="120">
                <a:solidFill>
                  <a:srgbClr val="D2D0CA"/>
                </a:solidFill>
                <a:latin typeface="Inter"/>
              </a:rPr>
              <a:t>OUR MOST COMPREHENSIVE PROGRAM.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4644" y="2229104"/>
            <a:ext cx="3295802" cy="3657600"/>
          </a:xfrm>
          <a:prstGeom prst="roundRect">
            <a:avLst>
              <a:gd name="adj" fmla="val 3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5540" y="2503424"/>
            <a:ext cx="267401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F6F5F1"/>
                </a:solidFill>
                <a:latin typeface="Playfair Display Medium"/>
              </a:rPr>
              <a:t>The Hospital Partnership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5540" y="3253232"/>
            <a:ext cx="267401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FEDE8"/>
                </a:solidFill>
                <a:latin typeface="Inter"/>
              </a:rPr>
              <a:t>A culture of care, hospital-wide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5540" y="3838448"/>
            <a:ext cx="2674010" cy="10972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5540" y="400304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Hospital-wide patient-experience 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5540" y="4341368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Train-the-trainer for lasting habits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5540" y="4679696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Ongoing coaching and refreshers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5540" y="5018024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2D0CA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Shared language embedded across teams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5540" y="5374640"/>
            <a:ext cx="2674010" cy="9144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5540" y="5502656"/>
            <a:ext cx="267401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 spc="120">
                <a:solidFill>
                  <a:srgbClr val="D2D0CA"/>
                </a:solidFill>
                <a:latin typeface="Inter"/>
              </a:rPr>
              <a:t>BESPOKE; PRICING ON REQUEST.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12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35" y="365760"/>
            <a:ext cx="4572000" cy="31194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1312164"/>
            <a:ext cx="310896" cy="20116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23444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D2D0CA"/>
                </a:solidFill>
                <a:latin typeface="Inter"/>
              </a:rPr>
              <a:t>BEGIN THE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913759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F6F5F1"/>
                </a:solidFill>
                <a:latin typeface="Playfair Display"/>
              </a:rPr>
              <a:t>Great care deserves to be felt.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666871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B9B6AE"/>
                </a:solidFill>
                <a:latin typeface="Inter"/>
              </a:rPr>
              <a:t>Let's bring hospitality-grade warmth to every patient you serve. Start with one conversation — and one department — and feel the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D2D0CA"/>
                </a:solidFill>
                <a:latin typeface="Playfair Display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983480"/>
            <a:ext cx="310682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6F5F1"/>
                </a:solidFill>
                <a:latin typeface="Inter"/>
              </a:rPr>
              <a:t>Book a discovery conversation with Kavitha.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6714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D2D0CA"/>
                </a:solidFill>
                <a:latin typeface="Playfair Display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2434" y="4983480"/>
            <a:ext cx="310682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6F5F1"/>
                </a:solidFill>
                <a:latin typeface="Inter"/>
              </a:rPr>
              <a:t>Choose one department to begin — reception, ER or a ward.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2180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D2D0CA"/>
                </a:solidFill>
                <a:latin typeface="Playfair Display Medium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7900" y="4983480"/>
            <a:ext cx="310682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6F5F1"/>
                </a:solidFill>
                <a:latin typeface="Inter"/>
              </a:rPr>
              <a:t>Run a focused pilot, and feel the difference.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D2D0CA"/>
                </a:solidFill>
                <a:latin typeface="Playfair Display"/>
              </a:rPr>
              <a:t>13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7" y="658368"/>
            <a:ext cx="1371600" cy="9358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4519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350">
                <a:solidFill>
                  <a:srgbClr val="D2D0CA"/>
                </a:solidFill>
                <a:latin typeface="Inter"/>
              </a:rPr>
              <a:t>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4028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800" b="0" i="0">
                <a:solidFill>
                  <a:srgbClr val="F6F5F1"/>
                </a:solidFill>
                <a:latin typeface="Playfair Display"/>
              </a:rPr>
              <a:t>Let's elevate care.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55767" y="3200400"/>
            <a:ext cx="1280160" cy="18288"/>
          </a:xfrm>
          <a:prstGeom prst="rect">
            <a:avLst/>
          </a:prstGeom>
          <a:solidFill>
            <a:srgbClr val="D2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364992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600" b="0" i="1">
                <a:solidFill>
                  <a:srgbClr val="E4E0D6"/>
                </a:solidFill>
                <a:latin typeface="Playfair Display"/>
              </a:rPr>
              <a:t>We would be honoured to help your patients feel truly cared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D2D0CA"/>
                </a:solidFill>
                <a:latin typeface="Inter"/>
              </a:rP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6F5F1"/>
                </a:solidFill>
                <a:latin typeface="Inter"/>
              </a:rPr>
              <a:t>kavitha.pillai@levitatte.com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8547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D2D0CA"/>
                </a:solidFill>
                <a:latin typeface="Inter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547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6F5F1"/>
                </a:solidFill>
                <a:latin typeface="Inter"/>
              </a:rPr>
              <a:t>+91 7411 099 183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D2D0CA"/>
                </a:solidFill>
                <a:latin typeface="Inter"/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6F5F1"/>
                </a:solidFill>
                <a:latin typeface="Inter"/>
              </a:rPr>
              <a:t>www.levitatte.com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147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D2D0CA"/>
                </a:solidFill>
                <a:latin typeface="Inter"/>
              </a:rPr>
              <a:t>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147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6F5F1"/>
                </a:solidFill>
                <a:latin typeface="Inter"/>
              </a:rPr>
              <a:t>Bengaluru, Karnataka,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0" i="1">
                <a:solidFill>
                  <a:srgbClr val="EFEDE8"/>
                </a:solidFill>
                <a:latin typeface="Playfair Display"/>
              </a:rPr>
              <a:t>Empowering Individuals. Transforming Organizations.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