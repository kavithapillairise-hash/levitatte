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847" y="786384"/>
            <a:ext cx="2286000" cy="15597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2871216"/>
            <a:ext cx="1219169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4600" b="1" i="0" spc="800">
                <a:solidFill>
                  <a:srgbClr val="F6F5F1"/>
                </a:solidFill>
                <a:latin typeface="Inter"/>
              </a:rPr>
              <a:t>LEVITATTE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70332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1" i="0" spc="550">
                <a:solidFill>
                  <a:srgbClr val="C9A84C"/>
                </a:solidFill>
                <a:latin typeface="Inter"/>
              </a:rPr>
              <a:t>LEARNING &amp; DEVELOPMENT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10047" y="4224528"/>
            <a:ext cx="1371600" cy="1828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4370832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800" b="0" i="1">
                <a:solidFill>
                  <a:srgbClr val="E8E4DA"/>
                </a:solidFill>
                <a:latin typeface="Playfair Display"/>
              </a:rPr>
              <a:t>Empowering Individuals. Transforming Organizations.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50" b="0" i="0">
                <a:solidFill>
                  <a:srgbClr val="B9B6AE"/>
                </a:solidFill>
                <a:latin typeface="Inter"/>
              </a:rPr>
              <a:t>Patients judge what they can feel, not what they can't see.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199632"/>
            <a:ext cx="1219169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000" b="0" i="0" spc="300">
                <a:solidFill>
                  <a:srgbClr val="C9A84C"/>
                </a:solidFill>
                <a:latin typeface="Inter"/>
              </a:rPr>
              <a:t>www.levitatte.com</a:t>
            </a:r>
            <a:r>
              <a:rPr sz="1000" b="0" i="0" spc="300">
                <a:solidFill>
                  <a:srgbClr val="6A6761"/>
                </a:solidFill>
                <a:latin typeface="Inter"/>
              </a:rPr>
              <a:t>      BENGALURU,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815" y="3200400"/>
            <a:ext cx="4572000" cy="311940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41248" y="1449324"/>
            <a:ext cx="310896" cy="2011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137160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60">
                <a:solidFill>
                  <a:srgbClr val="C9A84C"/>
                </a:solidFill>
                <a:latin typeface="Inter"/>
              </a:rPr>
              <a:t>THE MOMENT THAT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920240"/>
            <a:ext cx="9960559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</a:pPr>
            <a:r>
              <a:rPr sz="4000" b="0" i="0">
                <a:solidFill>
                  <a:srgbClr val="F6F5F1"/>
                </a:solidFill>
                <a:latin typeface="Playfair Display"/>
              </a:rPr>
              <a:t>No one arrives at a hospital on their best day. How you meet them is what they remember.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343400"/>
            <a:ext cx="1005840" cy="1828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553712"/>
            <a:ext cx="7491679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450" b="0" i="0">
                <a:solidFill>
                  <a:srgbClr val="B9B6AE"/>
                </a:solidFill>
                <a:latin typeface="Inter"/>
              </a:rPr>
              <a:t>Patients cannot see your clinical excellence — they feel it in every welcome, every wait explained with care, every worried family made to feel human.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 spc="220">
                <a:solidFill>
                  <a:srgbClr val="8C8982"/>
                </a:solidFill>
                <a:latin typeface="Inter"/>
              </a:rPr>
              <a:t>LEVITATTE</a:t>
            </a:r>
            <a:r>
              <a:rPr sz="800" b="0" i="0" spc="220">
                <a:solidFill>
                  <a:srgbClr val="6A6761"/>
                </a:solidFill>
                <a:latin typeface="Inter"/>
              </a:rPr>
              <a:t>   LEARNING &amp;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1647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C9A84C"/>
                </a:solidFill>
                <a:latin typeface="Playfair Display"/>
              </a:rPr>
              <a:t>02</a:t>
            </a:r>
            <a:r>
              <a:rPr sz="800" b="0" i="0">
                <a:solidFill>
                  <a:srgbClr val="6A6761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519" y="457200"/>
            <a:ext cx="566928" cy="38680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41248" y="736092"/>
            <a:ext cx="310896" cy="2011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65836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60">
                <a:solidFill>
                  <a:srgbClr val="C9A84C"/>
                </a:solidFill>
                <a:latin typeface="Inter"/>
              </a:rPr>
              <a:t>THE GAP PATIENTS FEEL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987552"/>
            <a:ext cx="959479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</a:pPr>
            <a:r>
              <a:rPr sz="3200" b="0" i="0">
                <a:solidFill>
                  <a:srgbClr val="F6F5F1"/>
                </a:solidFill>
                <a:latin typeface="Playfair Display Medium"/>
              </a:rPr>
              <a:t>They can't see the medicine. They feel the manner.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561592"/>
            <a:ext cx="822960" cy="1828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17040"/>
            <a:ext cx="8131759" cy="6766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B9B6AE"/>
                </a:solidFill>
                <a:latin typeface="Inter"/>
              </a:rPr>
              <a:t>Clinical work happens where patients rarely see it. What they judge is the welcome, the waiting, the words — and the warmth behind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494280"/>
            <a:ext cx="2421559" cy="3063240"/>
          </a:xfrm>
          <a:prstGeom prst="roundRect">
            <a:avLst>
              <a:gd name="adj" fmla="val 4500"/>
            </a:avLst>
          </a:prstGeom>
          <a:solidFill>
            <a:srgbClr val="19191A"/>
          </a:solidFill>
          <a:ln w="9525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2786888"/>
            <a:ext cx="1836343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0" i="0">
                <a:solidFill>
                  <a:srgbClr val="C9A84C"/>
                </a:solidFill>
                <a:latin typeface="Playfair Display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3244088"/>
            <a:ext cx="1836343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6F5F1"/>
                </a:solidFill>
                <a:latin typeface="Inter"/>
              </a:rPr>
              <a:t>The first impression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4323080"/>
            <a:ext cx="1836343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B9B6AE"/>
                </a:solidFill>
                <a:latin typeface="Inter"/>
              </a:rPr>
              <a:t>Reception, admissions and the ER set the tone in seconds — often while a patient is frightened and unsure.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37127" y="2494280"/>
            <a:ext cx="2421559" cy="3063240"/>
          </a:xfrm>
          <a:prstGeom prst="roundRect">
            <a:avLst>
              <a:gd name="adj" fmla="val 4500"/>
            </a:avLst>
          </a:prstGeom>
          <a:solidFill>
            <a:srgbClr val="19191A"/>
          </a:solidFill>
          <a:ln w="9525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9735" y="2786888"/>
            <a:ext cx="1836343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0" i="0">
                <a:solidFill>
                  <a:srgbClr val="C9A84C"/>
                </a:solidFill>
                <a:latin typeface="Playfair Display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9735" y="3244088"/>
            <a:ext cx="1836343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6F5F1"/>
                </a:solidFill>
                <a:latin typeface="Inter"/>
              </a:rPr>
              <a:t>Anxiety, grief and waiting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29735" y="4323080"/>
            <a:ext cx="1836343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B9B6AE"/>
                </a:solidFill>
                <a:latin typeface="Inter"/>
              </a:rPr>
              <a:t>Delays, bills and hard news land harder on people already afraid — empathy, or its absence, is remembered.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2494280"/>
            <a:ext cx="2421559" cy="3063240"/>
          </a:xfrm>
          <a:prstGeom prst="roundRect">
            <a:avLst>
              <a:gd name="adj" fmla="val 4500"/>
            </a:avLst>
          </a:prstGeom>
          <a:solidFill>
            <a:srgbClr val="19191A"/>
          </a:solidFill>
          <a:ln w="9525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5615" y="2786888"/>
            <a:ext cx="1836343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0" i="0">
                <a:solidFill>
                  <a:srgbClr val="C9A84C"/>
                </a:solidFill>
                <a:latin typeface="Playfair Display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5615" y="3244088"/>
            <a:ext cx="1836343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6F5F1"/>
                </a:solidFill>
                <a:latin typeface="Inter"/>
              </a:rPr>
              <a:t>Warmth worn thin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5615" y="4323080"/>
            <a:ext cx="1836343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B9B6AE"/>
                </a:solidFill>
                <a:latin typeface="Inter"/>
              </a:rPr>
              <a:t>Stress and burnout quietly drain the kindness even skilled, caring staff want to give every patient.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28887" y="2494280"/>
            <a:ext cx="2421559" cy="3063240"/>
          </a:xfrm>
          <a:prstGeom prst="roundRect">
            <a:avLst>
              <a:gd name="adj" fmla="val 4500"/>
            </a:avLst>
          </a:prstGeom>
          <a:solidFill>
            <a:srgbClr val="19191A"/>
          </a:solidFill>
          <a:ln w="9525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21495" y="2786888"/>
            <a:ext cx="1836343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900" b="0" i="0">
                <a:solidFill>
                  <a:srgbClr val="C9A84C"/>
                </a:solidFill>
                <a:latin typeface="Playfair Display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1495" y="3244088"/>
            <a:ext cx="1836343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6F5F1"/>
                </a:solidFill>
                <a:latin typeface="Inter"/>
              </a:rPr>
              <a:t>What the world hears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1495" y="4323080"/>
            <a:ext cx="1836343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B9B6AE"/>
                </a:solidFill>
                <a:latin typeface="Inter"/>
              </a:rPr>
              <a:t>One difficult experience can outlast great care — in a lingering review, a lost referral, a family's trust shaken.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 spc="220">
                <a:solidFill>
                  <a:srgbClr val="8C8982"/>
                </a:solidFill>
                <a:latin typeface="Inter"/>
              </a:rPr>
              <a:t>LEVITATTE</a:t>
            </a:r>
            <a:r>
              <a:rPr sz="800" b="0" i="0" spc="220">
                <a:solidFill>
                  <a:srgbClr val="6A6761"/>
                </a:solidFill>
                <a:latin typeface="Inter"/>
              </a:rPr>
              <a:t>   LEARNING &amp; DEVELOPMENT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1647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C9A84C"/>
                </a:solidFill>
                <a:latin typeface="Playfair Display"/>
              </a:rPr>
              <a:t>03</a:t>
            </a:r>
            <a:r>
              <a:rPr sz="800" b="0" i="0">
                <a:solidFill>
                  <a:srgbClr val="6A6761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519" y="457200"/>
            <a:ext cx="566928" cy="38680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41248" y="736092"/>
            <a:ext cx="310896" cy="2011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65836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60">
                <a:solidFill>
                  <a:srgbClr val="C9A84C"/>
                </a:solidFill>
                <a:latin typeface="Inter"/>
              </a:rPr>
              <a:t>THE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987552"/>
            <a:ext cx="959479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</a:pPr>
            <a:r>
              <a:rPr sz="3200" b="0" i="0">
                <a:solidFill>
                  <a:srgbClr val="F6F5F1"/>
                </a:solidFill>
                <a:latin typeface="Playfair Display Medium"/>
              </a:rPr>
              <a:t>A kindness rivals can't copy.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561592"/>
            <a:ext cx="822960" cy="1828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17040"/>
            <a:ext cx="8131759" cy="6766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B9B6AE"/>
                </a:solidFill>
                <a:latin typeface="Inter"/>
              </a:rPr>
              <a:t>Equipment and talent can be matched. The feeling of being truly cared for is far harder to copy — and patients never forget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2677160"/>
            <a:ext cx="3167786" cy="12801"/>
          </a:xfrm>
          <a:prstGeom prst="rect">
            <a:avLst/>
          </a:prstGeom>
          <a:solidFill>
            <a:srgbClr val="3A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33192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D9BE77"/>
                </a:solidFill>
                <a:latin typeface="Playfair Display Medium"/>
              </a:rPr>
              <a:t>Trust and loyalty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545840"/>
            <a:ext cx="2893466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B9B6AE"/>
                </a:solidFill>
                <a:latin typeface="Inter"/>
              </a:rPr>
              <a:t>When people feel safe and seen, they return, they refer, and they speak of you with warmth.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11954" y="2677160"/>
            <a:ext cx="3167786" cy="12801"/>
          </a:xfrm>
          <a:prstGeom prst="rect">
            <a:avLst/>
          </a:prstGeom>
          <a:solidFill>
            <a:srgbClr val="3A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1954" y="2933192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D9BE77"/>
                </a:solidFill>
                <a:latin typeface="Playfair Display Medium"/>
              </a:rPr>
              <a:t>Calmer floors, fewer flare-ups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954" y="3545840"/>
            <a:ext cx="2893466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B9B6AE"/>
                </a:solidFill>
                <a:latin typeface="Inter"/>
              </a:rPr>
              <a:t>Confident, empathetic teams de-escalate early, easing complaints and the strain they place on everyone.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2660" y="2677160"/>
            <a:ext cx="3167786" cy="12801"/>
          </a:xfrm>
          <a:prstGeom prst="rect">
            <a:avLst/>
          </a:prstGeom>
          <a:solidFill>
            <a:srgbClr val="3A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2660" y="2933192"/>
            <a:ext cx="316778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D9BE77"/>
                </a:solidFill>
                <a:latin typeface="Playfair Display Medium"/>
              </a:rPr>
              <a:t>A reputation to choose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2660" y="3545840"/>
            <a:ext cx="2893466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B9B6AE"/>
                </a:solidFill>
                <a:latin typeface="Inter"/>
              </a:rPr>
              <a:t>For patients who can choose their hospital, how they are treated is often what decides — and what they remember.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 spc="220">
                <a:solidFill>
                  <a:srgbClr val="8C8982"/>
                </a:solidFill>
                <a:latin typeface="Inter"/>
              </a:rPr>
              <a:t>LEVITATTE</a:t>
            </a:r>
            <a:r>
              <a:rPr sz="800" b="0" i="0" spc="220">
                <a:solidFill>
                  <a:srgbClr val="6A6761"/>
                </a:solidFill>
                <a:latin typeface="Inter"/>
              </a:rPr>
              <a:t>   LEARNING &amp; DEVELOPMENT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1647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C9A84C"/>
                </a:solidFill>
                <a:latin typeface="Playfair Display"/>
              </a:rPr>
              <a:t>04</a:t>
            </a:r>
            <a:r>
              <a:rPr sz="800" b="0" i="0">
                <a:solidFill>
                  <a:srgbClr val="6A6761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519" y="457200"/>
            <a:ext cx="566928" cy="38680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41248" y="809244"/>
            <a:ext cx="310896" cy="2011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73152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60">
                <a:solidFill>
                  <a:srgbClr val="C9A84C"/>
                </a:solidFill>
                <a:latin typeface="Inter"/>
              </a:rPr>
              <a:t>ABOUT LEVITATTE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097280"/>
            <a:ext cx="566928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F6F5F1"/>
                </a:solidFill>
                <a:latin typeface="Playfair Display Medium"/>
              </a:rPr>
              <a:t>Luxury service, brought to the bedside.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133599"/>
            <a:ext cx="822960" cy="1828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343912"/>
            <a:ext cx="5532120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B9B6AE"/>
                </a:solidFill>
                <a:latin typeface="Inter"/>
              </a:rPr>
              <a:t>Levitatte is a Bengaluru-based luxury training company that shapes how people are treated. We bring the standards of the world's finest service brands to healthcare — reframed for the tenderness care demands.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960120"/>
            <a:ext cx="4446727" cy="1965960"/>
          </a:xfrm>
          <a:prstGeom prst="roundRect">
            <a:avLst>
              <a:gd name="adj" fmla="val 5000"/>
            </a:avLst>
          </a:prstGeom>
          <a:solidFill>
            <a:srgbClr val="19191A"/>
          </a:solidFill>
          <a:ln w="9525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96328" y="978408"/>
            <a:ext cx="914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5600" b="0" i="0">
                <a:solidFill>
                  <a:srgbClr val="C9A84C"/>
                </a:solidFill>
                <a:latin typeface="Playfair Display Bold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2904" y="1636776"/>
            <a:ext cx="378835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F6F5F1"/>
                </a:solidFill>
                <a:latin typeface="Playfair Display"/>
              </a:rPr>
              <a:t>To empower individuals and organizations for exceptional client management success.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2904" y="2587752"/>
            <a:ext cx="37883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 spc="300">
                <a:solidFill>
                  <a:srgbClr val="C9A84C"/>
                </a:solidFill>
                <a:latin typeface="Inter"/>
              </a:rPr>
              <a:t>OUR 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8404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1" i="0" spc="300">
                <a:solidFill>
                  <a:srgbClr val="C9A84C"/>
                </a:solidFill>
                <a:latin typeface="Inter"/>
              </a:rPr>
              <a:t>WHAT WE STAND FOR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4297680"/>
            <a:ext cx="5071719" cy="1536192"/>
          </a:xfrm>
          <a:prstGeom prst="roundRect">
            <a:avLst>
              <a:gd name="adj" fmla="val 5000"/>
            </a:avLst>
          </a:prstGeom>
          <a:solidFill>
            <a:srgbClr val="19191A"/>
          </a:solidFill>
          <a:ln w="9525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" y="4297680"/>
            <a:ext cx="45720" cy="153619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572000"/>
            <a:ext cx="44316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D9BE77"/>
                </a:solidFill>
                <a:latin typeface="Playfair Display Medium"/>
              </a:rPr>
              <a:t>Genuine Connections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5084064"/>
            <a:ext cx="4413351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B9B6AE"/>
                </a:solidFill>
                <a:latin typeface="Inter"/>
              </a:rPr>
              <a:t>We build trust through respect and sincere communication — the heart of how patients want to be met.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727" y="4297680"/>
            <a:ext cx="5071719" cy="1536192"/>
          </a:xfrm>
          <a:prstGeom prst="roundRect">
            <a:avLst>
              <a:gd name="adj" fmla="val 5000"/>
            </a:avLst>
          </a:prstGeom>
          <a:solidFill>
            <a:srgbClr val="19191A"/>
          </a:solidFill>
          <a:ln w="9525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8727" y="4297680"/>
            <a:ext cx="45720" cy="153619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7911" y="4572000"/>
            <a:ext cx="443163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D9BE77"/>
                </a:solidFill>
                <a:latin typeface="Playfair Display Medium"/>
              </a:rPr>
              <a:t>Continuous Growth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7911" y="5084064"/>
            <a:ext cx="4413351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B9B6AE"/>
                </a:solidFill>
                <a:latin typeface="Inter"/>
              </a:rPr>
              <a:t>Curiosity and innovation keep teams learning, so care stays warm long after the workshop ends.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 spc="220">
                <a:solidFill>
                  <a:srgbClr val="8C8982"/>
                </a:solidFill>
                <a:latin typeface="Inter"/>
              </a:rPr>
              <a:t>LEVITATTE</a:t>
            </a:r>
            <a:r>
              <a:rPr sz="800" b="0" i="0" spc="220">
                <a:solidFill>
                  <a:srgbClr val="6A6761"/>
                </a:solidFill>
                <a:latin typeface="Inter"/>
              </a:rPr>
              <a:t>   LEARNING &amp; DEVELOPMENT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1647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C9A84C"/>
                </a:solidFill>
                <a:latin typeface="Playfair Display"/>
              </a:rPr>
              <a:t>05</a:t>
            </a:r>
            <a:r>
              <a:rPr sz="800" b="0" i="0">
                <a:solidFill>
                  <a:srgbClr val="6A6761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pot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founder_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37360"/>
            <a:ext cx="3108960" cy="31089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54880" y="1083564"/>
            <a:ext cx="310896" cy="2011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0" y="100584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60">
                <a:solidFill>
                  <a:srgbClr val="C9A84C"/>
                </a:solidFill>
                <a:latin typeface="Inter"/>
              </a:rPr>
              <a:t>THE FOUNDER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35024"/>
            <a:ext cx="6595567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400" b="0" i="0">
                <a:solidFill>
                  <a:srgbClr val="F6F5F1"/>
                </a:solidFill>
                <a:latin typeface="Playfair Display Medium"/>
              </a:rPr>
              <a:t>Kavitha Pillai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75104"/>
            <a:ext cx="6595567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40">
                <a:solidFill>
                  <a:srgbClr val="C9A84C"/>
                </a:solidFill>
                <a:latin typeface="Inter"/>
              </a:rPr>
              <a:t>FOUNDER · MANAGING DIRECTOR &amp; HEAD OF TRAINING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2395728"/>
            <a:ext cx="822960" cy="1828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578608"/>
            <a:ext cx="6595567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00" b="0" i="0">
                <a:solidFill>
                  <a:srgbClr val="B9B6AE"/>
                </a:solidFill>
                <a:latin typeface="Inter"/>
              </a:rPr>
              <a:t>Kavitha Pillai has spent 25+ years perfecting the art of luxury service, public relations and personality development — training people to make others feel valued. She founded Levitatte to bring that craft to the places it matters most.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00" b="0" i="0">
                <a:solidFill>
                  <a:srgbClr val="B9B6AE"/>
                </a:solidFill>
                <a:latin typeface="Inter"/>
              </a:rPr>
              <a:t>A Master in NLP and Organizational Behavioral Psychology, her expertise spans grooming, communication, client-relationship management and luxury brand management. In healthcare, she turns that depth into warmth patients can feel.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5029200"/>
            <a:ext cx="2602485" cy="384048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5047488"/>
            <a:ext cx="2602485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 spc="120">
                <a:solidFill>
                  <a:srgbClr val="D9BE77"/>
                </a:solidFill>
                <a:latin typeface="Inter"/>
              </a:rPr>
              <a:t>25+ YEARS IN LUXURY 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21957" y="5029200"/>
            <a:ext cx="1497794" cy="384048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21957" y="5047488"/>
            <a:ext cx="1497794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 spc="120">
                <a:solidFill>
                  <a:srgbClr val="D9BE77"/>
                </a:solidFill>
                <a:latin typeface="Inter"/>
              </a:rPr>
              <a:t>MASTER IN NLP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5559552"/>
            <a:ext cx="2661808" cy="384048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5577840"/>
            <a:ext cx="2661808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 spc="120">
                <a:solidFill>
                  <a:srgbClr val="D9BE77"/>
                </a:solidFill>
                <a:latin typeface="Inter"/>
              </a:rPr>
              <a:t>ORG. BEHAVIORAL PSYCHOLOGY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1280" y="5559552"/>
            <a:ext cx="2809714" cy="384048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1280" y="5577840"/>
            <a:ext cx="2809714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 spc="120">
                <a:solidFill>
                  <a:srgbClr val="D9BE77"/>
                </a:solidFill>
                <a:latin typeface="Inter"/>
              </a:rPr>
              <a:t>PR &amp; PERSONALITY DEVELOPMENT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 spc="220">
                <a:solidFill>
                  <a:srgbClr val="8C8982"/>
                </a:solidFill>
                <a:latin typeface="Inter"/>
              </a:rPr>
              <a:t>LEVITATTE</a:t>
            </a:r>
            <a:r>
              <a:rPr sz="800" b="0" i="0" spc="220">
                <a:solidFill>
                  <a:srgbClr val="6A6761"/>
                </a:solidFill>
                <a:latin typeface="Inter"/>
              </a:rPr>
              <a:t>   LEARNING &amp; DEVELOPMENT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1647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C9A84C"/>
                </a:solidFill>
                <a:latin typeface="Playfair Display"/>
              </a:rPr>
              <a:t>06</a:t>
            </a:r>
            <a:r>
              <a:rPr sz="800" b="0" i="0">
                <a:solidFill>
                  <a:srgbClr val="6A6761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519" y="457200"/>
            <a:ext cx="566928" cy="38680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41248" y="736092"/>
            <a:ext cx="310896" cy="2011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65836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60">
                <a:solidFill>
                  <a:srgbClr val="C9A84C"/>
                </a:solidFill>
                <a:latin typeface="Inter"/>
              </a:rPr>
              <a:t>SIGNATURE PROGRAMS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987552"/>
            <a:ext cx="959479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</a:pPr>
            <a:r>
              <a:rPr sz="3200" b="0" i="0">
                <a:solidFill>
                  <a:srgbClr val="F6F5F1"/>
                </a:solidFill>
                <a:latin typeface="Playfair Display Medium"/>
              </a:rPr>
              <a:t>Eight programs, reframed for care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561592"/>
            <a:ext cx="822960" cy="1828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17040"/>
            <a:ext cx="8131759" cy="6766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B9B6AE"/>
                </a:solidFill>
                <a:latin typeface="Inter"/>
              </a:rPr>
              <a:t>Eight signature Levitatte programs — every one focused on human interaction, presence and communication, never clinical skills.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402840"/>
            <a:ext cx="2435275" cy="1755648"/>
          </a:xfrm>
          <a:prstGeom prst="roundRect">
            <a:avLst>
              <a:gd name="adj" fmla="val 5000"/>
            </a:avLst>
          </a:prstGeom>
          <a:solidFill>
            <a:srgbClr val="19191A"/>
          </a:solidFill>
          <a:ln w="762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2585720"/>
            <a:ext cx="20695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C9A84C"/>
                </a:solidFill>
                <a:latin typeface="Playfair Display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2951480"/>
            <a:ext cx="20329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080" b="1" i="0">
                <a:solidFill>
                  <a:srgbClr val="F6F5F1"/>
                </a:solidFill>
                <a:latin typeface="Inter"/>
              </a:rPr>
              <a:t>Grooming &amp; Personality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3372104"/>
            <a:ext cx="2032939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60" b="0" i="0">
                <a:solidFill>
                  <a:srgbClr val="B9B6AE"/>
                </a:solidFill>
                <a:latin typeface="Inter"/>
              </a:rPr>
              <a:t>A calm, confident, well-presented presence that reassures patients and families on sight.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32555" y="2402840"/>
            <a:ext cx="2435275" cy="1755648"/>
          </a:xfrm>
          <a:prstGeom prst="roundRect">
            <a:avLst>
              <a:gd name="adj" fmla="val 5000"/>
            </a:avLst>
          </a:prstGeom>
          <a:solidFill>
            <a:srgbClr val="19191A"/>
          </a:solidFill>
          <a:ln w="762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52011" y="2585720"/>
            <a:ext cx="20695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C9A84C"/>
                </a:solidFill>
                <a:latin typeface="Playfair Display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2011" y="2951480"/>
            <a:ext cx="20329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080" b="1" i="0">
                <a:solidFill>
                  <a:srgbClr val="F6F5F1"/>
                </a:solidFill>
                <a:latin typeface="Inter"/>
              </a:rPr>
              <a:t>Professional Etiquettes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2011" y="3372104"/>
            <a:ext cx="2032939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60" b="0" i="0">
                <a:solidFill>
                  <a:srgbClr val="B9B6AE"/>
                </a:solidFill>
                <a:latin typeface="Inter"/>
              </a:rPr>
              <a:t>The courtesies of care — respectful greetings, warm handoffs and dignity at every step.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863" y="2402840"/>
            <a:ext cx="2435275" cy="1755648"/>
          </a:xfrm>
          <a:prstGeom prst="roundRect">
            <a:avLst>
              <a:gd name="adj" fmla="val 5000"/>
            </a:avLst>
          </a:prstGeom>
          <a:solidFill>
            <a:srgbClr val="19191A"/>
          </a:solidFill>
          <a:ln w="762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2585720"/>
            <a:ext cx="20695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C9A84C"/>
                </a:solidFill>
                <a:latin typeface="Playfair Display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3319" y="2951480"/>
            <a:ext cx="20329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080" b="1" i="0">
                <a:solidFill>
                  <a:srgbClr val="F6F5F1"/>
                </a:solidFill>
                <a:latin typeface="Inter"/>
              </a:rPr>
              <a:t>Understanding Client Needs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3319" y="3372104"/>
            <a:ext cx="2032939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60" b="0" i="0">
                <a:solidFill>
                  <a:srgbClr val="B9B6AE"/>
                </a:solidFill>
                <a:latin typeface="Inter"/>
              </a:rPr>
              <a:t>Reading what patients and families truly need — spoken and unspoken — and responding with care.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171" y="2402840"/>
            <a:ext cx="2435275" cy="1755648"/>
          </a:xfrm>
          <a:prstGeom prst="roundRect">
            <a:avLst>
              <a:gd name="adj" fmla="val 5000"/>
            </a:avLst>
          </a:prstGeom>
          <a:solidFill>
            <a:srgbClr val="19191A"/>
          </a:solidFill>
          <a:ln w="762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34627" y="2585720"/>
            <a:ext cx="20695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C9A84C"/>
                </a:solidFill>
                <a:latin typeface="Playfair Display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627" y="2951480"/>
            <a:ext cx="20329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080" b="1" i="0">
                <a:solidFill>
                  <a:srgbClr val="F6F5F1"/>
                </a:solidFill>
                <a:latin typeface="Inter"/>
              </a:rPr>
              <a:t>Effective Communication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4627" y="3372104"/>
            <a:ext cx="2032939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60" b="0" i="0">
                <a:solidFill>
                  <a:srgbClr val="B9B6AE"/>
                </a:solidFill>
                <a:latin typeface="Inter"/>
              </a:rPr>
              <a:t>Explaining waits, costs and hard news clearly and kindly — within scope, always with empathy.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4377944"/>
            <a:ext cx="2435275" cy="1755648"/>
          </a:xfrm>
          <a:prstGeom prst="roundRect">
            <a:avLst>
              <a:gd name="adj" fmla="val 5000"/>
            </a:avLst>
          </a:prstGeom>
          <a:solidFill>
            <a:srgbClr val="19191A"/>
          </a:solidFill>
          <a:ln w="762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0704" y="4560824"/>
            <a:ext cx="20695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C9A84C"/>
                </a:solidFill>
                <a:latin typeface="Playfair Display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4926584"/>
            <a:ext cx="20329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080" b="1" i="0">
                <a:solidFill>
                  <a:srgbClr val="F6F5F1"/>
                </a:solidFill>
                <a:latin typeface="Inter"/>
              </a:rPr>
              <a:t>Handling Difficult Clients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" y="5347208"/>
            <a:ext cx="2032939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60" b="0" i="0">
                <a:solidFill>
                  <a:srgbClr val="B9B6AE"/>
                </a:solidFill>
                <a:latin typeface="Inter"/>
              </a:rPr>
              <a:t>Meeting anger, grief and grievances with composure — de-escalating and restoring trust.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32555" y="4377944"/>
            <a:ext cx="2435275" cy="1755648"/>
          </a:xfrm>
          <a:prstGeom prst="roundRect">
            <a:avLst>
              <a:gd name="adj" fmla="val 5000"/>
            </a:avLst>
          </a:prstGeom>
          <a:solidFill>
            <a:srgbClr val="19191A"/>
          </a:solidFill>
          <a:ln w="762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52011" y="4560824"/>
            <a:ext cx="20695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C9A84C"/>
                </a:solidFill>
                <a:latin typeface="Playfair Display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52011" y="4926584"/>
            <a:ext cx="20329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080" b="1" i="0">
                <a:solidFill>
                  <a:srgbClr val="F6F5F1"/>
                </a:solidFill>
                <a:latin typeface="Inter"/>
              </a:rPr>
              <a:t>Business Etiquettes &amp; Networking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52011" y="5347208"/>
            <a:ext cx="2032939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60" b="0" i="0">
                <a:solidFill>
                  <a:srgbClr val="B9B6AE"/>
                </a:solidFill>
                <a:latin typeface="Inter"/>
              </a:rPr>
              <a:t>Poise with referring doctors, insurers and partners — the professional face of your hospital.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23863" y="4377944"/>
            <a:ext cx="2435275" cy="1755648"/>
          </a:xfrm>
          <a:prstGeom prst="roundRect">
            <a:avLst>
              <a:gd name="adj" fmla="val 5000"/>
            </a:avLst>
          </a:prstGeom>
          <a:solidFill>
            <a:srgbClr val="19191A"/>
          </a:solidFill>
          <a:ln w="762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3319" y="4560824"/>
            <a:ext cx="20695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C9A84C"/>
                </a:solidFill>
                <a:latin typeface="Playfair Display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3319" y="4926584"/>
            <a:ext cx="20329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080" b="1" i="0">
                <a:solidFill>
                  <a:srgbClr val="F6F5F1"/>
                </a:solidFill>
                <a:latin typeface="Inter"/>
              </a:rPr>
              <a:t>Cultural Sensitivity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3319" y="5347208"/>
            <a:ext cx="2032939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60" b="0" i="0">
                <a:solidFill>
                  <a:srgbClr val="B9B6AE"/>
                </a:solidFill>
                <a:latin typeface="Inter"/>
              </a:rPr>
              <a:t>Respecting every language, faith and background so each patient feels understood.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15171" y="4377944"/>
            <a:ext cx="2435275" cy="1755648"/>
          </a:xfrm>
          <a:prstGeom prst="roundRect">
            <a:avLst>
              <a:gd name="adj" fmla="val 5000"/>
            </a:avLst>
          </a:prstGeom>
          <a:solidFill>
            <a:srgbClr val="19191A"/>
          </a:solidFill>
          <a:ln w="762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34627" y="4560824"/>
            <a:ext cx="20695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0" i="0">
                <a:solidFill>
                  <a:srgbClr val="C9A84C"/>
                </a:solidFill>
                <a:latin typeface="Playfair Display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34627" y="4926584"/>
            <a:ext cx="20329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080" b="1" i="0">
                <a:solidFill>
                  <a:srgbClr val="F6F5F1"/>
                </a:solidFill>
                <a:latin typeface="Inter"/>
              </a:rPr>
              <a:t>Nurturing Long-Term Relationships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34627" y="5347208"/>
            <a:ext cx="2032939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60" b="0" i="0">
                <a:solidFill>
                  <a:srgbClr val="B9B6AE"/>
                </a:solidFill>
                <a:latin typeface="Inter"/>
              </a:rPr>
              <a:t>Turning one good experience into lasting trust, loyalty and heartfelt word of mouth.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 spc="220">
                <a:solidFill>
                  <a:srgbClr val="8C8982"/>
                </a:solidFill>
                <a:latin typeface="Inter"/>
              </a:rPr>
              <a:t>LEVITATTE</a:t>
            </a:r>
            <a:r>
              <a:rPr sz="800" b="0" i="0" spc="220">
                <a:solidFill>
                  <a:srgbClr val="6A6761"/>
                </a:solidFill>
                <a:latin typeface="Inter"/>
              </a:rPr>
              <a:t>   LEARNING &amp; DEVELOPMENT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21647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C9A84C"/>
                </a:solidFill>
                <a:latin typeface="Playfair Display"/>
              </a:rPr>
              <a:t>07</a:t>
            </a:r>
            <a:r>
              <a:rPr sz="800" b="0" i="0">
                <a:solidFill>
                  <a:srgbClr val="6A6761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519" y="457200"/>
            <a:ext cx="566928" cy="38680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41248" y="736092"/>
            <a:ext cx="310896" cy="2011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65836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60">
                <a:solidFill>
                  <a:srgbClr val="C9A84C"/>
                </a:solidFill>
                <a:latin typeface="Inter"/>
              </a:rPr>
              <a:t>THE LEVITATTE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987552"/>
            <a:ext cx="959479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</a:pPr>
            <a:r>
              <a:rPr sz="3200" b="0" i="0">
                <a:solidFill>
                  <a:srgbClr val="F6F5F1"/>
                </a:solidFill>
                <a:latin typeface="Playfair Display Medium"/>
              </a:rPr>
              <a:t>How the warmth takes hold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561592"/>
            <a:ext cx="822960" cy="1828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17040"/>
            <a:ext cx="813175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B9B6AE"/>
                </a:solidFill>
                <a:latin typeface="Inter"/>
              </a:rPr>
              <a:t>Interactive workshops and NLP techniques, grounded in real hospital scenarios your teams face every day.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238248"/>
            <a:ext cx="2421559" cy="2743200"/>
          </a:xfrm>
          <a:prstGeom prst="roundRect">
            <a:avLst>
              <a:gd name="adj" fmla="val 4500"/>
            </a:avLst>
          </a:prstGeom>
          <a:solidFill>
            <a:srgbClr val="19191A"/>
          </a:solidFill>
          <a:ln w="889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549144"/>
            <a:ext cx="1872919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0" i="0">
                <a:solidFill>
                  <a:srgbClr val="C9A84C"/>
                </a:solidFill>
                <a:latin typeface="Playfair Display Medium"/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33856" y="3408680"/>
            <a:ext cx="502920" cy="1828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573272"/>
            <a:ext cx="18729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 spc="50">
                <a:solidFill>
                  <a:srgbClr val="F6F5F1"/>
                </a:solidFill>
                <a:latin typeface="Inter"/>
              </a:rPr>
              <a:t>Immerse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975608"/>
            <a:ext cx="1891207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B9B6AE"/>
                </a:solidFill>
                <a:latin typeface="Inter"/>
              </a:rPr>
              <a:t>We learn your floors, patients and pressures — from the ER desk to discharge and billing.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37127" y="2238248"/>
            <a:ext cx="2421559" cy="2743200"/>
          </a:xfrm>
          <a:prstGeom prst="roundRect">
            <a:avLst>
              <a:gd name="adj" fmla="val 4500"/>
            </a:avLst>
          </a:prstGeom>
          <a:solidFill>
            <a:srgbClr val="19191A"/>
          </a:solidFill>
          <a:ln w="889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11447" y="2549144"/>
            <a:ext cx="1872919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0" i="0">
                <a:solidFill>
                  <a:srgbClr val="C9A84C"/>
                </a:solidFill>
                <a:latin typeface="Playfair Display Medium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29735" y="3408680"/>
            <a:ext cx="502920" cy="1828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11447" y="3573272"/>
            <a:ext cx="18729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 spc="50">
                <a:solidFill>
                  <a:srgbClr val="F6F5F1"/>
                </a:solidFill>
                <a:latin typeface="Inter"/>
              </a:rPr>
              <a:t>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1447" y="3975608"/>
            <a:ext cx="1891207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B9B6AE"/>
                </a:solidFill>
                <a:latin typeface="Inter"/>
              </a:rPr>
              <a:t>Teams rehearse real moments — a frightened patient, an angry relative, a hard delay — through role-play.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2238248"/>
            <a:ext cx="2421559" cy="2743200"/>
          </a:xfrm>
          <a:prstGeom prst="roundRect">
            <a:avLst>
              <a:gd name="adj" fmla="val 4500"/>
            </a:avLst>
          </a:prstGeom>
          <a:solidFill>
            <a:srgbClr val="19191A"/>
          </a:solidFill>
          <a:ln w="889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7327" y="2549144"/>
            <a:ext cx="1872919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0" i="0">
                <a:solidFill>
                  <a:srgbClr val="C9A84C"/>
                </a:solidFill>
                <a:latin typeface="Playfair Display Medium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25615" y="3408680"/>
            <a:ext cx="502920" cy="1828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7327" y="3573272"/>
            <a:ext cx="18729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 spc="50">
                <a:solidFill>
                  <a:srgbClr val="F6F5F1"/>
                </a:solidFill>
                <a:latin typeface="Inter"/>
              </a:rPr>
              <a:t>Reflect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3975608"/>
            <a:ext cx="1891207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B9B6AE"/>
                </a:solidFill>
                <a:latin typeface="Inter"/>
              </a:rPr>
              <a:t>Guided feedback and case studies turn each rehearsal into insight staff can use tomorrow.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28887" y="2238248"/>
            <a:ext cx="2421559" cy="2743200"/>
          </a:xfrm>
          <a:prstGeom prst="roundRect">
            <a:avLst>
              <a:gd name="adj" fmla="val 4500"/>
            </a:avLst>
          </a:prstGeom>
          <a:solidFill>
            <a:srgbClr val="19191A"/>
          </a:solidFill>
          <a:ln w="889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03207" y="2549144"/>
            <a:ext cx="1872919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000" b="0" i="0">
                <a:solidFill>
                  <a:srgbClr val="C9A84C"/>
                </a:solidFill>
                <a:latin typeface="Playfair Display Medium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21495" y="3408680"/>
            <a:ext cx="502920" cy="1828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03207" y="3573272"/>
            <a:ext cx="18729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i="0" spc="50">
                <a:solidFill>
                  <a:srgbClr val="F6F5F1"/>
                </a:solidFill>
                <a:latin typeface="Inter"/>
              </a:rPr>
              <a:t>Embed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3207" y="3975608"/>
            <a:ext cx="1891207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B9B6AE"/>
                </a:solidFill>
                <a:latin typeface="Inter"/>
              </a:rPr>
              <a:t>Habits and shared language make warmth the everyday standard — long after we leave.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 spc="220">
                <a:solidFill>
                  <a:srgbClr val="8C8982"/>
                </a:solidFill>
                <a:latin typeface="Inter"/>
              </a:rPr>
              <a:t>LEVITATTE</a:t>
            </a:r>
            <a:r>
              <a:rPr sz="800" b="0" i="0" spc="220">
                <a:solidFill>
                  <a:srgbClr val="6A6761"/>
                </a:solidFill>
                <a:latin typeface="Inter"/>
              </a:rPr>
              <a:t>   LEARNING &amp; DEVELOPMENT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1647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C9A84C"/>
                </a:solidFill>
                <a:latin typeface="Playfair Display"/>
              </a:rPr>
              <a:t>08</a:t>
            </a:r>
            <a:r>
              <a:rPr sz="800" b="0" i="0">
                <a:solidFill>
                  <a:srgbClr val="6A6761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pot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519" y="457200"/>
            <a:ext cx="566928" cy="38680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41248" y="736092"/>
            <a:ext cx="310896" cy="2011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65836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60">
                <a:solidFill>
                  <a:srgbClr val="C9A84C"/>
                </a:solidFill>
                <a:latin typeface="Inter"/>
              </a:rPr>
              <a:t>WHY LEVITATTE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987552"/>
            <a:ext cx="959479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</a:pPr>
            <a:r>
              <a:rPr sz="3200" b="0" i="0">
                <a:solidFill>
                  <a:srgbClr val="F6F5F1"/>
                </a:solidFill>
                <a:latin typeface="Playfair Display Medium"/>
              </a:rPr>
              <a:t>Not customer service. Human service.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561592"/>
            <a:ext cx="822960" cy="1828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17040"/>
            <a:ext cx="813175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B9B6AE"/>
                </a:solidFill>
                <a:latin typeface="Inter"/>
              </a:rPr>
              <a:t>A luxury-service pedigree, reframed for the tenderness of care — and delivered by people who love this work.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2238248"/>
            <a:ext cx="45720" cy="14173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2238248"/>
            <a:ext cx="5025999" cy="1417320"/>
          </a:xfrm>
          <a:prstGeom prst="roundRect">
            <a:avLst>
              <a:gd name="adj" fmla="val 4000"/>
            </a:avLst>
          </a:prstGeom>
          <a:solidFill>
            <a:srgbClr val="19191A"/>
          </a:solidFill>
          <a:ln w="762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2475992"/>
            <a:ext cx="443163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D9BE77"/>
                </a:solidFill>
                <a:latin typeface="Playfair Display Medium"/>
              </a:rPr>
              <a:t>A world-class standard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951480"/>
            <a:ext cx="438591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B9B6AE"/>
                </a:solidFill>
                <a:latin typeface="Inter"/>
              </a:rPr>
              <a:t>We've trained teams at Porsche, Accenture and Toyota — reframed for the tenderness of care.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8727" y="2238248"/>
            <a:ext cx="45720" cy="14173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24447" y="2238248"/>
            <a:ext cx="5025999" cy="1417320"/>
          </a:xfrm>
          <a:prstGeom prst="roundRect">
            <a:avLst>
              <a:gd name="adj" fmla="val 4000"/>
            </a:avLst>
          </a:prstGeom>
          <a:solidFill>
            <a:srgbClr val="19191A"/>
          </a:solidFill>
          <a:ln w="762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4487" y="2475992"/>
            <a:ext cx="443163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D9BE77"/>
                </a:solidFill>
                <a:latin typeface="Playfair Display Medium"/>
              </a:rPr>
              <a:t>A real hospital pedigree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487" y="2951480"/>
            <a:ext cx="438591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B9B6AE"/>
                </a:solidFill>
                <a:latin typeface="Inter"/>
              </a:rPr>
              <a:t>We've trained healthcare teams at Fortis and Cloud9 Hospitals — this is care we already know.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3929888"/>
            <a:ext cx="45720" cy="14173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6968" y="3929888"/>
            <a:ext cx="5025999" cy="1417320"/>
          </a:xfrm>
          <a:prstGeom prst="roundRect">
            <a:avLst>
              <a:gd name="adj" fmla="val 4000"/>
            </a:avLst>
          </a:prstGeom>
          <a:solidFill>
            <a:srgbClr val="19191A"/>
          </a:solidFill>
          <a:ln w="762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8" y="4167632"/>
            <a:ext cx="443163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D9BE77"/>
                </a:solidFill>
                <a:latin typeface="Playfair Display Medium"/>
              </a:rPr>
              <a:t>It complements clinicians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4643120"/>
            <a:ext cx="438591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B9B6AE"/>
                </a:solidFill>
                <a:latin typeface="Inter"/>
              </a:rPr>
              <a:t>We support your nurses and staff, never critique them — making handoffs to clinicians warmer.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8727" y="3929888"/>
            <a:ext cx="45720" cy="141732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24447" y="3929888"/>
            <a:ext cx="5025999" cy="1417320"/>
          </a:xfrm>
          <a:prstGeom prst="roundRect">
            <a:avLst>
              <a:gd name="adj" fmla="val 4000"/>
            </a:avLst>
          </a:prstGeom>
          <a:solidFill>
            <a:srgbClr val="19191A"/>
          </a:solidFill>
          <a:ln w="762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4487" y="4167632"/>
            <a:ext cx="443163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700" b="0" i="0">
                <a:solidFill>
                  <a:srgbClr val="D9BE77"/>
                </a:solidFill>
                <a:latin typeface="Playfair Display Medium"/>
              </a:rPr>
              <a:t>It cares for caregivers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4487" y="4643120"/>
            <a:ext cx="4385919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B9B6AE"/>
                </a:solidFill>
                <a:latin typeface="Inter"/>
              </a:rPr>
              <a:t>Equipping teams for grief and grievance eases stress and burnout — and helps good people stay.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 spc="220">
                <a:solidFill>
                  <a:srgbClr val="8C8982"/>
                </a:solidFill>
                <a:latin typeface="Inter"/>
              </a:rPr>
              <a:t>LEVITATTE</a:t>
            </a:r>
            <a:r>
              <a:rPr sz="800" b="0" i="0" spc="220">
                <a:solidFill>
                  <a:srgbClr val="6A6761"/>
                </a:solidFill>
                <a:latin typeface="Inter"/>
              </a:rPr>
              <a:t>   LEARNING &amp; DEVELOPMENT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1647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C9A84C"/>
                </a:solidFill>
                <a:latin typeface="Playfair Display"/>
              </a:rPr>
              <a:t>09</a:t>
            </a:r>
            <a:r>
              <a:rPr sz="800" b="0" i="0">
                <a:solidFill>
                  <a:srgbClr val="6A6761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519" y="457200"/>
            <a:ext cx="566928" cy="38680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41248" y="736092"/>
            <a:ext cx="310896" cy="2011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65836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60">
                <a:solidFill>
                  <a:srgbClr val="C9A84C"/>
                </a:solidFill>
                <a:latin typeface="Inter"/>
              </a:rPr>
              <a:t>THE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987552"/>
            <a:ext cx="959479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</a:pPr>
            <a:r>
              <a:rPr sz="3200" b="0" i="0">
                <a:solidFill>
                  <a:srgbClr val="F6F5F1"/>
                </a:solidFill>
                <a:latin typeface="Playfair Display Medium"/>
              </a:rPr>
              <a:t>A standard you can trust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561592"/>
            <a:ext cx="822960" cy="1828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17040"/>
            <a:ext cx="813175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B9B6AE"/>
                </a:solidFill>
                <a:latin typeface="Inter"/>
              </a:rPr>
              <a:t>The same standards we bring to the world's finest brands — reframed for the tenderness of care.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192528"/>
            <a:ext cx="3137306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4800" b="0" i="0">
                <a:solidFill>
                  <a:srgbClr val="C9A84C"/>
                </a:solidFill>
                <a:latin typeface="Playfair Display SemiBold"/>
              </a:rPr>
              <a:t>25+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125216"/>
            <a:ext cx="3137306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1050" b="0" i="0" spc="60">
                <a:solidFill>
                  <a:srgbClr val="B9B6AE"/>
                </a:solidFill>
                <a:latin typeface="Inter"/>
              </a:rPr>
              <a:t>Years shaping how people are cared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7194" y="2192528"/>
            <a:ext cx="3137306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4800" b="0" i="0">
                <a:solidFill>
                  <a:srgbClr val="C9A84C"/>
                </a:solidFill>
                <a:latin typeface="Playfair Display SemiBold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7194" y="3125216"/>
            <a:ext cx="3137306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1050" b="0" i="0" spc="60">
                <a:solidFill>
                  <a:srgbClr val="B9B6AE"/>
                </a:solidFill>
                <a:latin typeface="Inter"/>
              </a:rPr>
              <a:t>Signature programs, made for hospitals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3140" y="2192528"/>
            <a:ext cx="3137306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4800" b="0" i="0">
                <a:solidFill>
                  <a:srgbClr val="C9A84C"/>
                </a:solidFill>
                <a:latin typeface="Playfair Display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3140" y="3125216"/>
            <a:ext cx="3137306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5000"/>
              </a:lnSpc>
            </a:pPr>
            <a:r>
              <a:rPr sz="1050" b="0" i="0" spc="60">
                <a:solidFill>
                  <a:srgbClr val="B9B6AE"/>
                </a:solidFill>
                <a:latin typeface="Inter"/>
              </a:rPr>
              <a:t>Hospital groups trained: Fortis &amp; Cloud9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3884168"/>
            <a:ext cx="10509199" cy="10972"/>
          </a:xfrm>
          <a:prstGeom prst="rect">
            <a:avLst/>
          </a:prstGeom>
          <a:solidFill>
            <a:srgbClr val="33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067048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000" b="1" i="0" spc="300">
                <a:solidFill>
                  <a:srgbClr val="C9A84C"/>
                </a:solidFill>
                <a:latin typeface="Inter"/>
              </a:rPr>
              <a:t>TRUSTED BY TEAMS 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4432808"/>
            <a:ext cx="2448991" cy="566928"/>
          </a:xfrm>
          <a:prstGeom prst="roundRect">
            <a:avLst>
              <a:gd name="adj" fmla="val 12000"/>
            </a:avLst>
          </a:prstGeom>
          <a:solidFill>
            <a:srgbClr val="19191A"/>
          </a:solidFill>
          <a:ln w="635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451096"/>
            <a:ext cx="2448991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DDDAD2"/>
                </a:solidFill>
                <a:latin typeface="Playfair Display Medium"/>
              </a:rPr>
              <a:t>Fortis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7983" y="4432808"/>
            <a:ext cx="2448991" cy="566928"/>
          </a:xfrm>
          <a:prstGeom prst="roundRect">
            <a:avLst>
              <a:gd name="adj" fmla="val 12000"/>
            </a:avLst>
          </a:prstGeom>
          <a:solidFill>
            <a:srgbClr val="19191A"/>
          </a:solidFill>
          <a:ln w="635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7983" y="4451096"/>
            <a:ext cx="2448991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DDDAD2"/>
                </a:solidFill>
                <a:latin typeface="Playfair Display Medium"/>
              </a:rPr>
              <a:t>Cloud9 Hospitals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4719" y="4432808"/>
            <a:ext cx="2448991" cy="566928"/>
          </a:xfrm>
          <a:prstGeom prst="roundRect">
            <a:avLst>
              <a:gd name="adj" fmla="val 12000"/>
            </a:avLst>
          </a:prstGeom>
          <a:solidFill>
            <a:srgbClr val="19191A"/>
          </a:solidFill>
          <a:ln w="635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4719" y="4451096"/>
            <a:ext cx="2448991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DDDAD2"/>
                </a:solidFill>
                <a:latin typeface="Playfair Display Medium"/>
              </a:rPr>
              <a:t>Porsche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01455" y="4432808"/>
            <a:ext cx="2448991" cy="566928"/>
          </a:xfrm>
          <a:prstGeom prst="roundRect">
            <a:avLst>
              <a:gd name="adj" fmla="val 12000"/>
            </a:avLst>
          </a:prstGeom>
          <a:solidFill>
            <a:srgbClr val="19191A"/>
          </a:solidFill>
          <a:ln w="635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01455" y="4451096"/>
            <a:ext cx="2448991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DDDAD2"/>
                </a:solidFill>
                <a:latin typeface="Playfair Display Medium"/>
              </a:rPr>
              <a:t>Accenture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5091176"/>
            <a:ext cx="2448991" cy="566928"/>
          </a:xfrm>
          <a:prstGeom prst="roundRect">
            <a:avLst>
              <a:gd name="adj" fmla="val 12000"/>
            </a:avLst>
          </a:prstGeom>
          <a:solidFill>
            <a:srgbClr val="19191A"/>
          </a:solidFill>
          <a:ln w="635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109464"/>
            <a:ext cx="2448991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DDDAD2"/>
                </a:solidFill>
                <a:latin typeface="Playfair Display Medium"/>
              </a:rPr>
              <a:t>Toyota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7983" y="5091176"/>
            <a:ext cx="2448991" cy="566928"/>
          </a:xfrm>
          <a:prstGeom prst="roundRect">
            <a:avLst>
              <a:gd name="adj" fmla="val 12000"/>
            </a:avLst>
          </a:prstGeom>
          <a:solidFill>
            <a:srgbClr val="19191A"/>
          </a:solidFill>
          <a:ln w="635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7983" y="5109464"/>
            <a:ext cx="2448991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DDDAD2"/>
                </a:solidFill>
                <a:latin typeface="Playfair Display Medium"/>
              </a:rPr>
              <a:t>Jet Airways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4719" y="5091176"/>
            <a:ext cx="2448991" cy="566928"/>
          </a:xfrm>
          <a:prstGeom prst="roundRect">
            <a:avLst>
              <a:gd name="adj" fmla="val 12000"/>
            </a:avLst>
          </a:prstGeom>
          <a:solidFill>
            <a:srgbClr val="19191A"/>
          </a:solidFill>
          <a:ln w="635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4719" y="5109464"/>
            <a:ext cx="2448991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DDDAD2"/>
                </a:solidFill>
                <a:latin typeface="Playfair Display Medium"/>
              </a:rPr>
              <a:t>AEGON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01455" y="5091176"/>
            <a:ext cx="2448991" cy="566928"/>
          </a:xfrm>
          <a:prstGeom prst="roundRect">
            <a:avLst>
              <a:gd name="adj" fmla="val 12000"/>
            </a:avLst>
          </a:prstGeom>
          <a:solidFill>
            <a:srgbClr val="19191A"/>
          </a:solidFill>
          <a:ln w="635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01455" y="5109464"/>
            <a:ext cx="2448991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DDDAD2"/>
                </a:solidFill>
                <a:latin typeface="Playfair Display Medium"/>
              </a:rPr>
              <a:t>RELIGARE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 spc="220">
                <a:solidFill>
                  <a:srgbClr val="8C8982"/>
                </a:solidFill>
                <a:latin typeface="Inter"/>
              </a:rPr>
              <a:t>LEVITATTE</a:t>
            </a:r>
            <a:r>
              <a:rPr sz="800" b="0" i="0" spc="220">
                <a:solidFill>
                  <a:srgbClr val="6A6761"/>
                </a:solidFill>
                <a:latin typeface="Inter"/>
              </a:rPr>
              <a:t>   LEARNING &amp; DEVELOPMENT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1647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C9A84C"/>
                </a:solidFill>
                <a:latin typeface="Playfair Display"/>
              </a:rPr>
              <a:t>10</a:t>
            </a:r>
            <a:r>
              <a:rPr sz="800" b="0" i="0">
                <a:solidFill>
                  <a:srgbClr val="6A6761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519" y="457200"/>
            <a:ext cx="566928" cy="38680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41248" y="736092"/>
            <a:ext cx="310896" cy="2011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65836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60">
                <a:solidFill>
                  <a:srgbClr val="C9A84C"/>
                </a:solidFill>
                <a:latin typeface="Inter"/>
              </a:rPr>
              <a:t>HOW WE WORK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987552"/>
            <a:ext cx="959479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</a:pPr>
            <a:r>
              <a:rPr sz="3200" b="0" i="0">
                <a:solidFill>
                  <a:srgbClr val="F6F5F1"/>
                </a:solidFill>
                <a:latin typeface="Playfair Display Medium"/>
              </a:rPr>
              <a:t>From pilot to partnership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561592"/>
            <a:ext cx="822960" cy="1828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17040"/>
            <a:ext cx="813175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B9B6AE"/>
                </a:solidFill>
                <a:latin typeface="Inter"/>
              </a:rPr>
              <a:t>We start small — often one unit or department — prove the difference, then grow it across your hospital.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2154897" y="2860040"/>
            <a:ext cx="7881899" cy="14630"/>
          </a:xfrm>
          <a:prstGeom prst="rect">
            <a:avLst/>
          </a:prstGeom>
          <a:solidFill>
            <a:srgbClr val="3A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71433" y="2604008"/>
            <a:ext cx="566928" cy="566928"/>
          </a:xfrm>
          <a:prstGeom prst="ellipse">
            <a:avLst/>
          </a:prstGeom>
          <a:solidFill>
            <a:srgbClr val="111111"/>
          </a:solidFill>
          <a:ln w="1778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1433" y="261315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C9A84C"/>
                </a:solidFill>
                <a:latin typeface="Playfair Display Medium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381248"/>
            <a:ext cx="235297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100">
                <a:solidFill>
                  <a:srgbClr val="F6F5F1"/>
                </a:solidFill>
                <a:latin typeface="Inter"/>
              </a:rPr>
              <a:t>Discover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11016"/>
            <a:ext cx="2115235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B9B6AE"/>
                </a:solidFill>
                <a:latin typeface="Inter"/>
              </a:rPr>
              <a:t>We listen to leaders and staff to understand your patients, pressures and goals.</a:t>
            </a:r>
          </a:p>
        </p:txBody>
      </p:sp>
      <p:sp>
        <p:nvSpPr>
          <p:cNvPr id="14" name="Oval 13"/>
          <p:cNvSpPr/>
          <p:nvPr/>
        </p:nvSpPr>
        <p:spPr>
          <a:xfrm>
            <a:off x="4498733" y="2604008"/>
            <a:ext cx="566928" cy="566928"/>
          </a:xfrm>
          <a:prstGeom prst="ellipse">
            <a:avLst/>
          </a:prstGeom>
          <a:solidFill>
            <a:srgbClr val="111111"/>
          </a:solidFill>
          <a:ln w="1778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733" y="261315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C9A84C"/>
                </a:solidFill>
                <a:latin typeface="Playfair Display Medium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5707" y="3381248"/>
            <a:ext cx="235297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100">
                <a:solidFill>
                  <a:srgbClr val="F6F5F1"/>
                </a:solidFill>
                <a:latin typeface="Inter"/>
              </a:rPr>
              <a:t>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4579" y="3811016"/>
            <a:ext cx="2115235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B9B6AE"/>
                </a:solidFill>
                <a:latin typeface="Inter"/>
              </a:rPr>
              <a:t>We tailor the programs and role-play scenarios to your departments and real situations.</a:t>
            </a:r>
          </a:p>
        </p:txBody>
      </p:sp>
      <p:sp>
        <p:nvSpPr>
          <p:cNvPr id="18" name="Oval 17"/>
          <p:cNvSpPr/>
          <p:nvPr/>
        </p:nvSpPr>
        <p:spPr>
          <a:xfrm>
            <a:off x="7126033" y="2604008"/>
            <a:ext cx="566928" cy="566928"/>
          </a:xfrm>
          <a:prstGeom prst="ellipse">
            <a:avLst/>
          </a:prstGeom>
          <a:solidFill>
            <a:srgbClr val="111111"/>
          </a:solidFill>
          <a:ln w="1778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26033" y="261315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C9A84C"/>
                </a:solidFill>
                <a:latin typeface="Playfair Display Medium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3007" y="3381248"/>
            <a:ext cx="235297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100">
                <a:solidFill>
                  <a:srgbClr val="F6F5F1"/>
                </a:solidFill>
                <a:latin typeface="Inter"/>
              </a:rPr>
              <a:t>Deliver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1879" y="3811016"/>
            <a:ext cx="2115235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B9B6AE"/>
                </a:solidFill>
                <a:latin typeface="Inter"/>
              </a:rPr>
              <a:t>We run a focused pilot with one unit or department — hands-on, warm and practical.</a:t>
            </a:r>
          </a:p>
        </p:txBody>
      </p:sp>
      <p:sp>
        <p:nvSpPr>
          <p:cNvPr id="22" name="Oval 21"/>
          <p:cNvSpPr/>
          <p:nvPr/>
        </p:nvSpPr>
        <p:spPr>
          <a:xfrm>
            <a:off x="9753333" y="2604008"/>
            <a:ext cx="566928" cy="566928"/>
          </a:xfrm>
          <a:prstGeom prst="ellipse">
            <a:avLst/>
          </a:prstGeom>
          <a:solidFill>
            <a:srgbClr val="111111"/>
          </a:solidFill>
          <a:ln w="1778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53333" y="261315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C9A84C"/>
                </a:solidFill>
                <a:latin typeface="Playfair Display Medium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0307" y="3381248"/>
            <a:ext cx="235297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 i="0" spc="100">
                <a:solidFill>
                  <a:srgbClr val="F6F5F1"/>
                </a:solidFill>
                <a:latin typeface="Inter"/>
              </a:rPr>
              <a:t>Sustain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9179" y="3811016"/>
            <a:ext cx="2115235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B9B6AE"/>
                </a:solidFill>
                <a:latin typeface="Inter"/>
              </a:rPr>
              <a:t>We track progress through observed behaviors, feedback themes and fewer escalations — then scale.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 spc="220">
                <a:solidFill>
                  <a:srgbClr val="8C8982"/>
                </a:solidFill>
                <a:latin typeface="Inter"/>
              </a:rPr>
              <a:t>LEVITATTE</a:t>
            </a:r>
            <a:r>
              <a:rPr sz="800" b="0" i="0" spc="220">
                <a:solidFill>
                  <a:srgbClr val="6A6761"/>
                </a:solidFill>
                <a:latin typeface="Inter"/>
              </a:rPr>
              <a:t>   LEARNING &amp; DEVELOPMENT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1647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C9A84C"/>
                </a:solidFill>
                <a:latin typeface="Playfair Display"/>
              </a:rPr>
              <a:t>11</a:t>
            </a:r>
            <a:r>
              <a:rPr sz="800" b="0" i="0">
                <a:solidFill>
                  <a:srgbClr val="6A6761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519" y="457200"/>
            <a:ext cx="566928" cy="38680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41248" y="736092"/>
            <a:ext cx="310896" cy="2011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658368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60">
                <a:solidFill>
                  <a:srgbClr val="C9A84C"/>
                </a:solidFill>
                <a:latin typeface="Inter"/>
              </a:rPr>
              <a:t>WAYS TO BEGIN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987552"/>
            <a:ext cx="9594799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</a:pPr>
            <a:r>
              <a:rPr sz="3200" b="0" i="0">
                <a:solidFill>
                  <a:srgbClr val="F6F5F1"/>
                </a:solidFill>
                <a:latin typeface="Playfair Display Medium"/>
              </a:rPr>
              <a:t>Choose where to start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561592"/>
            <a:ext cx="822960" cy="1828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17040"/>
            <a:ext cx="813175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B9B6AE"/>
                </a:solidFill>
                <a:latin typeface="Inter"/>
              </a:rPr>
              <a:t>Three ways to bring hospitality-grade care to your teams — from a single department to your whole hospital.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2229104"/>
            <a:ext cx="3295802" cy="3657600"/>
          </a:xfrm>
          <a:prstGeom prst="roundRect">
            <a:avLst>
              <a:gd name="adj" fmla="val 3500"/>
            </a:avLst>
          </a:prstGeom>
          <a:solidFill>
            <a:srgbClr val="19191A"/>
          </a:solidFill>
          <a:ln w="889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2144" y="2503424"/>
            <a:ext cx="267401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750" b="0" i="0">
                <a:solidFill>
                  <a:srgbClr val="F6F5F1"/>
                </a:solidFill>
                <a:latin typeface="Playfair Display Medium"/>
              </a:rPr>
              <a:t>The Front-Office Workshop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3253232"/>
            <a:ext cx="267401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D9BE77"/>
                </a:solidFill>
                <a:latin typeface="Inter"/>
              </a:rPr>
              <a:t>Where first impressions are made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2144" y="3838448"/>
            <a:ext cx="2674010" cy="10972"/>
          </a:xfrm>
          <a:prstGeom prst="rect">
            <a:avLst/>
          </a:prstGeom>
          <a:solidFill>
            <a:srgbClr val="3A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4" y="400304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C9A84C"/>
                </a:solidFill>
                <a:latin typeface="Inter"/>
              </a:rPr>
              <a:t>—  </a:t>
            </a:r>
            <a:r>
              <a:rPr sz="1000" b="0" i="0">
                <a:solidFill>
                  <a:srgbClr val="B9B6AE"/>
                </a:solidFill>
                <a:latin typeface="Inter"/>
              </a:rPr>
              <a:t>One team or department — reception, ER or OPD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4341368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C9A84C"/>
                </a:solidFill>
                <a:latin typeface="Inter"/>
              </a:rPr>
              <a:t>—  </a:t>
            </a:r>
            <a:r>
              <a:rPr sz="1000" b="0" i="0">
                <a:solidFill>
                  <a:srgbClr val="B9B6AE"/>
                </a:solidFill>
                <a:latin typeface="Inter"/>
              </a:rPr>
              <a:t>Interactive workshop with live role-play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4679696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C9A84C"/>
                </a:solidFill>
                <a:latin typeface="Inter"/>
              </a:rPr>
              <a:t>—  </a:t>
            </a:r>
            <a:r>
              <a:rPr sz="1000" b="0" i="0">
                <a:solidFill>
                  <a:srgbClr val="B9B6AE"/>
                </a:solidFill>
                <a:latin typeface="Inter"/>
              </a:rPr>
              <a:t>Focus on presence, empathy and etiquette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52144" y="5374640"/>
            <a:ext cx="2674010" cy="9144"/>
          </a:xfrm>
          <a:prstGeom prst="rect">
            <a:avLst/>
          </a:prstGeom>
          <a:solidFill>
            <a:srgbClr val="33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52144" y="5502656"/>
            <a:ext cx="267401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50" b="1" i="0" spc="120">
                <a:solidFill>
                  <a:srgbClr val="C9A84C"/>
                </a:solidFill>
                <a:latin typeface="Inter"/>
              </a:rPr>
              <a:t>A FOCUSED START FOR ONE TEAM.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7946" y="2229104"/>
            <a:ext cx="3295802" cy="3657600"/>
          </a:xfrm>
          <a:prstGeom prst="roundRect">
            <a:avLst>
              <a:gd name="adj" fmla="val 3500"/>
            </a:avLst>
          </a:prstGeom>
          <a:solidFill>
            <a:srgbClr val="201F1D"/>
          </a:solidFill>
          <a:ln w="1778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18607" y="2073656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18607" y="2082800"/>
            <a:ext cx="155448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50" b="1" i="0" spc="200">
                <a:solidFill>
                  <a:srgbClr val="14110A"/>
                </a:solidFill>
                <a:latin typeface="Inter"/>
              </a:rPr>
              <a:t>SIGNATURE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8842" y="2503424"/>
            <a:ext cx="267401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750" b="0" i="0">
                <a:solidFill>
                  <a:srgbClr val="F6F5F1"/>
                </a:solidFill>
                <a:latin typeface="Playfair Display Medium"/>
              </a:rPr>
              <a:t>The Experience Program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8842" y="3253232"/>
            <a:ext cx="267401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D9BE77"/>
                </a:solidFill>
                <a:latin typeface="Inter"/>
              </a:rPr>
              <a:t>Patient experience, across departments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8842" y="3838448"/>
            <a:ext cx="2674010" cy="10972"/>
          </a:xfrm>
          <a:prstGeom prst="rect">
            <a:avLst/>
          </a:prstGeom>
          <a:solidFill>
            <a:srgbClr val="3A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8842" y="400304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C9A84C"/>
                </a:solidFill>
                <a:latin typeface="Inter"/>
              </a:rPr>
              <a:t>—  </a:t>
            </a:r>
            <a:r>
              <a:rPr sz="1000" b="0" i="0">
                <a:solidFill>
                  <a:srgbClr val="B9B6AE"/>
                </a:solidFill>
                <a:latin typeface="Inter"/>
              </a:rPr>
              <a:t>Multiple patient-facing departments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8842" y="4341368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C9A84C"/>
                </a:solidFill>
                <a:latin typeface="Inter"/>
              </a:rPr>
              <a:t>—  </a:t>
            </a:r>
            <a:r>
              <a:rPr sz="1000" b="0" i="0">
                <a:solidFill>
                  <a:srgbClr val="B9B6AE"/>
                </a:solidFill>
                <a:latin typeface="Inter"/>
              </a:rPr>
              <a:t>All eight programs, tailored to each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8842" y="4679696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C9A84C"/>
                </a:solidFill>
                <a:latin typeface="Inter"/>
              </a:rPr>
              <a:t>—  </a:t>
            </a:r>
            <a:r>
              <a:rPr sz="1000" b="0" i="0">
                <a:solidFill>
                  <a:srgbClr val="B9B6AE"/>
                </a:solidFill>
                <a:latin typeface="Inter"/>
              </a:rPr>
              <a:t>Scenarios drawn from your real floors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8842" y="5018024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C9A84C"/>
                </a:solidFill>
                <a:latin typeface="Inter"/>
              </a:rPr>
              <a:t>—  </a:t>
            </a:r>
            <a:r>
              <a:rPr sz="1000" b="0" i="0">
                <a:solidFill>
                  <a:srgbClr val="B9B6AE"/>
                </a:solidFill>
                <a:latin typeface="Inter"/>
              </a:rPr>
              <a:t>Progress tracked qualitatively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8842" y="5374640"/>
            <a:ext cx="2674010" cy="9144"/>
          </a:xfrm>
          <a:prstGeom prst="rect">
            <a:avLst/>
          </a:prstGeom>
          <a:solidFill>
            <a:srgbClr val="33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842" y="5502656"/>
            <a:ext cx="267401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50" b="1" i="0" spc="120">
                <a:solidFill>
                  <a:srgbClr val="C9A84C"/>
                </a:solidFill>
                <a:latin typeface="Inter"/>
              </a:rPr>
              <a:t>OUR MOST COMPREHENSIVE PROGRAM.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54644" y="2229104"/>
            <a:ext cx="3295802" cy="3657600"/>
          </a:xfrm>
          <a:prstGeom prst="roundRect">
            <a:avLst>
              <a:gd name="adj" fmla="val 3500"/>
            </a:avLst>
          </a:prstGeom>
          <a:solidFill>
            <a:srgbClr val="19191A"/>
          </a:solidFill>
          <a:ln w="8890">
            <a:solidFill>
              <a:srgbClr val="3A3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5540" y="2503424"/>
            <a:ext cx="267401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1750" b="0" i="0">
                <a:solidFill>
                  <a:srgbClr val="F6F5F1"/>
                </a:solidFill>
                <a:latin typeface="Playfair Display Medium"/>
              </a:rPr>
              <a:t>The Hospital Partnership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5540" y="3253232"/>
            <a:ext cx="267401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D9BE77"/>
                </a:solidFill>
                <a:latin typeface="Inter"/>
              </a:rPr>
              <a:t>A culture of care, hospital-wide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65540" y="3838448"/>
            <a:ext cx="2674010" cy="10972"/>
          </a:xfrm>
          <a:prstGeom prst="rect">
            <a:avLst/>
          </a:prstGeom>
          <a:solidFill>
            <a:srgbClr val="3A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5540" y="400304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C9A84C"/>
                </a:solidFill>
                <a:latin typeface="Inter"/>
              </a:rPr>
              <a:t>—  </a:t>
            </a:r>
            <a:r>
              <a:rPr sz="1000" b="0" i="0">
                <a:solidFill>
                  <a:srgbClr val="B9B6AE"/>
                </a:solidFill>
                <a:latin typeface="Inter"/>
              </a:rPr>
              <a:t>Hospital-wide patient-experience program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5540" y="4341368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C9A84C"/>
                </a:solidFill>
                <a:latin typeface="Inter"/>
              </a:rPr>
              <a:t>—  </a:t>
            </a:r>
            <a:r>
              <a:rPr sz="1000" b="0" i="0">
                <a:solidFill>
                  <a:srgbClr val="B9B6AE"/>
                </a:solidFill>
                <a:latin typeface="Inter"/>
              </a:rPr>
              <a:t>Train-the-trainer for lasting habits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5540" y="4679696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C9A84C"/>
                </a:solidFill>
                <a:latin typeface="Inter"/>
              </a:rPr>
              <a:t>—  </a:t>
            </a:r>
            <a:r>
              <a:rPr sz="1000" b="0" i="0">
                <a:solidFill>
                  <a:srgbClr val="B9B6AE"/>
                </a:solidFill>
                <a:latin typeface="Inter"/>
              </a:rPr>
              <a:t>Ongoing coaching and refreshers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5540" y="5018024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C9A84C"/>
                </a:solidFill>
                <a:latin typeface="Inter"/>
              </a:rPr>
              <a:t>—  </a:t>
            </a:r>
            <a:r>
              <a:rPr sz="1000" b="0" i="0">
                <a:solidFill>
                  <a:srgbClr val="B9B6AE"/>
                </a:solidFill>
                <a:latin typeface="Inter"/>
              </a:rPr>
              <a:t>Shared language embedded across teams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65540" y="5374640"/>
            <a:ext cx="2674010" cy="9144"/>
          </a:xfrm>
          <a:prstGeom prst="rect">
            <a:avLst/>
          </a:prstGeom>
          <a:solidFill>
            <a:srgbClr val="33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5540" y="5502656"/>
            <a:ext cx="267401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50" b="1" i="0" spc="120">
                <a:solidFill>
                  <a:srgbClr val="C9A84C"/>
                </a:solidFill>
                <a:latin typeface="Inter"/>
              </a:rPr>
              <a:t>BESPOKE; PRICING ON REQUEST.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 spc="220">
                <a:solidFill>
                  <a:srgbClr val="8C8982"/>
                </a:solidFill>
                <a:latin typeface="Inter"/>
              </a:rPr>
              <a:t>LEVITATTE</a:t>
            </a:r>
            <a:r>
              <a:rPr sz="800" b="0" i="0" spc="220">
                <a:solidFill>
                  <a:srgbClr val="6A6761"/>
                </a:solidFill>
                <a:latin typeface="Inter"/>
              </a:rPr>
              <a:t>   LEARNING &amp; DEVELOPMENT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21647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C9A84C"/>
                </a:solidFill>
                <a:latin typeface="Playfair Display"/>
              </a:rPr>
              <a:t>12</a:t>
            </a:r>
            <a:r>
              <a:rPr sz="800" b="0" i="0">
                <a:solidFill>
                  <a:srgbClr val="6A6761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_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935" y="365760"/>
            <a:ext cx="4572000" cy="311940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41248" y="1312164"/>
            <a:ext cx="310896" cy="20116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8448" y="123444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1" i="0" spc="260">
                <a:solidFill>
                  <a:srgbClr val="C9A84C"/>
                </a:solidFill>
                <a:latin typeface="Inter"/>
              </a:rPr>
              <a:t>BEGIN THE 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9137599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4200" b="0" i="0">
                <a:solidFill>
                  <a:srgbClr val="F6F5F1"/>
                </a:solidFill>
                <a:latin typeface="Playfair Display"/>
              </a:rPr>
              <a:t>Great care deserves to be felt.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429000"/>
            <a:ext cx="6668719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B9B6AE"/>
                </a:solidFill>
                <a:latin typeface="Inter"/>
              </a:rPr>
              <a:t>Let's bring hospitality-grade warmth to every patient you serve. Start with one conversation — and one department — and feel the difference.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5262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C9A84C"/>
                </a:solidFill>
                <a:latin typeface="Playfair Display Medium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4983480"/>
            <a:ext cx="3106826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6F5F1"/>
                </a:solidFill>
                <a:latin typeface="Inter"/>
              </a:rPr>
              <a:t>Book a discovery conversation with Kavitha.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6714" y="45262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C9A84C"/>
                </a:solidFill>
                <a:latin typeface="Playfair Display Medium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2434" y="4983480"/>
            <a:ext cx="3106826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6F5F1"/>
                </a:solidFill>
                <a:latin typeface="Inter"/>
              </a:rPr>
              <a:t>Choose one department to begin — reception, ER or a ward.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2180" y="452628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C9A84C"/>
                </a:solidFill>
                <a:latin typeface="Playfair Display Medium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7900" y="4983480"/>
            <a:ext cx="3106826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6F5F1"/>
                </a:solidFill>
                <a:latin typeface="Inter"/>
              </a:rPr>
              <a:t>Run a focused pilot, and feel the difference.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 spc="220">
                <a:solidFill>
                  <a:srgbClr val="8C8982"/>
                </a:solidFill>
                <a:latin typeface="Inter"/>
              </a:rPr>
              <a:t>LEVITATTE</a:t>
            </a:r>
            <a:r>
              <a:rPr sz="800" b="0" i="0" spc="220">
                <a:solidFill>
                  <a:srgbClr val="6A6761"/>
                </a:solidFill>
                <a:latin typeface="Inter"/>
              </a:rPr>
              <a:t>   LEARNING &amp;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1647" y="63550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i="0">
                <a:solidFill>
                  <a:srgbClr val="C9A84C"/>
                </a:solidFill>
                <a:latin typeface="Playfair Display"/>
              </a:rPr>
              <a:t>13</a:t>
            </a:r>
            <a:r>
              <a:rPr sz="800" b="0" i="0">
                <a:solidFill>
                  <a:srgbClr val="6A6761"/>
                </a:solidFill>
                <a:latin typeface="Inter"/>
              </a:rPr>
              <a:t>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wl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047" y="658368"/>
            <a:ext cx="1371600" cy="9358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874519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50" b="1" i="0" spc="350">
                <a:solidFill>
                  <a:srgbClr val="C9A84C"/>
                </a:solidFill>
                <a:latin typeface="Inter"/>
              </a:rPr>
              <a:t>GET IN TOUCH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240280"/>
            <a:ext cx="1219169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3800" b="0" i="0">
                <a:solidFill>
                  <a:srgbClr val="F6F5F1"/>
                </a:solidFill>
                <a:latin typeface="Playfair Display"/>
              </a:rPr>
              <a:t>Let's elevate care.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55767" y="3200400"/>
            <a:ext cx="1280160" cy="1828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3364992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600" b="0" i="1">
                <a:solidFill>
                  <a:srgbClr val="E4E0D6"/>
                </a:solidFill>
                <a:latin typeface="Playfair Display"/>
              </a:rPr>
              <a:t>We would be honoured to help your patients feel truly cared for.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434840"/>
            <a:ext cx="26272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1" i="0" spc="250">
                <a:solidFill>
                  <a:srgbClr val="C9A84C"/>
                </a:solidFill>
                <a:latin typeface="Inter"/>
              </a:rPr>
              <a:t>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727448"/>
            <a:ext cx="262729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F6F5F1"/>
                </a:solidFill>
                <a:latin typeface="Inter"/>
              </a:rPr>
              <a:t>kavitha.pillai@levitatte.com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68547" y="4434840"/>
            <a:ext cx="26272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1" i="0" spc="250">
                <a:solidFill>
                  <a:srgbClr val="C9A84C"/>
                </a:solidFill>
                <a:latin typeface="Inter"/>
              </a:rPr>
              <a:t>PHONE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8547" y="4727448"/>
            <a:ext cx="262729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F6F5F1"/>
                </a:solidFill>
                <a:latin typeface="Inter"/>
              </a:rPr>
              <a:t>+91 7411 099 183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7" y="4434840"/>
            <a:ext cx="26272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1" i="0" spc="250">
                <a:solidFill>
                  <a:srgbClr val="C9A84C"/>
                </a:solidFill>
                <a:latin typeface="Inter"/>
              </a:rPr>
              <a:t>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7" y="4727448"/>
            <a:ext cx="262729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F6F5F1"/>
                </a:solidFill>
                <a:latin typeface="Inter"/>
              </a:rPr>
              <a:t>www.levitatte.com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23147" y="4434840"/>
            <a:ext cx="262729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1" i="0" spc="250">
                <a:solidFill>
                  <a:srgbClr val="C9A84C"/>
                </a:solidFill>
                <a:latin typeface="Inter"/>
              </a:rPr>
              <a:t>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23147" y="4727448"/>
            <a:ext cx="262729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F6F5F1"/>
                </a:solidFill>
                <a:latin typeface="Inter"/>
              </a:rPr>
              <a:t>Bengaluru, Karnataka, India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500" b="0" i="1">
                <a:solidFill>
                  <a:srgbClr val="D9BE77"/>
                </a:solidFill>
                <a:latin typeface="Playfair Display"/>
              </a:rPr>
              <a:t>Empowering Individuals. Transforming Organizations.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